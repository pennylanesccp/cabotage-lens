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aab962e5a4da3" /><Relationship Type="http://schemas.openxmlformats.org/officeDocument/2006/relationships/extended-properties" Target="/docProps/app.xml" Id="R55dde05484834a1d" /><Relationship Type="http://schemas.openxmlformats.org/officeDocument/2006/relationships/officeDocument" Target="/ppt/presentation.xml" Id="R37eab8f299d7485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680dbc6f0514812"/>
  </p:sldMasterIdLst>
  <p:notesMasterIdLst>
    <p:notesMasterId xmlns:r="http://schemas.openxmlformats.org/officeDocument/2006/relationships" r:id="Rc2d038704a4e4f5c"/>
  </p:notesMasterIdLst>
  <p:sldIdLst>
    <p:sldId xmlns:r="http://schemas.openxmlformats.org/officeDocument/2006/relationships" id="256" r:id="Rcfb9d80417854065"/>
    <p:sldId xmlns:r="http://schemas.openxmlformats.org/officeDocument/2006/relationships" id="257" r:id="R4f40ecb5583c4d7d"/>
    <p:sldId xmlns:r="http://schemas.openxmlformats.org/officeDocument/2006/relationships" id="258" r:id="R7c92f57e643443d0"/>
    <p:sldId xmlns:r="http://schemas.openxmlformats.org/officeDocument/2006/relationships" id="259" r:id="R63fffc91fecb4273"/>
    <p:sldId xmlns:r="http://schemas.openxmlformats.org/officeDocument/2006/relationships" id="260" r:id="Rad981587567d4d59"/>
    <p:sldId xmlns:r="http://schemas.openxmlformats.org/officeDocument/2006/relationships" id="261" r:id="R04b82cac85a84432"/>
    <p:sldId xmlns:r="http://schemas.openxmlformats.org/officeDocument/2006/relationships" id="262" r:id="R685871f916984822"/>
    <p:sldId xmlns:r="http://schemas.openxmlformats.org/officeDocument/2006/relationships" id="263" r:id="R5bd171acd30a4837"/>
    <p:sldId xmlns:r="http://schemas.openxmlformats.org/officeDocument/2006/relationships" id="264" r:id="Red14760cacd34d39"/>
    <p:sldId xmlns:r="http://schemas.openxmlformats.org/officeDocument/2006/relationships" id="265" r:id="R5950237a3c0b4a2d"/>
    <p:sldId xmlns:r="http://schemas.openxmlformats.org/officeDocument/2006/relationships" id="266" r:id="R804606f7f9974c1a"/>
    <p:sldId xmlns:r="http://schemas.openxmlformats.org/officeDocument/2006/relationships" id="267" r:id="R983e42936f8b4db8"/>
    <p:sldId xmlns:r="http://schemas.openxmlformats.org/officeDocument/2006/relationships" id="268" r:id="R2b379e3a356a4618"/>
    <p:sldId xmlns:r="http://schemas.openxmlformats.org/officeDocument/2006/relationships" id="269" r:id="Re38376c245d4416a"/>
    <p:sldId xmlns:r="http://schemas.openxmlformats.org/officeDocument/2006/relationships" id="270" r:id="Re30e102652e54e7e"/>
    <p:sldId xmlns:r="http://schemas.openxmlformats.org/officeDocument/2006/relationships" id="271" r:id="R71e1bec285e44ef3"/>
    <p:sldId xmlns:r="http://schemas.openxmlformats.org/officeDocument/2006/relationships" id="272" r:id="R2e3ef403e39049f8"/>
    <p:sldId xmlns:r="http://schemas.openxmlformats.org/officeDocument/2006/relationships" id="273" r:id="Re6371b08efdb4512"/>
    <p:sldId xmlns:r="http://schemas.openxmlformats.org/officeDocument/2006/relationships" id="274" r:id="R156c8d917f7e49ec"/>
    <p:sldId xmlns:r="http://schemas.openxmlformats.org/officeDocument/2006/relationships" id="275" r:id="Re76a5c122c9e4a12"/>
    <p:sldId xmlns:r="http://schemas.openxmlformats.org/officeDocument/2006/relationships" id="276" r:id="Rbbca60c18494401c"/>
    <p:sldId xmlns:r="http://schemas.openxmlformats.org/officeDocument/2006/relationships" id="277" r:id="Re82bfc847b9446e9"/>
    <p:sldId xmlns:r="http://schemas.openxmlformats.org/officeDocument/2006/relationships" id="278" r:id="R212e9fc2f04b4c36"/>
    <p:sldId xmlns:r="http://schemas.openxmlformats.org/officeDocument/2006/relationships" id="279" r:id="R7b201f9090b44d7c"/>
    <p:sldId xmlns:r="http://schemas.openxmlformats.org/officeDocument/2006/relationships" id="280" r:id="Re4763676eaa8455e"/>
    <p:sldId xmlns:r="http://schemas.openxmlformats.org/officeDocument/2006/relationships" id="281" r:id="R161ad2c8c6c0461e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f7e0930a17394d81"/>
      <p:italic xmlns:r="http://schemas.openxmlformats.org/officeDocument/2006/relationships" r:id="R1f1fb5ec818740fc"/>
    </p:embeddedFont>
    <p:embeddedFont>
      <p:font typeface="Lora SemiBold"/>
      <p:regular xmlns:r="http://schemas.openxmlformats.org/officeDocument/2006/relationships" r:id="R889fb1d202d743e2"/>
      <p:bold xmlns:r="http://schemas.openxmlformats.org/officeDocument/2006/relationships" r:id="R18c8f8320603400c"/>
      <p:italic xmlns:r="http://schemas.openxmlformats.org/officeDocument/2006/relationships" r:id="Re39ef0666d244179"/>
      <p:boldItalic xmlns:r="http://schemas.openxmlformats.org/officeDocument/2006/relationships" r:id="Rbe6f69089b5c41c9"/>
    </p:embeddedFont>
    <p:embeddedFont>
      <p:font typeface="OpenAI Sans"/>
      <p:regular xmlns:r="http://schemas.openxmlformats.org/officeDocument/2006/relationships" r:id="R9a71bcf56ede45e9"/>
      <p:bold xmlns:r="http://schemas.openxmlformats.org/officeDocument/2006/relationships" r:id="R5584118a5eee42c0"/>
      <p:italic xmlns:r="http://schemas.openxmlformats.org/officeDocument/2006/relationships" r:id="R6ae80df3c43e46fd"/>
      <p:boldItalic xmlns:r="http://schemas.openxmlformats.org/officeDocument/2006/relationships" r:id="R333f825a9b5842c1"/>
    </p:embeddedFont>
    <p:embeddedFont>
      <p:font typeface="Roboto"/>
      <p:regular xmlns:r="http://schemas.openxmlformats.org/officeDocument/2006/relationships" r:id="R411eb45796af402a"/>
      <p:bold xmlns:r="http://schemas.openxmlformats.org/officeDocument/2006/relationships" r:id="R62659c2f0bc74473"/>
      <p:italic xmlns:r="http://schemas.openxmlformats.org/officeDocument/2006/relationships" r:id="R762f5e3b18d3439b"/>
      <p:boldItalic xmlns:r="http://schemas.openxmlformats.org/officeDocument/2006/relationships" r:id="R18297623632447e4"/>
    </p:embeddedFont>
    <p:embeddedFont>
      <p:font typeface="Roboto Medium"/>
      <p:regular xmlns:r="http://schemas.openxmlformats.org/officeDocument/2006/relationships" r:id="R75694253540b4722"/>
      <p:italic xmlns:r="http://schemas.openxmlformats.org/officeDocument/2006/relationships" r:id="R93ecdd99b11040da"/>
    </p:embeddedFont>
    <p:embeddedFont>
      <p:font typeface="Roboto SemiBold"/>
      <p:regular xmlns:r="http://schemas.openxmlformats.org/officeDocument/2006/relationships" r:id="Rd08d03364e8f420b"/>
      <p:bold xmlns:r="http://schemas.openxmlformats.org/officeDocument/2006/relationships" r:id="R02d50611299b4edc"/>
      <p:italic xmlns:r="http://schemas.openxmlformats.org/officeDocument/2006/relationships" r:id="Rd11014b31f614062"/>
      <p:boldItalic xmlns:r="http://schemas.openxmlformats.org/officeDocument/2006/relationships" r:id="R6e8d408b728f493f"/>
    </p:embeddedFont>
    <p:embeddedFont>
      <p:font typeface="Roboto Serif 14pt"/>
      <p:regular xmlns:r="http://schemas.openxmlformats.org/officeDocument/2006/relationships" r:id="R900412626af541e4"/>
      <p:bold xmlns:r="http://schemas.openxmlformats.org/officeDocument/2006/relationships" r:id="Rff2efc9b60034665"/>
      <p:italic xmlns:r="http://schemas.openxmlformats.org/officeDocument/2006/relationships" r:id="Rd1207e1961514a1a"/>
      <p:boldItalic xmlns:r="http://schemas.openxmlformats.org/officeDocument/2006/relationships" r:id="R490434cc062e43b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0e3e99fab54baa" /><Relationship Type="http://schemas.openxmlformats.org/officeDocument/2006/relationships/slideMaster" Target="/ppt/slideMasters/slideMaster1.xml" Id="R1680dbc6f0514812" /><Relationship Type="http://schemas.openxmlformats.org/officeDocument/2006/relationships/notesMaster" Target="/ppt/notesMasters/notesMaster1.xml" Id="Rc2d038704a4e4f5c" /><Relationship Type="http://schemas.openxmlformats.org/officeDocument/2006/relationships/presProps" Target="/ppt/presProps.xml" Id="R94fb68e91b4c4d30" /><Relationship Type="http://schemas.openxmlformats.org/officeDocument/2006/relationships/viewProps" Target="/ppt/viewProps.xml" Id="R449454a50af74281" /><Relationship Type="http://schemas.openxmlformats.org/officeDocument/2006/relationships/tableStyles" Target="/ppt/tableStyles.xml" Id="Rb4c1ae7becc64845" /><Relationship Type="http://schemas.openxmlformats.org/officeDocument/2006/relationships/font" Target="/ppt/fonts/font.dat" Id="Rf7e0930a17394d81" /><Relationship Type="http://schemas.openxmlformats.org/officeDocument/2006/relationships/font" Target="/ppt/fonts/font2.dat" Id="R1f1fb5ec818740fc" /><Relationship Type="http://schemas.openxmlformats.org/officeDocument/2006/relationships/font" Target="/ppt/fonts/font3.dat" Id="R889fb1d202d743e2" /><Relationship Type="http://schemas.openxmlformats.org/officeDocument/2006/relationships/font" Target="/ppt/fonts/font4.dat" Id="R18c8f8320603400c" /><Relationship Type="http://schemas.openxmlformats.org/officeDocument/2006/relationships/font" Target="/ppt/fonts/font5.dat" Id="Re39ef0666d244179" /><Relationship Type="http://schemas.openxmlformats.org/officeDocument/2006/relationships/font" Target="/ppt/fonts/font6.dat" Id="Rbe6f69089b5c41c9" /><Relationship Type="http://schemas.openxmlformats.org/officeDocument/2006/relationships/font" Target="/ppt/fonts/font7.dat" Id="R9a71bcf56ede45e9" /><Relationship Type="http://schemas.openxmlformats.org/officeDocument/2006/relationships/font" Target="/ppt/fonts/font8.dat" Id="R5584118a5eee42c0" /><Relationship Type="http://schemas.openxmlformats.org/officeDocument/2006/relationships/font" Target="/ppt/fonts/font9.dat" Id="R6ae80df3c43e46fd" /><Relationship Type="http://schemas.openxmlformats.org/officeDocument/2006/relationships/font" Target="/ppt/fonts/font10.dat" Id="R333f825a9b5842c1" /><Relationship Type="http://schemas.openxmlformats.org/officeDocument/2006/relationships/font" Target="/ppt/fonts/font11.dat" Id="R411eb45796af402a" /><Relationship Type="http://schemas.openxmlformats.org/officeDocument/2006/relationships/font" Target="/ppt/fonts/font12.dat" Id="R62659c2f0bc74473" /><Relationship Type="http://schemas.openxmlformats.org/officeDocument/2006/relationships/font" Target="/ppt/fonts/font13.dat" Id="R762f5e3b18d3439b" /><Relationship Type="http://schemas.openxmlformats.org/officeDocument/2006/relationships/font" Target="/ppt/fonts/font14.dat" Id="R18297623632447e4" /><Relationship Type="http://schemas.openxmlformats.org/officeDocument/2006/relationships/font" Target="/ppt/fonts/font15.dat" Id="R75694253540b4722" /><Relationship Type="http://schemas.openxmlformats.org/officeDocument/2006/relationships/font" Target="/ppt/fonts/font16.dat" Id="R93ecdd99b11040da" /><Relationship Type="http://schemas.openxmlformats.org/officeDocument/2006/relationships/font" Target="/ppt/fonts/font17.dat" Id="Rd08d03364e8f420b" /><Relationship Type="http://schemas.openxmlformats.org/officeDocument/2006/relationships/font" Target="/ppt/fonts/font18.dat" Id="R02d50611299b4edc" /><Relationship Type="http://schemas.openxmlformats.org/officeDocument/2006/relationships/font" Target="/ppt/fonts/font19.dat" Id="Rd11014b31f614062" /><Relationship Type="http://schemas.openxmlformats.org/officeDocument/2006/relationships/font" Target="/ppt/fonts/font20.dat" Id="R6e8d408b728f493f" /><Relationship Type="http://schemas.openxmlformats.org/officeDocument/2006/relationships/font" Target="/ppt/fonts/font21.dat" Id="R900412626af541e4" /><Relationship Type="http://schemas.openxmlformats.org/officeDocument/2006/relationships/font" Target="/ppt/fonts/font22.dat" Id="Rff2efc9b60034665" /><Relationship Type="http://schemas.openxmlformats.org/officeDocument/2006/relationships/font" Target="/ppt/fonts/font23.dat" Id="Rd1207e1961514a1a" /><Relationship Type="http://schemas.openxmlformats.org/officeDocument/2006/relationships/font" Target="/ppt/fonts/font24.dat" Id="R490434cc062e43b6" /><Relationship Type="http://schemas.openxmlformats.org/officeDocument/2006/relationships/slide" Target="/ppt/slides/slide1.xml" Id="Rcfb9d80417854065" /><Relationship Type="http://schemas.openxmlformats.org/officeDocument/2006/relationships/slide" Target="/ppt/slides/slide2.xml" Id="R4f40ecb5583c4d7d" /><Relationship Type="http://schemas.openxmlformats.org/officeDocument/2006/relationships/slide" Target="/ppt/slides/slide3.xml" Id="R7c92f57e643443d0" /><Relationship Type="http://schemas.openxmlformats.org/officeDocument/2006/relationships/slide" Target="/ppt/slides/slide4.xml" Id="R63fffc91fecb4273" /><Relationship Type="http://schemas.openxmlformats.org/officeDocument/2006/relationships/slide" Target="/ppt/slides/slide5.xml" Id="Rad981587567d4d59" /><Relationship Type="http://schemas.openxmlformats.org/officeDocument/2006/relationships/slide" Target="/ppt/slides/slide6.xml" Id="R04b82cac85a84432" /><Relationship Type="http://schemas.openxmlformats.org/officeDocument/2006/relationships/slide" Target="/ppt/slides/slide7.xml" Id="R685871f916984822" /><Relationship Type="http://schemas.openxmlformats.org/officeDocument/2006/relationships/slide" Target="/ppt/slides/slide8.xml" Id="R5bd171acd30a4837" /><Relationship Type="http://schemas.openxmlformats.org/officeDocument/2006/relationships/slide" Target="/ppt/slides/slide9.xml" Id="Red14760cacd34d39" /><Relationship Type="http://schemas.openxmlformats.org/officeDocument/2006/relationships/slide" Target="/ppt/slides/slide10.xml" Id="R5950237a3c0b4a2d" /><Relationship Type="http://schemas.openxmlformats.org/officeDocument/2006/relationships/slide" Target="/ppt/slides/slide11.xml" Id="R804606f7f9974c1a" /><Relationship Type="http://schemas.openxmlformats.org/officeDocument/2006/relationships/slide" Target="/ppt/slides/slide12.xml" Id="R983e42936f8b4db8" /><Relationship Type="http://schemas.openxmlformats.org/officeDocument/2006/relationships/slide" Target="/ppt/slides/slide13.xml" Id="R2b379e3a356a4618" /><Relationship Type="http://schemas.openxmlformats.org/officeDocument/2006/relationships/slide" Target="/ppt/slides/slide14.xml" Id="Re38376c245d4416a" /><Relationship Type="http://schemas.openxmlformats.org/officeDocument/2006/relationships/slide" Target="/ppt/slides/slide15.xml" Id="Re30e102652e54e7e" /><Relationship Type="http://schemas.openxmlformats.org/officeDocument/2006/relationships/slide" Target="/ppt/slides/slide16.xml" Id="R71e1bec285e44ef3" /><Relationship Type="http://schemas.openxmlformats.org/officeDocument/2006/relationships/slide" Target="/ppt/slides/slide17.xml" Id="R2e3ef403e39049f8" /><Relationship Type="http://schemas.openxmlformats.org/officeDocument/2006/relationships/slide" Target="/ppt/slides/slide18.xml" Id="Re6371b08efdb4512" /><Relationship Type="http://schemas.openxmlformats.org/officeDocument/2006/relationships/slide" Target="/ppt/slides/slide19.xml" Id="R156c8d917f7e49ec" /><Relationship Type="http://schemas.openxmlformats.org/officeDocument/2006/relationships/slide" Target="/ppt/slides/slide20.xml" Id="Re76a5c122c9e4a12" /><Relationship Type="http://schemas.openxmlformats.org/officeDocument/2006/relationships/slide" Target="/ppt/slides/slide21.xml" Id="Rbbca60c18494401c" /><Relationship Type="http://schemas.openxmlformats.org/officeDocument/2006/relationships/slide" Target="/ppt/slides/slide22.xml" Id="Re82bfc847b9446e9" /><Relationship Type="http://schemas.openxmlformats.org/officeDocument/2006/relationships/slide" Target="/ppt/slides/slide23.xml" Id="R212e9fc2f04b4c36" /><Relationship Type="http://schemas.openxmlformats.org/officeDocument/2006/relationships/slide" Target="/ppt/slides/slide24.xml" Id="R7b201f9090b44d7c" /><Relationship Type="http://schemas.openxmlformats.org/officeDocument/2006/relationships/slide" Target="/ppt/slides/slide25.xml" Id="Re4763676eaa8455e" /><Relationship Type="http://schemas.openxmlformats.org/officeDocument/2006/relationships/slide" Target="/ppt/slides/slide26.xml" Id="R161ad2c8c6c0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2f3f37fca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5ccf8f8f0b4d9a" /><Relationship Type="http://schemas.openxmlformats.org/officeDocument/2006/relationships/notesMaster" Target="/ppt/notesMasters/notesMaster1.xml" Id="R56f1f5be514a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44f95307d43df" /><Relationship Type="http://schemas.openxmlformats.org/officeDocument/2006/relationships/notesMaster" Target="/ppt/notesMasters/notesMaster1.xml" Id="Rd80f116fa9d044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ef46776794b5c" /><Relationship Type="http://schemas.openxmlformats.org/officeDocument/2006/relationships/notesMaster" Target="/ppt/notesMasters/notesMaster1.xml" Id="R2aa1baff1ac0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a445e4c0954eb3" /><Relationship Type="http://schemas.openxmlformats.org/officeDocument/2006/relationships/notesMaster" Target="/ppt/notesMasters/notesMaster1.xml" Id="R9671c2a44c82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3ab14f01e46f7" /><Relationship Type="http://schemas.openxmlformats.org/officeDocument/2006/relationships/notesMaster" Target="/ppt/notesMasters/notesMaster1.xml" Id="Re79369f53947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08f29a9ab34e63" /><Relationship Type="http://schemas.openxmlformats.org/officeDocument/2006/relationships/notesMaster" Target="/ppt/notesMasters/notesMaster1.xml" Id="R2e42754f0961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41ba2364284734" /><Relationship Type="http://schemas.openxmlformats.org/officeDocument/2006/relationships/notesMaster" Target="/ppt/notesMasters/notesMaster1.xml" Id="R2a4211b8220940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7f9621d99945bc" /><Relationship Type="http://schemas.openxmlformats.org/officeDocument/2006/relationships/notesMaster" Target="/ppt/notesMasters/notesMaster1.xml" Id="Rfbe6706a392e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66e442b5b34baa" /><Relationship Type="http://schemas.openxmlformats.org/officeDocument/2006/relationships/notesMaster" Target="/ppt/notesMasters/notesMaster1.xml" Id="Rbcd7994809f540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315c8fd544197" /><Relationship Type="http://schemas.openxmlformats.org/officeDocument/2006/relationships/notesMaster" Target="/ppt/notesMasters/notesMaster1.xml" Id="R6ef979467adb48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896783533474b" /><Relationship Type="http://schemas.openxmlformats.org/officeDocument/2006/relationships/notesMaster" Target="/ppt/notesMasters/notesMaster1.xml" Id="Rbd768e3e52c84e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00a8a7aa62401a" /><Relationship Type="http://schemas.openxmlformats.org/officeDocument/2006/relationships/notesMaster" Target="/ppt/notesMasters/notesMaster1.xml" Id="R65771735f1a548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f48115f4aa4d66" /><Relationship Type="http://schemas.openxmlformats.org/officeDocument/2006/relationships/notesMaster" Target="/ppt/notesMasters/notesMaster1.xml" Id="R58f39688b5934b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8151643a384a5e" /><Relationship Type="http://schemas.openxmlformats.org/officeDocument/2006/relationships/notesMaster" Target="/ppt/notesMasters/notesMaster1.xml" Id="R25e92794dfaf4d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e68daf7afe44db" /><Relationship Type="http://schemas.openxmlformats.org/officeDocument/2006/relationships/notesMaster" Target="/ppt/notesMasters/notesMaster1.xml" Id="Rb948c2d07bc042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d42f9406484531" /><Relationship Type="http://schemas.openxmlformats.org/officeDocument/2006/relationships/notesMaster" Target="/ppt/notesMasters/notesMaster1.xml" Id="R8cedc874a4a444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ae66132e9b4000" /><Relationship Type="http://schemas.openxmlformats.org/officeDocument/2006/relationships/notesMaster" Target="/ppt/notesMasters/notesMaster1.xml" Id="R14f575b8716b40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a540dcbafb40da" /><Relationship Type="http://schemas.openxmlformats.org/officeDocument/2006/relationships/notesMaster" Target="/ppt/notesMasters/notesMaster1.xml" Id="R235ae2b7561440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d19a190d474733" /><Relationship Type="http://schemas.openxmlformats.org/officeDocument/2006/relationships/notesMaster" Target="/ppt/notesMasters/notesMaster1.xml" Id="R053693fc8ad54f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a8b634e0584436" /><Relationship Type="http://schemas.openxmlformats.org/officeDocument/2006/relationships/notesMaster" Target="/ppt/notesMasters/notesMaster1.xml" Id="R80cdf474fec246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f989513dff4972" /><Relationship Type="http://schemas.openxmlformats.org/officeDocument/2006/relationships/notesMaster" Target="/ppt/notesMasters/notesMaster1.xml" Id="R5dbb8c573af043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343f8a8ee8406c" /><Relationship Type="http://schemas.openxmlformats.org/officeDocument/2006/relationships/notesMaster" Target="/ppt/notesMasters/notesMaster1.xml" Id="Rf071257c09f849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f3a4f7546d4dd9" /><Relationship Type="http://schemas.openxmlformats.org/officeDocument/2006/relationships/notesMaster" Target="/ppt/notesMasters/notesMaster1.xml" Id="R2fca7a5dd32840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60f23c39524ac8" /><Relationship Type="http://schemas.openxmlformats.org/officeDocument/2006/relationships/notesMaster" Target="/ppt/notesMasters/notesMaster1.xml" Id="R1bec29e6fe3347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e30971a3fd4553" /><Relationship Type="http://schemas.openxmlformats.org/officeDocument/2006/relationships/notesMaster" Target="/ppt/notesMasters/notesMaster1.xml" Id="R6bf1429b8d9240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461b475a0f45b6" /><Relationship Type="http://schemas.openxmlformats.org/officeDocument/2006/relationships/notesMaster" Target="/ppt/notesMasters/notesMaster1.xml" Id="Rcd12c77805924f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com a pergunta central: como comparar caminhão e cabotagem sem excluir partes da cadeia multimodal?</a:t>
            </a:r>
          </a:p>
          <a:p xmlns:a="http://schemas.openxmlformats.org/drawingml/2006/main">
            <a:r>
              <a:t>O artigo propõe uma resposta computacional auditável, e não uma regra universal de escolha modal.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apresentação acompanha a lógica do artigo, mas concentra as fórmulas no que é necessário para entender a cadeia de cálculo.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modal: dados de 2015 do Plano Nacional de Logística reproduzidos no artigo.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tese metodológica é a unidade funcional porta a porta.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Objetivo geral do artigo: desenvolver e apresentar o CabotageLens como sistema computacional auditável.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comparação é aplicada a uma remessa de 14 t de São Paulo a Rio Branco.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TTW não deve ser apresentado como WTW ou LCA.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Custo de combustível não é cotação de frete nem prova de viabilidade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Transição para a metodologia.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estudo busca uma comparação média e geral entre alternativas, não a reprodução instantânea de uma viagem específica.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distância de Haversine só seleciona os portos; as distâncias de cálculo são rodoviárias e marítimas.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seleção automática do veículo é uma regra de modelagem, não uma verificação legal de peso.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 fórmulas completas estão na Seção 4.2 do artigo.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sequência logística completa impede a comparação enviesada do trecho marítimo contra a rota rodoviária inteira.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IDAtracacao liga as duas tabelas.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IMO identifica permanentemente o navio e permite a correspondência com o EU MRV.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observado: Santos → Suape → Pecém → Manaus.</a:t>
            </a:r>
          </a:p>
          <a:p xmlns:a="http://schemas.openxmlformats.org/drawingml/2006/main">
            <a:r>
              <a:t>A sequência inversa não contribui para Santos → Manaus porque a matriz é direcional.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B0 não é uma medição direta; é a menor carga inicial compatível com os movimentos observados e com Bk ≥ 0.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Após Manaus, a carga reconstruída do recorte chega a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indicador agrega combustível e trabalho de transporte no ano; não é a intensidade instantânea de uma viagem.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plano de monitoramento e o relatório anual passam por procedimentos de verificação descritos na orientação da Comissão Europeia.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Mesmo tipo significa a categoria Ship type do EU MRV, não nome, rota ou armador.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Para container ships: 243 navios, P95 de 24,073 g/(t·nm) e média aparada de 9,322050 g/(t·nm).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cinco recortes usam quatro IMOs e incluem sequências de portos diferentes.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valores desta lâmina demonstram a conta; a aplicação usa o conjunto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P95 remove dois recortes apenas da média de distância; todos os 89 continuam na intensidade.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matriz é direcional: Santos → Manaus e Manaus → Santos são conjuntos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escolha geográfica selecionou Santos para embarque e Manaus para desembarque.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total multimodal é R$ 6.566,71 e 2.754,13 kg CO₂e TTW.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Os consumos de diesel e VLSFO não são somados diretamente; a agregação ocorre após converter para custo ou emissão.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Rodovia: 3.491,431 km; R$ 12.318,68; 4.068,28 kg CO₂e.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Multimodal: 7.584,836 km; R$ 6.566,71; 2.754,13 kg CO₂e.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decomposição ajuda a localizar a origem do resultado e evita atribuir toda a diferença ao navio.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concentra regras e tratamento; Streamlit apresenta Router e Mapa de calor.</a:t>
            </a:r>
          </a:p>
          <a:p xmlns:a="http://schemas.openxmlformats.org/drawingml/2006/main">
            <a:r>
              <a:t>ORS é o provedor principal de geocodificação/roteamento; LocationIQ é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 linhas do mapa Router são representação visual; o cálculo usa as distâncias registradas.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Mapa de calor, as áreas entre municípios são interpolação visual, não novas rotas calculadas.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calculadora Log-In usa uma distância rodoviária 13,2% menor, o que impede equivalência direta nessa perna.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piso mínimo da ANTT inclui parcelas além do combustível.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conclusão não deve ser generalizada para toda ligação ou toda condição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Fechar retornando à abertura: a ferramenta torna a comparação reproduzível e discutível.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principal contribuição é metodológica e aplicada, com código e aplicação públicos.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Deixar os links visíveis para reprodução do cenário e consulta das regras.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400ec862741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c5b890eb540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7c26227c94f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e955cf50349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59b052ac41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3d29d7a8d4f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bc4ac75c447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2efa31e60494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91ed1a07a04e7a" /><Relationship Type="http://schemas.openxmlformats.org/officeDocument/2006/relationships/slideLayout" Target="/ppt/slideLayouts/slideLayout1.xml" Id="Re56f3144c0b6484c" /><Relationship Type="http://schemas.openxmlformats.org/officeDocument/2006/relationships/slideLayout" Target="/ppt/slideLayouts/slideLayout2.xml" Id="Rb67e090419394a57" /><Relationship Type="http://schemas.openxmlformats.org/officeDocument/2006/relationships/slideLayout" Target="/ppt/slideLayouts/slideLayout3.xml" Id="R58d740c50d6f4a92" /><Relationship Type="http://schemas.openxmlformats.org/officeDocument/2006/relationships/slideLayout" Target="/ppt/slideLayouts/slideLayout4.xml" Id="Rcaeafea981434098" /><Relationship Type="http://schemas.openxmlformats.org/officeDocument/2006/relationships/slideLayout" Target="/ppt/slideLayouts/slideLayout5.xml" Id="R9227f5f23ef24b46" /><Relationship Type="http://schemas.openxmlformats.org/officeDocument/2006/relationships/slideLayout" Target="/ppt/slideLayouts/slideLayout6.xml" Id="R7cc5f331bb8f4d86" /><Relationship Type="http://schemas.openxmlformats.org/officeDocument/2006/relationships/slideLayout" Target="/ppt/slideLayouts/slideLayout7.xml" Id="Ra25465f6bbc84d5c" /><Relationship Type="http://schemas.openxmlformats.org/officeDocument/2006/relationships/slideLayout" Target="/ppt/slideLayouts/slideLayout8.xml" Id="R295ecf5fd00549f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f3144c0b6484c"/>
    <p:sldLayoutId xmlns:r="http://schemas.openxmlformats.org/officeDocument/2006/relationships" id="2147483650" r:id="Rb67e090419394a57"/>
    <p:sldLayoutId xmlns:r="http://schemas.openxmlformats.org/officeDocument/2006/relationships" id="2147483651" r:id="R58d740c50d6f4a92"/>
    <p:sldLayoutId xmlns:r="http://schemas.openxmlformats.org/officeDocument/2006/relationships" id="2147483652" r:id="Rcaeafea981434098"/>
    <p:sldLayoutId xmlns:r="http://schemas.openxmlformats.org/officeDocument/2006/relationships" id="2147483653" r:id="R9227f5f23ef24b46"/>
    <p:sldLayoutId xmlns:r="http://schemas.openxmlformats.org/officeDocument/2006/relationships" id="2147483654" r:id="R7cc5f331bb8f4d86"/>
    <p:sldLayoutId xmlns:r="http://schemas.openxmlformats.org/officeDocument/2006/relationships" id="2147483655" r:id="Ra25465f6bbc84d5c"/>
    <p:sldLayoutId xmlns:r="http://schemas.openxmlformats.org/officeDocument/2006/relationships" id="2147483656" r:id="R295ecf5fd00549f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d1e47ba95420f" /><Relationship Type="http://schemas.openxmlformats.org/officeDocument/2006/relationships/notesSlide" Target="/ppt/notesSlides/notesSlide1.xml" Id="Rd99a2093b9b944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196db2e394bfc" /><Relationship Type="http://schemas.openxmlformats.org/officeDocument/2006/relationships/notesSlide" Target="/ppt/notesSlides/notesSlide2.xml" Id="Race7463cb6cb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017cb5fc24754" /><Relationship Type="http://schemas.openxmlformats.org/officeDocument/2006/relationships/notesSlide" Target="/ppt/notesSlides/notesSlide3.xml" Id="Rcd65e41e33e348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58fbdefa8457e" /><Relationship Type="http://schemas.openxmlformats.org/officeDocument/2006/relationships/notesSlide" Target="/ppt/notesSlides/notesSlide4.xml" Id="R4d1d4da1398443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00444d9a04c22" /><Relationship Type="http://schemas.openxmlformats.org/officeDocument/2006/relationships/notesSlide" Target="/ppt/notesSlides/notesSlide5.xml" Id="R626d2e1ad009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a4b6569ef4054" /><Relationship Type="http://schemas.openxmlformats.org/officeDocument/2006/relationships/notesSlide" Target="/ppt/notesSlides/notesSlide6.xml" Id="Rcd3da86e6df646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639e41f8cf4dd2" /><Relationship Type="http://schemas.openxmlformats.org/officeDocument/2006/relationships/notesSlide" Target="/ppt/notesSlides/notesSlide7.xml" Id="Rf9bdcdf1967144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055c49a2e468f" /><Relationship Type="http://schemas.openxmlformats.org/officeDocument/2006/relationships/notesSlide" Target="/ppt/notesSlides/notesSlide8.xml" Id="Rc8bc87eff5be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ee307f41f4334" /><Relationship Type="http://schemas.openxmlformats.org/officeDocument/2006/relationships/notesSlide" Target="/ppt/notesSlides/notesSlide9.xml" Id="R1244853d7fb847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a9630af8a54a4d" /><Relationship Type="http://schemas.openxmlformats.org/officeDocument/2006/relationships/image" Target="/ppt/media/image.png" Id="Ra0be1256653945dc" /><Relationship Type="http://schemas.openxmlformats.org/officeDocument/2006/relationships/image" Target="/ppt/media/image2.png" Id="Rb6930bf0582a4262" /><Relationship Type="http://schemas.openxmlformats.org/officeDocument/2006/relationships/notesSlide" Target="/ppt/notesSlides/notesSlide10.xml" Id="Rc56c6e7b350d49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d279541e4d4b6e" /><Relationship Type="http://schemas.openxmlformats.org/officeDocument/2006/relationships/notesSlide" Target="/ppt/notesSlides/notesSlide11.xml" Id="R0d6b9d635a4e4e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4a720ac3345ad" /><Relationship Type="http://schemas.openxmlformats.org/officeDocument/2006/relationships/notesSlide" Target="/ppt/notesSlides/notesSlide12.xml" Id="R7bc8985a8e2a49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2cdb7634745f6" /><Relationship Type="http://schemas.openxmlformats.org/officeDocument/2006/relationships/image" Target="/ppt/media/image3.png" Id="R755d77d622cb4a81" /><Relationship Type="http://schemas.openxmlformats.org/officeDocument/2006/relationships/notesSlide" Target="/ppt/notesSlides/notesSlide13.xml" Id="R756a2abcd13945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c2452cb2d479d" /><Relationship Type="http://schemas.openxmlformats.org/officeDocument/2006/relationships/notesSlide" Target="/ppt/notesSlides/notesSlide14.xml" Id="Rbb4ee957c2ad41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46e053d7b4789" /><Relationship Type="http://schemas.openxmlformats.org/officeDocument/2006/relationships/chart" Target="/ppt/slides/charts/chart1.xml" Id="R33ff807564bd4414" /><Relationship Type="http://schemas.openxmlformats.org/officeDocument/2006/relationships/notesSlide" Target="/ppt/notesSlides/notesSlide15.xml" Id="R9f31e3f5063b40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596fba7fb498f" /><Relationship Type="http://schemas.openxmlformats.org/officeDocument/2006/relationships/notesSlide" Target="/ppt/notesSlides/notesSlide16.xml" Id="Rb78681e028224f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0fa84db7b41b6" /><Relationship Type="http://schemas.openxmlformats.org/officeDocument/2006/relationships/notesSlide" Target="/ppt/notesSlides/notesSlide17.xml" Id="R3f67f4737a8747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fec5f24084a5c" /><Relationship Type="http://schemas.openxmlformats.org/officeDocument/2006/relationships/notesSlide" Target="/ppt/notesSlides/notesSlide18.xml" Id="R309fff7b396f4a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f3e0f22a248b4" /><Relationship Type="http://schemas.openxmlformats.org/officeDocument/2006/relationships/chart" Target="/ppt/slides/charts/chart2.xml" Id="R3586868c4e4e457d" /><Relationship Type="http://schemas.openxmlformats.org/officeDocument/2006/relationships/notesSlide" Target="/ppt/notesSlides/notesSlide19.xml" Id="R01ef6ff99bf440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f836dc1b044dc" /><Relationship Type="http://schemas.openxmlformats.org/officeDocument/2006/relationships/chart" Target="/ppt/slides/charts/chart3.xml" Id="Re6e90803599f4dc9" /><Relationship Type="http://schemas.openxmlformats.org/officeDocument/2006/relationships/notesSlide" Target="/ppt/notesSlides/notesSlide20.xml" Id="Rdadc1186ab5443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ebcd3d780f447e" /><Relationship Type="http://schemas.openxmlformats.org/officeDocument/2006/relationships/notesSlide" Target="/ppt/notesSlides/notesSlide21.xml" Id="R250b4ef3ab024d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c9e28f087f4293" /><Relationship Type="http://schemas.openxmlformats.org/officeDocument/2006/relationships/image" Target="/ppt/media/image4.png" Id="R89910ae672e34e66" /><Relationship Type="http://schemas.openxmlformats.org/officeDocument/2006/relationships/image" Target="/ppt/media/image5.png" Id="Re57eb00207d844d9" /><Relationship Type="http://schemas.openxmlformats.org/officeDocument/2006/relationships/notesSlide" Target="/ppt/notesSlides/notesSlide22.xml" Id="R52a5e22231a240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edd2fba024698" /><Relationship Type="http://schemas.openxmlformats.org/officeDocument/2006/relationships/notesSlide" Target="/ppt/notesSlides/notesSlide23.xml" Id="Re35a6c3436824c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f6c50d7c74fae" /><Relationship Type="http://schemas.openxmlformats.org/officeDocument/2006/relationships/notesSlide" Target="/ppt/notesSlides/notesSlide24.xml" Id="R705fafb5de4a4d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2af3fbdbc405f" /><Relationship Type="http://schemas.openxmlformats.org/officeDocument/2006/relationships/notesSlide" Target="/ppt/notesSlides/notesSlide25.xml" Id="Raa90fc76eba646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4c86d2eea4b2c" /><Relationship Type="http://schemas.openxmlformats.org/officeDocument/2006/relationships/notesSlide" Target="/ppt/notesSlides/notesSlide26.xml" Id="R21b9cb03581e46c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Distância (mil km)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5"/>
              <c:pt idx="0">
                <c:v>V1</c:v>
              </c:pt>
              <c:pt idx="1">
                <c:v>V2</c:v>
              </c:pt>
              <c:pt idx="2">
                <c:v>V3</c:v>
              </c:pt>
              <c:pt idx="3">
                <c:v>V4</c:v>
              </c:pt>
              <c:pt idx="4">
                <c:v>V5</c:v>
              </c:pt>
            </c:strLit>
          </c:cat>
          <c:val>
            <c:numLit>
              <c:formatCode>0.0</c:formatCode>
              <c:ptCount val="5"/>
              <c:pt idx="0">
                <c:v>5.468</c:v>
              </c:pt>
              <c:pt idx="1">
                <c:v>6.321</c:v>
              </c:pt>
              <c:pt idx="2">
                <c:v>6.272</c:v>
              </c:pt>
              <c:pt idx="3">
                <c:v>6.153</c:v>
              </c:pt>
              <c:pt idx="4">
                <c:v>6.86</c:v>
              </c:pt>
            </c:numLit>
          </c:val>
        </c:ser>
        <c:ser>
          <c:idx val="1"/>
          <c:order val="1"/>
          <c:tx>
            <c:v>Intensidade [g/(t·nm)]</c:v>
          </c:tx>
          <c:spPr>
            <a:solidFill xmlns:a="http://schemas.openxmlformats.org/drawingml/2006/main">
              <a:srgbClr val="75A8E8"/>
            </a:solidFill>
          </c:spPr>
          <c:cat>
            <c:strLit>
              <c:ptCount val="5"/>
              <c:pt idx="0">
                <c:v>V1</c:v>
              </c:pt>
              <c:pt idx="1">
                <c:v>V2</c:v>
              </c:pt>
              <c:pt idx="2">
                <c:v>V3</c:v>
              </c:pt>
              <c:pt idx="3">
                <c:v>V4</c:v>
              </c:pt>
              <c:pt idx="4">
                <c:v>V5</c:v>
              </c:pt>
            </c:strLit>
          </c:cat>
          <c:val>
            <c:numLit>
              <c:formatCode>0.0</c:formatCode>
              <c:ptCount val="5"/>
              <c:pt idx="0">
                <c:v>7.43</c:v>
              </c:pt>
              <c:pt idx="1">
                <c:v>7.43</c:v>
              </c:pt>
              <c:pt idx="2">
                <c:v>9.5</c:v>
              </c:pt>
              <c:pt idx="3">
                <c:v>5.41</c:v>
              </c:pt>
              <c:pt idx="4">
                <c:v>6.8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7415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B55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Rodovia direta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3"/>
              <c:pt idx="0">
                <c:v>Distância
(mil km)</c:v>
              </c:pt>
              <c:pt idx="1">
                <c:v>Emissões
(t CO₂e)</c:v>
              </c:pt>
              <c:pt idx="2">
                <c:v>Custo
(R$ mil)</c:v>
              </c:pt>
            </c:strLit>
          </c:cat>
          <c:val>
            <c:numLit>
              <c:formatCode>0.0</c:formatCode>
              <c:ptCount val="3"/>
              <c:pt idx="0">
                <c:v>3.491</c:v>
              </c:pt>
              <c:pt idx="1">
                <c:v>4.068</c:v>
              </c:pt>
              <c:pt idx="2">
                <c:v>12.319</c:v>
              </c:pt>
            </c:numLit>
          </c:val>
        </c:ser>
        <c:ser>
          <c:idx val="1"/>
          <c:order val="1"/>
          <c:tx>
            <c:v>Multimodal</c:v>
          </c:tx>
          <c:spPr>
            <a:solidFill xmlns:a="http://schemas.openxmlformats.org/drawingml/2006/main">
              <a:srgbClr val="75A8E8"/>
            </a:solidFill>
          </c:spPr>
          <c:cat>
            <c:strLit>
              <c:ptCount val="3"/>
              <c:pt idx="0">
                <c:v>Distância
(mil km)</c:v>
              </c:pt>
              <c:pt idx="1">
                <c:v>Emissões
(t CO₂e)</c:v>
              </c:pt>
              <c:pt idx="2">
                <c:v>Custo
(R$ mil)</c:v>
              </c:pt>
            </c:strLit>
          </c:cat>
          <c:val>
            <c:numLit>
              <c:formatCode>0.0</c:formatCode>
              <c:ptCount val="3"/>
              <c:pt idx="0">
                <c:v>7.585</c:v>
              </c:pt>
              <c:pt idx="1">
                <c:v>2.754</c:v>
              </c:pt>
              <c:pt idx="2">
                <c:v>6.567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7415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B55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Emissões (kg CO₂e)</c:v>
          </c:tx>
          <c:spPr>
            <a:solidFill xmlns:a="http://schemas.openxmlformats.org/drawingml/2006/main">
              <a:srgbClr val="3357B8"/>
            </a:solidFill>
          </c:spPr>
          <c:cat>
            <c:strLit>
              <c:ptCount val="4"/>
              <c:pt idx="0">
                <c:v>First</c:v>
              </c:pt>
              <c:pt idx="1">
                <c:v>Navegação</c:v>
              </c:pt>
              <c:pt idx="2">
                <c:v>Portos</c:v>
              </c:pt>
              <c:pt idx="3">
                <c:v>Last</c:v>
              </c:pt>
            </c:strLit>
          </c:cat>
          <c:val>
            <c:numLit>
              <c:formatCode>0</c:formatCode>
              <c:ptCount val="4"/>
              <c:pt idx="0">
                <c:v>100.41</c:v>
              </c:pt>
              <c:pt idx="1">
                <c:v>1005.2</c:v>
              </c:pt>
              <c:pt idx="2">
                <c:v>12.92</c:v>
              </c:pt>
              <c:pt idx="3">
                <c:v>1635.6</c:v>
              </c:pt>
            </c:numLit>
          </c:val>
        </c:ser>
        <c:ser>
          <c:idx val="1"/>
          <c:order val="1"/>
          <c:tx>
            <c:v>Custo (R$)</c:v>
          </c:tx>
          <c:spPr>
            <a:solidFill xmlns:a="http://schemas.openxmlformats.org/drawingml/2006/main">
              <a:srgbClr val="75A8E8"/>
            </a:solidFill>
          </c:spPr>
          <c:cat>
            <c:strLit>
              <c:ptCount val="4"/>
              <c:pt idx="0">
                <c:v>First</c:v>
              </c:pt>
              <c:pt idx="1">
                <c:v>Navegação</c:v>
              </c:pt>
              <c:pt idx="2">
                <c:v>Portos</c:v>
              </c:pt>
              <c:pt idx="3">
                <c:v>Last</c:v>
              </c:pt>
            </c:strLit>
          </c:cat>
          <c:val>
            <c:numLit>
              <c:formatCode>0</c:formatCode>
              <c:ptCount val="4"/>
              <c:pt idx="0">
                <c:v>260.76</c:v>
              </c:pt>
              <c:pt idx="1">
                <c:v>1230.62</c:v>
              </c:pt>
              <c:pt idx="2">
                <c:v>34.25</c:v>
              </c:pt>
              <c:pt idx="3">
                <c:v>5041.08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7415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B55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CabotageLens:</a:t>
            </a:r>
          </a:p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comparação porta a porta auditável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Sistema computacional para comparar rodovia direta e cabotagem com acessos terrestres, operações portuárias e navegação.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Felipe de Sá Proença ·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APRESENTAÇÃO DO ARTIGO TÉCNICO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387E45BC-6BC0-4C23-9D0C-90DCE20C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Da pergunta logística ao resultado auditável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Roteiro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Problema e objetivo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Por que porta a porta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Fronteiras e método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O que é comparado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Construção marítima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ANTAQ + EU MRV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Caso São Paulo–Rio Branco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Resultados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Sistema e auditoria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Implementação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Verificações e conclusão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Limites e contribuição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comparação só é justa quando o serviço é o mesmo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Participação na atividade de cargas do Brasil em 2015, medida em TKU.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Comparar apenas o navio com a viagem rodoviária completa favoreceria artificialmente a alternativa multimodal.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 caminhão domina a matriz, mas a resposta modal depende da ligação.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65% rodoviário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O modal marítimo tem papel relevante, mas não substitui a estrada em qualquer rota.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11% cabotagem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Mesma origem, destino e massa de carga nas duas alternativas.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Mesma unidade funcional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Acessos rodoviários, terminais e navegação entram no mesmo balanço.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Cadeia completa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Saídas comparáveis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Distância, combustível, custo modelado e CO₂e TTW.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Rastreabilidade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Procedência, cobertura, fallbacks e avisos do cálculo.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objetivo é transformar essa comparação em um cálculo auditável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Entradas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Origem, destino e massa da remessa.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Cada resultado mantém visíveis as fontes, os parâmetros, as aproximações e as regras usadas no processamento.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 CabotageLens recebe um cenário e calcula duas alternativas completas.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estudo mede desempenho operacional, não o frete de mercado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CO₂e operacional TTW associado ao combustível queimado.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leitura correta é por remessa e dentro das premissas declaradas no artigo.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As fronteiras evitam que indicadores de naturezas diferentes sejam confundidos.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Incluído · emissões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Custo modelado do Diesel S10 e do VLSFO consumidos.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Incluído · custo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WTW, LCA, fabricação de veículos, navios e infraestrutura.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Fora · ciclo de vida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Frete, seguro, estoque, frequência e espaço garantido no navio.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Fora · operação comercial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Mesma remessa,</a:t>
            </a:r>
          </a:p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duas cadeias completas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comparação combina dados próprios do cenário com parâmetros históricos ou representativos, mantendo o mesmo nível de abstração para rodovia e navegação.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Unidade funcional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Origem, destino e carga iguais para as duas alternativas.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cenário passa por três etapas até se tornar comparável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Duas cadeias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Rodovia direta versus acessos + portos + cabotagem.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Totais comuns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Distância, custo de combustível e emissões TTW.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Entrada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Cálculo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Comparação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Na rodovia, a carga define o veículo e a distância define o consumo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Grandeza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Valor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Fonte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Função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3.491,431 km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Percurso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14 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Entrada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Veículo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Veículo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 eixos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Regra do modelo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Eficiência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Eficiência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2,3 km/L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ANTT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Consumo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S10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R$ 8,115/L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Fator 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2,68 kg/L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IPCC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Emissões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Consumo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1.518,014 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Derivado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R$ 12.318,68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Derivado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Emissões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4.068,28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Derivado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Resultado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Para 14 t, o modelo seleciona uma carreta de cinco eixos.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C = V × Pdiesel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E = V × 2,68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O preço interestadual é a média entre as UFs de origem e destino.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V = N × D / η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alternativa multimodal soma quatro componentes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Origem → porto de embarque pela malha rodoviária.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navegação é construída com atividade observada; as operações portuárias permanecem separadas e explícitas.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Os acessos usam o mesmo modelo rodoviário da alternativa direta.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 · First mile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Distância e intensidade representativas entre os portos.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2 · Navegação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Movimentos de RTG e caminhão interno nos dois terminais.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3 · Operações portuárias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Porto de desembarque → destino pela malha rodoviária.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4 · Last mile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ANTAQ registra escalas e movimentos — não uma viagem pronta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À esquerda: Carga informa massa, TEU e sentido. À direita: Atracação informa porto, data e IMO.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e1256653945dc"/>
          <a:stretch xmlns:a="http://schemas.openxmlformats.org/drawingml/2006/main"/>
        </p:blipFill>
        <p:spPr>
          <a:xfrm xmlns:a="http://schemas.openxmlformats.org/drawingml/2006/main">
            <a:off x="899869" y="2192655"/>
            <a:ext cx="4524766" cy="3801713"/>
          </a:xfrm>
          <a:prstGeom xmlns:a="http://schemas.openxmlformats.org/drawingml/2006/main" prst="roundRect">
            <a:avLst>
              <a:gd name="adj" fmla="val 2505"/>
            </a:avLst>
          </a:prstGeom>
        </p:spPr>
      </p:pic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30bf0582a4262"/>
          <a:stretch xmlns:a="http://schemas.openxmlformats.org/drawingml/2006/main"/>
        </p:blipFill>
        <p:spPr>
          <a:xfrm xmlns:a="http://schemas.openxmlformats.org/drawingml/2006/main">
            <a:off x="6265069" y="3133528"/>
            <a:ext cx="5537168" cy="1919967"/>
          </a:xfrm>
          <a:prstGeom xmlns:a="http://schemas.openxmlformats.org/drawingml/2006/main" prst="roundRect">
            <a:avLst>
              <a:gd name="adj" fmla="val 2505"/>
            </a:avLst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IDAtracacao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Agrupa embarques e desembarques e liga cada movimento à escala.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reconstrução converte registros isolados em subtrechos observados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IMO + tempo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Ordena as escalas do mesmo navio e forma os subtrechos consecutivos.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Origem → destino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Mantém o recorte completo, direto ou com portos intermediários.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1 · Relacionar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2 · Ordenar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3 · Recortar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balanço de carga corrige saldos negativos do recorte observado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Sk = ΣΔi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mín(Sk) = −2.976,894 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B0 = 2.976,894 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Bk = B0 + Sk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Carga nos subtrechos: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12.858,754 → 16.718,333 → 12.325,900 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Δk = Ek − Dk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"/>
                <a:gridCol w="933450"/>
                <a:gridCol w="1238250"/>
                <a:gridCol w="1238250"/>
                <a:gridCol w="1333500"/>
                <a:gridCol w="1428750"/>
              </a:tblGrid>
              <a:tr h="762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Porto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E (t)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D (t)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Δ (t)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</a:rPr>
                        <a:t>S (t)</a:t>
                      </a:r>
                    </a:p>
                  </a:txBody>
                  <a:tcPr marL="91440" marR="91440" marT="45720" marB="45720">
                    <a:solidFill>
                      <a:srgbClr val="3357B8"/>
                    </a:solidFill>
                  </a:tcPr>
                </a:tc>
              </a:tr>
              <a:tr h="762000"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Santos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9.881,860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9.881,860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9.881,860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Suape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11.862,199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8.002,620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3.859,579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13.741,439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Pecém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3.231,914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7.624,347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−4.392,433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9.349,006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Manaus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7.571,660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19.897,560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−12.325,900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863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−2.976,894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EU MRV fornece uma intensidade anual verificável por navio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O número IMO liga a embarcação observada na ANTAQ à publicação europeia.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IMO 9612791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Container ship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7,43 g/(t·nm)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Usa-se o valor positivo mais recente do mesmo navio.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I = combustível anual / trabalho de transporte anual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d77d622cb4a81"/>
          <a:stretch xmlns:a="http://schemas.openxmlformats.org/drawingml/2006/main"/>
        </p:blipFill>
        <p:spPr>
          <a:xfrm xmlns:a="http://schemas.openxmlformats.org/drawingml/2006/main">
            <a:off x="4752785" y="2466369"/>
            <a:ext cx="6777990" cy="2793752"/>
          </a:xfrm>
          <a:prstGeom xmlns:a="http://schemas.openxmlformats.org/drawingml/2006/main" prst="roundRect">
            <a:avLst>
              <a:gd name="adj" fmla="val 2058"/>
            </a:avLst>
          </a:prstGeom>
        </p:spPr>
      </p:pic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2 · Mesma classe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Faixa de porte do modelo: small, feeder ou large.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3 · Mesmo tipo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Média aparada do Ship type, como container ship.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hierarquia de intensidade mantém o dado utilizável e sua origem explícita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 · Mesmo IMO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Valor positivo mais recente do próprio navio.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Valores acima do P95 do mesmo Ship type preservam a viagem observada, mas recebem uma referência robusta de classe ou tipo.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 valor individual é preferido; estimativas de grupo só entram quando necessário.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Cinco recortes mostram como as médias são construídas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150" u="none" cap="none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7,337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g/(t·nm)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intensidade ponderada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150" u="none" cap="none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6.120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km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distância ponderada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Demonstração com 5 recortes. Conjunto completo: 7,006102 g/(t·nm) em 89 recortes e 6.094,975 km em 87 recortes.</a:t>
            </a:r>
          </a:p>
        </p:txBody>
      </p:sp>
      <p:graphicFrame>
        <p:nvGraphicFramePr>
          <p:cNvPr id="544" name="Chart"/>
          <p:cNvGraphicFramePr/>
          <p:nvPr/>
        </p:nvGraphicFramePr>
        <p:xfrm>
          <a:off xmlns:a="http://schemas.openxmlformats.org/drawingml/2006/main" x="408718" y="1385030"/>
          <a:ext xmlns:a="http://schemas.openxmlformats.org/drawingml/2006/main" cx="5124164" cy="4863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ff807564bd4414"/>
          </a:graphicData>
        </a:graphic>
      </p:graphicFrame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Santos–Manaus é representado por toda a atividade elegível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22 sequências de portos; 1 direta e 88 com escalas.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Intensidade e distância são calculadas separadamente, com pesos coerentes com cada grandeza.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Nenhum corredor único é escolhido para representar a ligação.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89 recortes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Intensidade ponderada pelo trabalho de transporte dos 89.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7,006102 g/(t·nm)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Distância de 87 recortes até o P95, ponderada pela carga média.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6.094,975 km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Subtrecho com haversine_fallback, mantido como aviso de qualidade.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 de 391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Aplicação ao caso:</a:t>
            </a:r>
          </a:p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São Paulo → Rio Branco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Remessa de 14 t. A alternativa direta percorre toda a rota por estrada; a multimodal usa Santos e Manaus, com os dois acessos rodoviários e as operações nos terminais.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Quatro etapas formam o resultado multimodal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86,170 km · 37,465 L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R$ 260,76 · 100,41 kg CO₂e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Diesel S10 é usado nos acessos e terminais; VLSFO, na navegação.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Cada combustível é convertido separadamente em custo e emissões.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First mile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6.094,975 km · 322,801 kg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R$ 1.230,62 · 1.005,20 kg CO₂e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Navegação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4,820 L de diesel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R$ 34,25 · 12,92 kg CO₂e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Operações portuárias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1.403,691 km · 610,300 L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R$ 5.041,08 · 1.635,60 kg CO₂e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Last mile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No caso analisado, a distância cresce e os dois indicadores caem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150" u="none" cap="none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−32,3%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emissões TTW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−1.314,15 kg CO₂e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150" u="none" cap="none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−46,7%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custo de combustível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−R$ 5.751,97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 alternativa multimodal percorre 117,24% mais quilômetros. O resultado mostra que distância isolada não representa eficiência modal.</a:t>
            </a:r>
          </a:p>
        </p:txBody>
      </p:sp>
      <p:graphicFrame>
        <p:nvGraphicFramePr>
          <p:cNvPr id="544" name="Chart"/>
          <p:cNvGraphicFramePr/>
          <p:nvPr/>
        </p:nvGraphicFramePr>
        <p:xfrm>
          <a:off xmlns:a="http://schemas.openxmlformats.org/drawingml/2006/main" x="408718" y="1385030"/>
          <a:ext xmlns:a="http://schemas.openxmlformats.org/drawingml/2006/main" cx="5124164" cy="4863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86868c4e4e457d"/>
          </a:graphicData>
        </a:graphic>
      </p:graphicFrame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last mile concentra a maior parcela do resultado multimodal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36,5% das emissões e 18,7% do custo.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Navegação vem depois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12,92 kg CO₂e e R$ 34,25, sem serem ocultados no total.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Portos permanecem visíveis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59,4% das emissões e 76,8% do custo multimodal.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Last mile domina</a:t>
            </a:r>
          </a:p>
        </p:txBody>
      </p:sp>
      <p:graphicFrame>
        <p:nvGraphicFramePr>
          <p:cNvPr id="546" name="Chart"/>
          <p:cNvGraphicFramePr/>
          <p:nvPr/>
        </p:nvGraphicFramePr>
        <p:xfrm>
          <a:off xmlns:a="http://schemas.openxmlformats.org/drawingml/2006/main" x="408718" y="1385030"/>
          <a:ext xmlns:a="http://schemas.openxmlformats.org/drawingml/2006/main" cx="5124164" cy="4863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e90803599f4dc9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Bases históricas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ANTAQ + EU MRV formam viagens reconstruídas e a SeaMatrix.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sistema separa preparação histórica, execução e auditoria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Pipeline do cenário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Geocodifica, roteia, seleciona portos e calcula as duas alternativas.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Supabase + Git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Persistem rotas, dados, resultados, procedência e versões.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Preparar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Executar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Registrar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Duas interfaces aplicam a mesma metodologia em escalas diferentes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Router compara uma ligação (esquerda); Mapa de calor amplia a leitura para 608 municípios (direita).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10ae672e34e66"/>
          <a:stretch xmlns:a="http://schemas.openxmlformats.org/drawingml/2006/main"/>
        </p:blipFill>
        <p:spPr>
          <a:xfrm xmlns:a="http://schemas.openxmlformats.org/drawingml/2006/main">
            <a:off x="393668" y="2340922"/>
            <a:ext cx="5537168" cy="3505180"/>
          </a:xfrm>
          <a:prstGeom xmlns:a="http://schemas.openxmlformats.org/drawingml/2006/main" prst="roundRect">
            <a:avLst>
              <a:gd name="adj" fmla="val 2505"/>
            </a:avLst>
          </a:prstGeom>
        </p:spPr>
      </p:pic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eb00207d844d9"/>
          <a:stretch xmlns:a="http://schemas.openxmlformats.org/drawingml/2006/main"/>
        </p:blipFill>
        <p:spPr>
          <a:xfrm xmlns:a="http://schemas.openxmlformats.org/drawingml/2006/main">
            <a:off x="7096029" y="2192655"/>
            <a:ext cx="3875247" cy="3801713"/>
          </a:xfrm>
          <a:prstGeom xmlns:a="http://schemas.openxmlformats.org/drawingml/2006/main" prst="roundRect">
            <a:avLst>
              <a:gd name="adj" fmla="val 2505"/>
            </a:avLst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Log-In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Multimodal: distância a 0,15% e emissões a 5,3%; rodovia não é equivalente.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ANTT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Combustível equivale a 57,8% do piso mínimo; os dois valores têm finalidades distintas.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Ferramentas externas ajudam a testar coerência sem virar gabarito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Aliança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SP–Abaetetuba: redução de 70,9% no CabotageLens e 76,0% na ferramenta.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 objetivo é verificar ordem de grandeza e interpretação, não ajustar o CabotageLens para reproduzir outra calculadora.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As diferenças de rota, escopo e indicador permanecem explícitas.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O resultado é comparativo, médio e condicionado ao cenário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Não inclui produção dos combustíveis, veículos ou infraestrutura.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 modelo privilegia consistência entre cenários e rastreabilidade dos parâmetros.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As limitações são parte da leitura do resultado, não notas de rodapé.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Fronteira TTW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Combustível modelado não equivale a frete nem tarifa contratada.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Custo parcial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Haversine seleciona o porto; não otimiza frequência, contrato ou capacidade.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Porto mais próximo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Não reproduzem calado, clima, velocidade ou disponibilidade futura.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Médias históricas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29F673A-B70E-46CE-881E-74AE89C05D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Para 14 t de São Paulo a Rio Branco: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+117,24% de distância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−32,30% de CO₂e TTW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−46,69% de custo de combustível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4F86C4E-C85C-4CFB-8BD0-09231D7E3B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Resultado do caso</a:t>
            </a: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Distância isolada não basta: acessos, portos e navegação precisam ser avaliados na mesma cadeia.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 que o estudo demonstra</a:t>
            </a: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96643"/>
          </a:bodyPr>
          <a:lstStyle xmlns:a="http://schemas.openxmlformats.org/drawingml/2006/main"/>
          <a:p xmlns:a="http://schemas.openxmlformats.org/drawingml/2006/main">
            <a:r>
              <a:t>A contribuição está na comparação auditável, não em uma resposta universal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Conclusão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D8929F41-85B4-4502-858C-65DD70EF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cabotagem não é sempre superior. O resultado depende da rota, da carga, do navio representado e das premissas.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 que o estudo não afirma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MULTIMODAL MENOR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Contribuição metodológica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Viagens ANTAQ, carga por subtrecho, intensidade EU MRV, médias ponderadas e procedência preservada.</a:t>
            </a:r>
          </a:p>
        </p:txBody>
      </p:sp>
    </p:spTree>
    <p:extLst>
      <p:ext uri="{BB962C8B-B14F-4D97-AF65-F5344CB8AC3E}">
        <p14:creationId xmlns:p14="http://schemas.microsoft.com/office/powerpoint/2010/main" val="210469329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Perguntas?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CabotageLens · https://cabotagelens.streamlit.app/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Código e documentação · github.com/pennylanesccp/cabotage-lens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Felipe de Sá Proença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340BEF4-82A9-4820-BF00-C1FF4BE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2026-07-26T17:54:07.5340000Z</dcterms:created>
  <dcterms:modified xsi:type="dcterms:W3CDTF">2026-07-26T17:54:07.5340000Z</dcterms:modified>
</coreProperties>
</file>