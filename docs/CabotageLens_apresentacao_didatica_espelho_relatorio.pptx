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2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3.xml" ContentType="application/vnd.openxmlformats-officedocument.drawingml.chart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rts/chart4.xml" ContentType="application/vnd.openxmlformats-officedocument.drawingml.chart+xml"/>
  <Override PartName="/ppt/notesSlides/notesSlide32.xml" ContentType="application/vnd.openxmlformats-officedocument.presentationml.notesSlide+xml"/>
  <Override PartName="/ppt/charts/chart5.xml" ContentType="application/vnd.openxmlformats-officedocument.drawingml.chart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embeddedFontLst>
    <p:embeddedFont>
      <p:font typeface="Lora SemiBold" panose="020B0604020202020204" charset="0"/>
      <p:regular r:id="rId45"/>
      <p:bold r:id="rId46"/>
      <p:italic r:id="rId47"/>
      <p:boldItalic r:id="rId48"/>
    </p:embeddedFont>
    <p:embeddedFont>
      <p:font typeface="Roboto" panose="02000000000000000000" pitchFamily="2" charset="0"/>
      <p:regular r:id="rId49"/>
      <p:bold r:id="rId50"/>
      <p:italic r:id="rId51"/>
      <p:boldItalic r:id="rId52"/>
    </p:embeddedFont>
    <p:embeddedFont>
      <p:font typeface="Roboto Medium" panose="02000000000000000000" pitchFamily="2" charset="0"/>
      <p:regular r:id="rId53"/>
      <p:italic r:id="rId54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1"/>
      <c:txPr>
        <a:bodyPr rot="0" vert="horz" anchor="ctr" anchorCtr="1"/>
        <a:lstStyle/>
        <a:p>
          <a:pPr>
            <a:defRPr sz="1800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400" b="1" i="0" u="none" kern="1200" baseline="0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AF-4887-8AB7-948ACE91A0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solidFill>
                  <a:schemeClr val="tx2">
                    <a:lumMod val="50000"/>
                    <a:lumOff val="50000"/>
                  </a:schemeClr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400" b="1" i="0" u="none" kern="1200" baseline="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6AF-4887-8AB7-948ACE91A0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mpd="sng">
            <a:solidFill>
              <a:schemeClr val="tx1"/>
            </a:solidFill>
          </a:ln>
        </c:spPr>
        <c:txPr>
          <a:bodyPr rot="-60000000" spcFirstLastPara="1" vert="horz" wrap="square" anchor="ctr" anchorCtr="1"/>
          <a:lstStyle/>
          <a:p>
            <a:pPr>
              <a:defRPr sz="1100" b="0" i="0" u="none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  <a:endParaRPr lang="pt-BR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 rot="-60000000" vert="horz" anchor="ctr" anchorCtr="1"/>
          <a:lstStyle/>
          <a:p>
            <a:pPr>
              <a:defRPr sz="1100" b="0" i="0" u="none" kern="1200" baseline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 lang="pt-BR"/>
          </a:p>
        </c:txPr>
        <c:crossAx val="1785928255"/>
        <c:crosses val="autoZero"/>
        <c:crossBetween val="between"/>
      </c:valAx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4.6123948895864915E-2"/>
        </c:manualLayout>
      </c:layout>
      <c:overlay val="0"/>
      <c:spPr>
        <a:noFill/>
      </c:spPr>
      <c:txPr>
        <a:bodyPr rot="0" vert="horz" anchor="ctr" anchorCtr="1"/>
        <a:lstStyle/>
        <a:p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  <a:endParaRPr lang="pt-BR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1"/>
      <c:txPr>
        <a:bodyPr rot="0" vert="horz" anchor="ctr" anchorCtr="1"/>
        <a:lstStyle/>
        <a:p>
          <a:pPr>
            <a:defRPr sz="1800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400" b="1" i="0" u="none" kern="1200" baseline="0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A8-455E-9388-2680F5D3EA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solidFill>
                  <a:schemeClr val="tx2">
                    <a:lumMod val="50000"/>
                    <a:lumOff val="50000"/>
                  </a:schemeClr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400" b="1" i="0" u="none" kern="1200" baseline="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BA8-455E-9388-2680F5D3EA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mpd="sng">
            <a:solidFill>
              <a:schemeClr val="tx1"/>
            </a:solidFill>
          </a:ln>
        </c:spPr>
        <c:txPr>
          <a:bodyPr rot="-60000000" spcFirstLastPara="1" vert="horz" wrap="square" anchor="ctr" anchorCtr="1"/>
          <a:lstStyle/>
          <a:p>
            <a:pPr>
              <a:defRPr sz="1100" b="0" i="0" u="none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  <a:endParaRPr lang="pt-BR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 rot="-60000000" vert="horz" anchor="ctr" anchorCtr="1"/>
          <a:lstStyle/>
          <a:p>
            <a:pPr>
              <a:defRPr sz="1100" b="0" i="0" u="none" kern="1200" baseline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 lang="pt-BR"/>
          </a:p>
        </c:txPr>
        <c:crossAx val="1785928255"/>
        <c:crosses val="autoZero"/>
        <c:crossBetween val="between"/>
      </c:valAx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4.6123948895864915E-2"/>
        </c:manualLayout>
      </c:layout>
      <c:overlay val="0"/>
      <c:spPr>
        <a:noFill/>
      </c:spPr>
      <c:txPr>
        <a:bodyPr rot="0" vert="horz" anchor="ctr" anchorCtr="1"/>
        <a:lstStyle/>
        <a:p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  <a:endParaRPr lang="pt-BR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1"/>
      <c:txPr>
        <a:bodyPr rot="0" vert="horz" anchor="ctr" anchorCtr="1"/>
        <a:lstStyle/>
        <a:p>
          <a:pPr>
            <a:defRPr sz="1800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400" b="1" i="0" u="none" kern="1200" baseline="0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F8-4B34-9B01-E38C638DEC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solidFill>
                  <a:schemeClr val="tx2">
                    <a:lumMod val="50000"/>
                    <a:lumOff val="50000"/>
                  </a:schemeClr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400" b="1" i="0" u="none" kern="1200" baseline="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FF8-4B34-9B01-E38C638DEC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mpd="sng">
            <a:solidFill>
              <a:schemeClr val="tx1"/>
            </a:solidFill>
          </a:ln>
        </c:spPr>
        <c:txPr>
          <a:bodyPr rot="-60000000" spcFirstLastPara="1" vert="horz" wrap="square" anchor="ctr" anchorCtr="1"/>
          <a:lstStyle/>
          <a:p>
            <a:pPr>
              <a:defRPr sz="1100" b="0" i="0" u="none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  <a:endParaRPr lang="pt-BR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 rot="-60000000" vert="horz" anchor="ctr" anchorCtr="1"/>
          <a:lstStyle/>
          <a:p>
            <a:pPr>
              <a:defRPr sz="1100" b="0" i="0" u="none" kern="1200" baseline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 lang="pt-BR"/>
          </a:p>
        </c:txPr>
        <c:crossAx val="1785928255"/>
        <c:crosses val="autoZero"/>
        <c:crossBetween val="between"/>
      </c:valAx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4.6123948895864915E-2"/>
        </c:manualLayout>
      </c:layout>
      <c:overlay val="0"/>
      <c:spPr>
        <a:noFill/>
      </c:spPr>
      <c:txPr>
        <a:bodyPr rot="0" vert="horz" anchor="ctr" anchorCtr="1"/>
        <a:lstStyle/>
        <a:p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  <a:endParaRPr lang="pt-BR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1"/>
      <c:txPr>
        <a:bodyPr rot="0" vert="horz" anchor="ctr" anchorCtr="1"/>
        <a:lstStyle/>
        <a:p>
          <a:pPr>
            <a:defRPr sz="1800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400" b="1" i="0" u="none" kern="1200" baseline="0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DA5-4227-89DD-1E7A81371D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solidFill>
                  <a:schemeClr val="tx2">
                    <a:lumMod val="50000"/>
                    <a:lumOff val="50000"/>
                  </a:schemeClr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400" b="1" i="0" u="none" kern="1200" baseline="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DA5-4227-89DD-1E7A81371D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mpd="sng">
            <a:solidFill>
              <a:schemeClr val="tx1"/>
            </a:solidFill>
          </a:ln>
        </c:spPr>
        <c:txPr>
          <a:bodyPr rot="-60000000" spcFirstLastPara="1" vert="horz" wrap="square" anchor="ctr" anchorCtr="1"/>
          <a:lstStyle/>
          <a:p>
            <a:pPr>
              <a:defRPr sz="1100" b="0" i="0" u="none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  <a:endParaRPr lang="pt-BR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 rot="-60000000" vert="horz" anchor="ctr" anchorCtr="1"/>
          <a:lstStyle/>
          <a:p>
            <a:pPr>
              <a:defRPr sz="1100" b="0" i="0" u="none" kern="1200" baseline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 lang="pt-BR"/>
          </a:p>
        </c:txPr>
        <c:crossAx val="1785928255"/>
        <c:crosses val="autoZero"/>
        <c:crossBetween val="between"/>
      </c:valAx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4.6123948895864915E-2"/>
        </c:manualLayout>
      </c:layout>
      <c:overlay val="0"/>
      <c:spPr>
        <a:noFill/>
      </c:spPr>
      <c:txPr>
        <a:bodyPr rot="0" vert="horz" anchor="ctr" anchorCtr="1"/>
        <a:lstStyle/>
        <a:p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  <a:endParaRPr lang="pt-BR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1.3821697687269586E-2"/>
          <c:y val="2.527575450117403E-2"/>
        </c:manualLayout>
      </c:layout>
      <c:overlay val="1"/>
      <c:txPr>
        <a:bodyPr rot="0" vert="horz" anchor="ctr" anchorCtr="1"/>
        <a:lstStyle/>
        <a:p>
          <a:pPr>
            <a:defRPr sz="1800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8.2455523605030237E-2"/>
          <c:y val="0.16727494328876974"/>
          <c:w val="0.89079564466982142"/>
          <c:h val="0.6966469621926457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400" b="1" i="0" u="none" kern="1200" baseline="0">
                    <a:solidFill>
                      <a:schemeClr val="bg1"/>
                    </a:solidFill>
                    <a:latin typeface="+mn-lt"/>
                    <a:ea typeface="+mn-lt"/>
                    <a:cs typeface="+mn-lt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1.6</c:v>
                </c:pt>
                <c:pt idx="1">
                  <c:v>2.2000000000000002</c:v>
                </c:pt>
                <c:pt idx="2">
                  <c:v>3.5</c:v>
                </c:pt>
                <c:pt idx="3">
                  <c:v>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6B-4532-8C1A-7561B54268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3"/>
        <c:axId val="1785928255"/>
        <c:axId val="17692298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>
              <a:solidFill>
                <a:schemeClr val="tx2">
                  <a:lumMod val="50000"/>
                  <a:lumOff val="50000"/>
                </a:schemeClr>
              </a:solidFill>
            </a:ln>
          </c:spPr>
          <c:marker>
            <c:symbol val="circle"/>
            <c:size val="6"/>
            <c:spPr>
              <a:solidFill>
                <a:schemeClr val="tx2">
                  <a:lumMod val="50000"/>
                  <a:lumOff val="50000"/>
                </a:schemeClr>
              </a:solidFill>
              <a:ln w="9525">
                <a:solidFill>
                  <a:schemeClr val="tx2">
                    <a:lumMod val="50000"/>
                    <a:lumOff val="50000"/>
                  </a:schemeClr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 anchorCtr="1"/>
              <a:lstStyle/>
              <a:p>
                <a:pPr>
                  <a:defRPr sz="1400" b="1" i="0" u="none" kern="1200" baseline="0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1.7</c:v>
                </c:pt>
                <c:pt idx="1">
                  <c:v>2.4</c:v>
                </c:pt>
                <c:pt idx="2">
                  <c:v>5</c:v>
                </c:pt>
                <c:pt idx="3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A6B-4532-8C1A-7561B54268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85928255"/>
        <c:axId val="1769229823"/>
      </c:line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 cmpd="sng">
            <a:solidFill>
              <a:schemeClr val="tx1"/>
            </a:solidFill>
          </a:ln>
        </c:spPr>
        <c:txPr>
          <a:bodyPr rot="-60000000" spcFirstLastPara="1" vert="horz" wrap="square" anchor="ctr" anchorCtr="1"/>
          <a:lstStyle/>
          <a:p>
            <a:pPr>
              <a:defRPr sz="1100" b="0" i="0" u="none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pPr>
            <a:endParaRPr lang="pt-BR"/>
          </a:p>
        </c:txPr>
        <c:crossAx val="1769229823"/>
        <c:crosses val="autoZero"/>
        <c:auto val="1"/>
        <c:lblAlgn val="ctr"/>
        <c:lblOffset val="100"/>
        <c:noMultiLvlLbl val="0"/>
      </c:catAx>
      <c:valAx>
        <c:axId val="1769229823"/>
        <c:scaling>
          <c:orientation val="minMax"/>
        </c:scaling>
        <c:delete val="0"/>
        <c:axPos val="l"/>
        <c:majorGridlines>
          <c:spPr>
            <a:ln w="9525" cmpd="sng">
              <a:noFill/>
            </a:ln>
          </c:spPr>
        </c:majorGridlines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 rot="-60000000" vert="horz" anchor="ctr" anchorCtr="1"/>
          <a:lstStyle/>
          <a:p>
            <a:pPr>
              <a:defRPr sz="1100" b="0" i="0" u="none" kern="1200" baseline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</a:defRPr>
            </a:pPr>
            <a:endParaRPr lang="pt-BR"/>
          </a:p>
        </c:txPr>
        <c:crossAx val="1785928255"/>
        <c:crosses val="autoZero"/>
        <c:crossBetween val="between"/>
      </c:valAx>
      <c:spPr>
        <a:noFill/>
        <a:ln>
          <a:noFill/>
        </a:ln>
      </c:spPr>
    </c:plotArea>
    <c:legend>
      <c:legendPos val="b"/>
      <c:layout>
        <c:manualLayout>
          <c:xMode val="edge"/>
          <c:yMode val="edge"/>
          <c:x val="0.58067453497943666"/>
          <c:y val="2.738737462131148E-2"/>
          <c:w val="0.39987338466900668"/>
          <c:h val="4.6123948895864915E-2"/>
        </c:manualLayout>
      </c:layout>
      <c:overlay val="0"/>
      <c:spPr>
        <a:noFill/>
      </c:spPr>
      <c:txPr>
        <a:bodyPr rot="0" vert="horz" anchor="ctr" anchorCtr="1"/>
        <a:lstStyle/>
        <a:p>
          <a:pPr>
            <a:defRPr sz="1197" b="0" i="0" u="none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lt"/>
              <a:cs typeface="+mn-lt"/>
            </a:defRPr>
          </a:pPr>
          <a:endParaRPr lang="pt-BR"/>
        </a:p>
      </c:txPr>
    </c:legend>
    <c:plotVisOnly val="1"/>
    <c:dispBlanksAs val="zero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docs/tf_technical_article_draft.md, capa, Resumo e Seção 1.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docs/tf_technical_article_draft.md, Sumário e Seções 1 a 7.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1.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2 e Figura 1.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2.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3 e Tabela 1.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3.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3.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3.1.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4.1.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4.2, 4.3 e 5.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4.2.1.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4.2.2 e 4.2.3.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4.2.4 e Tabela 3.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4.3.1 e 4.3.2.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4.3.3.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4.3.4.1.1 e 4.3.4.1.2.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docs/images/antaq_2025_carga_recorte.png.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docs/images/antaq_2025_atracacao_recorte.png.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docs/tf_technical_article_draft.md, Seção 4.3.4.1.3.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4.3.4.1.3.1.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4.3.4.1.3.2 e Tabela 6.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4.3.4.2.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docs/images/eu_mrv_2025_recorte.png.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European Commission, Guidance Document on Monitoring and Reporting of Maritime Transport Emissions, 2025, conforme referência do relatório.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4.3.4.2.1 a 4.3.4.2.3.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4.3.4.2.4.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4.3.4.3.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4.3.4.4.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4.3.4.5.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docs/images/fig07_cinco_recortes_santos_manaus.png.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4.3.4.6.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4.3.5 e 4.3.6.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4.3.7 e Tabela 10.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4.4 e Tabela 11.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5.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5.1.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docs/tf_technical_article_draft.md, Seções 5.2 a 5.6.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5.4.2 e 5.5.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5.8.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docs/images/router-map.png.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docs/images/heatmap-map.png.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5.7.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6.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Seções 3, 3.1 e 7.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docs/tf_technical_article_draft.md, Seção 7.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docs/tf_technical_article_draft.md, Seção 7.2.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8129411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8705144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493000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4826000"/>
            <a:ext cx="2595934" cy="1168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8466647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3334966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4826000"/>
            <a:ext cx="2595934" cy="1168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9205679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699" y="6279294"/>
            <a:ext cx="7361767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587544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294"/>
            <a:ext cx="7531100" cy="241898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520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9969" y="1444887"/>
            <a:ext cx="9448800" cy="1726468"/>
          </a:xfrm>
        </p:spPr>
        <p:txBody>
          <a:bodyPr anchor="t">
            <a:normAutofit/>
          </a:bodyPr>
          <a:lstStyle/>
          <a:p>
            <a:r>
              <a:rPr sz="55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CabotageLens</a:t>
            </a:r>
          </a:p>
          <a:p>
            <a:r>
              <a:rPr sz="55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comparação porta a porta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DD11E6E-01C0-D6E4-28D7-D7F6B94AF6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019" y="5077241"/>
            <a:ext cx="6304556" cy="1076208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None/>
            </a:pPr>
            <a:r>
              <a:rPr sz="1575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Sistema auditável para comparar rodovia direta e cabotagem no Brasil</a:t>
            </a:r>
          </a:p>
          <a:p>
            <a:pPr>
              <a:lnSpc>
                <a:spcPct val="120000"/>
              </a:lnSpc>
              <a:buNone/>
            </a:pPr>
            <a:r>
              <a:rPr sz="1575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Felipe de Sá Proença · Prof. Dr. Marcos Mendes de Oliveira Pinto</a:t>
            </a: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noGrp="1"/>
          </p:cNvSpPr>
          <p:nvPr/>
        </p:nvSpPr>
        <p:spPr>
          <a:xfrm>
            <a:off x="603018" y="4606175"/>
            <a:ext cx="6304556" cy="320279"/>
          </a:xfrm>
          <a:prstGeom prst="rect">
            <a:avLst/>
          </a:prstGeom>
          <a:noFill/>
        </p:spPr>
        <p:txBody>
          <a:bodyPr vert="horz" lIns="0" tIns="0" rIns="0" bIns="0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65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Trabalho de Formatura · 2026</a:t>
            </a:r>
          </a:p>
        </p:txBody>
      </p:sp>
      <p:sp>
        <p:nvSpPr>
          <p:cNvPr id="10" name="Subtitle 4">
            <a:extLst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noGrp="1"/>
          </p:cNvSpPr>
          <p:nvPr/>
        </p:nvSpPr>
        <p:spPr>
          <a:xfrm>
            <a:off x="603018" y="555606"/>
            <a:ext cx="3578411" cy="345178"/>
          </a:xfrm>
          <a:prstGeom prst="rect">
            <a:avLst/>
          </a:prstGeom>
        </p:spPr>
        <p:txBody>
          <a:bodyPr vert="horz" lIns="0" tIns="0" rIns="0" bIns="0">
            <a:normAutofit fontScale="86374"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575">
                <a:solidFill>
                  <a:schemeClr val="accent2">
                    <a:lumMod val="90000"/>
                  </a:schemeClr>
                </a:solidFill>
                <a:latin typeface="Arial"/>
                <a:ea typeface="Arial"/>
                <a:cs typeface="Arial"/>
              </a:rPr>
              <a:t>Escola Politécnica da USP · Engenharia Naval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0BE6810D-091B-456E-A2AC-9661D98F4560}"/>
              </a:ext>
            </a:extLst>
          </p:cNvPr>
          <p:cNvSpPr>
            <a:spLocks noGrp="1"/>
          </p:cNvSpPr>
          <p:nvPr/>
        </p:nvSpPr>
        <p:spPr>
          <a:xfrm>
            <a:off x="-183260" y="3934067"/>
            <a:ext cx="125585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5088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08432E-6CC9-7470-65A5-7F6A330EFB4F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>
            <a:normAutofit/>
          </a:bodyPr>
          <a:lstStyle/>
          <a:p>
            <a:fld id="{E2598689-54C9-18A7-3A19-ED76AA08988F}" type="slidenum">
              <a:rPr sz="1050">
                <a:latin typeface="Arial"/>
                <a:ea typeface="Arial"/>
                <a:cs typeface="Arial"/>
              </a:rPr>
              <a:t>2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BD946D-556A-ECA8-679C-19ABE963A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1046195"/>
            <a:ext cx="9448800" cy="985805"/>
          </a:xfrm>
        </p:spPr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A apresentação segue a ordem lógica do relatório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73F7058-30A0-0125-1A90-B808A012B5B4}"/>
              </a:ext>
            </a:extLst>
          </p:cNvPr>
          <p:cNvSpPr>
            <a:spLocks noGrp="1"/>
          </p:cNvSpPr>
          <p:nvPr/>
        </p:nvSpPr>
        <p:spPr>
          <a:xfrm>
            <a:off x="393699" y="392242"/>
            <a:ext cx="3578411" cy="345178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65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Roteiro</a:t>
            </a:r>
          </a:p>
        </p:txBody>
      </p:sp>
      <p:graphicFrame>
        <p:nvGraphicFramePr>
          <p:cNvPr id="10" name="Table 6"/>
          <p:cNvGraphicFramePr/>
          <p:nvPr/>
        </p:nvGraphicFramePr>
        <p:xfrm>
          <a:off x="393700" y="2573020"/>
          <a:ext cx="11404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7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5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12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01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Objetivo e introdução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Por que comparar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02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Fundamentação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Qual fronteira adotar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03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Metodologia e resultados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Como cada valor é formado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04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Implementação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Como o cálculo é reproduzido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05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Comparações externas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Como contextualizar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ea typeface="+mn-lt"/>
                          <a:cs typeface="+mn-lt"/>
                        </a:rPr>
                        <a:t>06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300" b="0" i="0" u="none" cap="none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+mn-lt"/>
                          <a:ea typeface="+mn-lt"/>
                          <a:cs typeface="+mn-lt"/>
                        </a:rPr>
                        <a:t>Conclusões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600" b="0" i="0" u="none" cap="none">
                          <a:ln>
                            <a:noFill/>
                          </a:ln>
                          <a:solidFill>
                            <a:schemeClr val="accent1"/>
                          </a:solidFill>
                          <a:latin typeface="Roboto Medium"/>
                          <a:ea typeface="Roboto Medium"/>
                          <a:cs typeface="Roboto Medium"/>
                        </a:rPr>
                        <a:t>O que o estudo permite afirmar</a:t>
                      </a:r>
                    </a:p>
                  </a:txBody>
                  <a:tcPr marL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0BED8-CB43-D17C-4D24-32A4B0893D63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1 · Objetivo</a:t>
            </a:r>
          </a:p>
        </p:txBody>
      </p:sp>
    </p:spTree>
    <p:extLst>
      <p:ext uri="{BB962C8B-B14F-4D97-AF65-F5344CB8AC3E}">
        <p14:creationId xmlns:p14="http://schemas.microsoft.com/office/powerpoint/2010/main" val="3360133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202359C0-8A7A-196E-DD58-8E6569619F09}" type="slidenum">
              <a:rPr sz="1050">
                <a:latin typeface="Arial"/>
                <a:ea typeface="Arial"/>
                <a:cs typeface="Arial"/>
              </a:rPr>
              <a:t>3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97744"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O CabotageLens compara duas alternativas para o mesmo serviço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noGrp="1"/>
          </p:cNvSpPr>
          <p:nvPr/>
        </p:nvSpPr>
        <p:spPr>
          <a:xfrm>
            <a:off x="6264412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noGrp="1"/>
          </p:cNvSpPr>
          <p:nvPr/>
        </p:nvSpPr>
        <p:spPr>
          <a:xfrm>
            <a:off x="409043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noGrp="1"/>
          </p:cNvSpPr>
          <p:nvPr/>
        </p:nvSpPr>
        <p:spPr>
          <a:xfrm>
            <a:off x="70627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Mesma remessa, mesma origem e mesmo destino.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noGrp="1"/>
          </p:cNvSpPr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noGrp="1"/>
          </p:cNvSpPr>
          <p:nvPr/>
        </p:nvSpPr>
        <p:spPr>
          <a:xfrm>
            <a:off x="409043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4694142-7504-448C-B110-ABCB1A6DD41E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1 · Objetivo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634044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Para a mesma origem, destino e massa, o sistema calcula as duas cadeias em uma base comum.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962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Arial"/>
                <a:ea typeface="Arial"/>
                <a:cs typeface="Arial"/>
              </a:rPr>
              <a:t>1 · OBJETIVO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noGrp="1"/>
          </p:cNvSpPr>
          <p:nvPr/>
        </p:nvSpPr>
        <p:spPr>
          <a:xfrm>
            <a:off x="70296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Serviço comparado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noGrp="1"/>
          </p:cNvSpPr>
          <p:nvPr/>
        </p:nvSpPr>
        <p:spPr>
          <a:xfrm>
            <a:off x="655843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Distância, combustível, custo modelado e CO₂e operacional TTW.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noGrp="1"/>
          </p:cNvSpPr>
          <p:nvPr/>
        </p:nvSpPr>
        <p:spPr>
          <a:xfrm>
            <a:off x="655512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Resultados calculados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noGrp="1"/>
          </p:cNvSpPr>
          <p:nvPr/>
        </p:nvSpPr>
        <p:spPr>
          <a:xfrm>
            <a:off x="70627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Rodovia direta versus acessos rodoviários, portos e navegação.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noGrp="1"/>
          </p:cNvSpPr>
          <p:nvPr/>
        </p:nvSpPr>
        <p:spPr>
          <a:xfrm>
            <a:off x="70296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Cadeia completa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Dados, parâmetros, aproximações e fontes permanecem identificáveis.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Resultado auditável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EFD6AB9A-5F9E-5F59-51AB-3C8734130965}" type="slidenum">
              <a:rPr sz="1050">
                <a:latin typeface="Arial"/>
                <a:ea typeface="Arial"/>
                <a:cs typeface="Arial"/>
              </a:rPr>
              <a:t>4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5549230" cy="69739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87664"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A rodovia domina a matriz brasileira de cargas</a:t>
            </a:r>
          </a:p>
        </p:txBody>
      </p:sp>
      <p:graphicFrame>
        <p:nvGraphicFramePr>
          <p:cNvPr id="539" name="Chart 3"/>
          <p:cNvGraphicFramePr/>
          <p:nvPr/>
        </p:nvGraphicFramePr>
        <p:xfrm>
          <a:off x="408690" y="1023105"/>
          <a:ext cx="5124182" cy="52251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2 · Introdução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EFFCFBF-F669-9423-2DB8-D166659E1B79}"/>
              </a:ext>
            </a:extLst>
          </p:cNvPr>
          <p:cNvSpPr>
            <a:spLocks noGrp="1"/>
          </p:cNvSpPr>
          <p:nvPr/>
        </p:nvSpPr>
        <p:spPr>
          <a:xfrm>
            <a:off x="6264412" y="2374900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B25D3D5-48E8-D985-A4A9-9DA67A423BF8}"/>
              </a:ext>
            </a:extLst>
          </p:cNvPr>
          <p:cNvSpPr>
            <a:spLocks noGrp="1"/>
          </p:cNvSpPr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93A9C42-081B-E830-D8CB-13511AF87915}"/>
              </a:ext>
            </a:extLst>
          </p:cNvPr>
          <p:cNvSpPr>
            <a:spLocks noGrp="1"/>
          </p:cNvSpPr>
          <p:nvPr/>
        </p:nvSpPr>
        <p:spPr>
          <a:xfrm>
            <a:off x="6558438" y="3088295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Alternativa relevante para parte das ligações longas.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899B51-315F-2B69-8DFE-6F0EE585DE74}"/>
              </a:ext>
            </a:extLst>
          </p:cNvPr>
          <p:cNvSpPr>
            <a:spLocks noGrp="1"/>
          </p:cNvSpPr>
          <p:nvPr/>
        </p:nvSpPr>
        <p:spPr>
          <a:xfrm>
            <a:off x="6555127" y="2631212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75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11% · cabotagem</a:t>
            </a:r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DBE99E9C-A611-68DB-873D-1306B6DA4538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Quando a cadeia completa com cabotagem muda consumo, emissões e custo?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7172E7-1168-69D9-D755-CC735D3A9194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75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Pergunta do estudo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252D751-7B28-98E9-CF7E-0EB98657E0AF}"/>
              </a:ext>
            </a:extLst>
          </p:cNvPr>
          <p:cNvSpPr>
            <a:spLocks noGrp="1"/>
          </p:cNvSpPr>
          <p:nvPr/>
        </p:nvSpPr>
        <p:spPr>
          <a:xfrm>
            <a:off x="6264412" y="391117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07D94FB0-B75A-4229-2FD1-CA1FAAC57998}"/>
              </a:ext>
            </a:extLst>
          </p:cNvPr>
          <p:cNvSpPr>
            <a:spLocks noGrp="1"/>
          </p:cNvSpPr>
          <p:nvPr/>
        </p:nvSpPr>
        <p:spPr>
          <a:xfrm>
            <a:off x="6558438" y="1104512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Participação na atividade de cargas medida em TKU, em 2015.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D1D081-A168-A031-F892-8E2476A4AF34}"/>
              </a:ext>
            </a:extLst>
          </p:cNvPr>
          <p:cNvSpPr>
            <a:spLocks noGrp="1"/>
          </p:cNvSpPr>
          <p:nvPr/>
        </p:nvSpPr>
        <p:spPr>
          <a:xfrm>
            <a:off x="6555127" y="647429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75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65% · rodovia</a:t>
            </a:r>
          </a:p>
        </p:txBody>
      </p:sp>
      <p:sp>
        <p:nvSpPr>
          <p:cNvPr id="535" name="Retângulo 534">
            <a:extLst>
              <a:ext uri="{FF2B5EF4-FFF2-40B4-BE49-F238E27FC236}">
                <a16:creationId xmlns:a16="http://schemas.microsoft.com/office/drawing/2014/main" id="{DC784FAB-E663-4D90-9AD8-337F1E8BD7CC}"/>
              </a:ext>
            </a:extLst>
          </p:cNvPr>
          <p:cNvSpPr>
            <a:spLocks noGrp="1"/>
          </p:cNvSpPr>
          <p:nvPr/>
        </p:nvSpPr>
        <p:spPr>
          <a:xfrm>
            <a:off x="408690" y="1023105"/>
            <a:ext cx="5124182" cy="5225194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551" name="Imagem 55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08690" y="1704458"/>
            <a:ext cx="5124182" cy="386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975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>⁠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EE5B3003-2C54-13C6-9832-7637201064DE}" type="slidenum">
              <a:rPr sz="1050">
                <a:latin typeface="Arial"/>
                <a:ea typeface="Arial"/>
                <a:cs typeface="Arial"/>
              </a:rPr>
              <a:t>5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Comparar apenas caminhão e navio produziria serviços diferentes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>⁠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2 · Introdução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50">
                <a:latin typeface="Arial"/>
                <a:ea typeface="Arial"/>
                <a:cs typeface="Arial"/>
              </a:rPr>
              <a:t>A unidade analisada é a remessa completa entre origem e destino.</a:t>
            </a:r>
          </a:p>
        </p:txBody>
      </p:sp>
      <p:pic>
        <p:nvPicPr>
          <p:cNvPr id="542" name="Imagem 5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93668" y="2181907"/>
            <a:ext cx="11404664" cy="3732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8C630A04-5A25-9E0C-9436-126091DB86B3}" type="slidenum">
              <a:rPr sz="1050">
                <a:latin typeface="Arial"/>
                <a:ea typeface="Arial"/>
                <a:cs typeface="Arial"/>
              </a:rPr>
              <a:t>6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O escopo mantém as duas alternativas comparáveis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noGrp="1"/>
          </p:cNvSpPr>
          <p:nvPr/>
        </p:nvSpPr>
        <p:spPr>
          <a:xfrm>
            <a:off x="6264412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noGrp="1"/>
          </p:cNvSpPr>
          <p:nvPr/>
        </p:nvSpPr>
        <p:spPr>
          <a:xfrm>
            <a:off x="409043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noGrp="1"/>
          </p:cNvSpPr>
          <p:nvPr/>
        </p:nvSpPr>
        <p:spPr>
          <a:xfrm>
            <a:off x="70627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CO₂e operacional TTW por remessa. Não inclui WTW, LCA ou fabricação de ativos.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noGrp="1"/>
          </p:cNvSpPr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noGrp="1"/>
          </p:cNvSpPr>
          <p:nvPr/>
        </p:nvSpPr>
        <p:spPr>
          <a:xfrm>
            <a:off x="409043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4694142-7504-448C-B110-ABCB1A6DD41E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2 · Introdução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634044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O resultado deve ser lido dentro dos limites definidos no relatório.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962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Arial"/>
                <a:ea typeface="Arial"/>
                <a:cs typeface="Arial"/>
              </a:rPr>
              <a:t>Fronteira operacional e econômica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noGrp="1"/>
          </p:cNvSpPr>
          <p:nvPr/>
        </p:nvSpPr>
        <p:spPr>
          <a:xfrm>
            <a:off x="70296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Emissões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noGrp="1"/>
          </p:cNvSpPr>
          <p:nvPr/>
        </p:nvSpPr>
        <p:spPr>
          <a:xfrm>
            <a:off x="655843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Somente combustível estimado. Não equivale a frete, tarifa ou contrato.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noGrp="1"/>
          </p:cNvSpPr>
          <p:nvPr/>
        </p:nvSpPr>
        <p:spPr>
          <a:xfrm>
            <a:off x="655512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Custo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noGrp="1"/>
          </p:cNvSpPr>
          <p:nvPr/>
        </p:nvSpPr>
        <p:spPr>
          <a:xfrm>
            <a:off x="70627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Mesma origem, destino e massa; sequências marítimas observadas.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noGrp="1"/>
          </p:cNvSpPr>
          <p:nvPr/>
        </p:nvSpPr>
        <p:spPr>
          <a:xfrm>
            <a:off x="70296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Serviço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A existência histórica da viagem não garante frequência, espaço ou oferta futura.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Disponibilidade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D3D7D1C8-AE23-AA48-DF65-C742588DBE47}" type="slidenum">
              <a:rPr sz="1050">
                <a:latin typeface="Arial"/>
                <a:ea typeface="Arial"/>
                <a:cs typeface="Arial"/>
              </a:rPr>
              <a:t>7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170935"/>
            <a:ext cx="11404600" cy="1797958"/>
          </a:xfrm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pPr algn="ctr">
              <a:buNone/>
            </a:pPr>
            <a:r>
              <a:rPr sz="42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3 · Fundamentação metodológica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FF86C5-A7D2-315F-C644-70488B8E4BC8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3 · Fundamentação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noGrp="1"/>
          </p:cNvSpPr>
          <p:nvPr/>
        </p:nvSpPr>
        <p:spPr>
          <a:xfrm>
            <a:off x="2549677" y="3297710"/>
            <a:ext cx="7092645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100">
                <a:latin typeface="Arial"/>
                <a:ea typeface="Arial"/>
                <a:cs typeface="Arial"/>
              </a:rPr>
              <a:t>Uma comparação defensável precisa preservar a cadeia completa, a mesma unidade funcional e fronteiras explícitas.</a:t>
            </a: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BA58DA2A-B818-18A9-29C1-B697728D5BCE}" type="slidenum">
              <a:rPr sz="1050">
                <a:latin typeface="Arial"/>
                <a:ea typeface="Arial"/>
                <a:cs typeface="Arial"/>
              </a:rPr>
              <a:t>8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noGrp="1"/>
          </p:cNvSpPr>
          <p:nvPr/>
        </p:nvSpPr>
        <p:spPr>
          <a:xfrm>
            <a:off x="43089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noGrp="1"/>
          </p:cNvSpPr>
          <p:nvPr/>
        </p:nvSpPr>
        <p:spPr>
          <a:xfrm>
            <a:off x="8229600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noGrp="1"/>
          </p:cNvSpPr>
          <p:nvPr/>
        </p:nvSpPr>
        <p:spPr>
          <a:xfrm>
            <a:off x="4621821" y="4146160"/>
            <a:ext cx="2949339" cy="143287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2 · Unidade comum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Arial"/>
                <a:ea typeface="Arial"/>
                <a:cs typeface="Arial"/>
              </a:rPr>
              <a:t>Comparar a mesma remessa e evitar escalas funcionais diferentes.</a:t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noGrp="1"/>
          </p:cNvSpPr>
          <p:nvPr/>
        </p:nvSpPr>
        <p:spPr>
          <a:xfrm>
            <a:off x="8536094" y="4146160"/>
            <a:ext cx="2949339" cy="143287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3 · Fronteira explícita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Arial"/>
                <a:ea typeface="Arial"/>
                <a:cs typeface="Arial"/>
              </a:rPr>
              <a:t>Separar TTW de WTW/LCA e combustível de frete comercial.</a:t>
            </a:r>
          </a:p>
        </p:txBody>
      </p:sp>
      <p:sp>
        <p:nvSpPr>
          <p:cNvPr id="14" name="Google Shape;340;p61">
            <a:extLst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noGrp="1"/>
          </p:cNvSpPr>
          <p:nvPr/>
        </p:nvSpPr>
        <p:spPr>
          <a:xfrm>
            <a:off x="46276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15" name="Google Shape;340;p61">
            <a:extLst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noGrp="1"/>
          </p:cNvSpPr>
          <p:nvPr/>
        </p:nvSpPr>
        <p:spPr>
          <a:xfrm>
            <a:off x="8533270" y="3694102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3 · Fundamentação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755665"/>
          </a:xfrm>
        </p:spPr>
        <p:txBody>
          <a:bodyPr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A literatura impõe três requisitos ao desenho do método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noGrp="1"/>
          </p:cNvSpPr>
          <p:nvPr/>
        </p:nvSpPr>
        <p:spPr>
          <a:xfrm>
            <a:off x="4227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noGrp="1"/>
          </p:cNvSpPr>
          <p:nvPr/>
        </p:nvSpPr>
        <p:spPr>
          <a:xfrm>
            <a:off x="735621" y="4146160"/>
            <a:ext cx="2949339" cy="143287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 · Cadeia completa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Arial"/>
                <a:ea typeface="Arial"/>
                <a:cs typeface="Arial"/>
              </a:rPr>
              <a:t>Avaliar origem–destino, não apenas a perna marítima.</a:t>
            </a:r>
          </a:p>
        </p:txBody>
      </p:sp>
      <p:sp>
        <p:nvSpPr>
          <p:cNvPr id="7" name="Google Shape;340;p61">
            <a:extLst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noGrp="1"/>
          </p:cNvSpPr>
          <p:nvPr/>
        </p:nvSpPr>
        <p:spPr>
          <a:xfrm>
            <a:off x="7414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17" name="Google Shape;534;p58">
            <a:extLst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noGrp="1"/>
          </p:cNvSpPr>
          <p:nvPr/>
        </p:nvSpPr>
        <p:spPr>
          <a:xfrm>
            <a:off x="393700" y="1820543"/>
            <a:ext cx="11404600" cy="1326615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A cabotagem pode ser vantajosa em algumas ligações, mas o resultado depende de distâncias, acessos, utilização do navio e carga atribuída ao consumo.</a:t>
            </a:r>
          </a:p>
        </p:txBody>
      </p:sp>
      <p:sp>
        <p:nvSpPr>
          <p:cNvPr id="18" name="Google Shape;534;p58">
            <a:extLst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noGrp="1"/>
          </p:cNvSpPr>
          <p:nvPr/>
        </p:nvSpPr>
        <p:spPr>
          <a:xfrm>
            <a:off x="393699" y="131801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725">
                <a:latin typeface="Arial"/>
                <a:ea typeface="Arial"/>
                <a:cs typeface="Arial"/>
              </a:rPr>
              <a:t>Do problema logístico ao modelo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pPr marL="0" indent="0">
              <a:spcAft>
                <a:spcPts val="16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Reproduzir uma viagem específica</a:t>
            </a:r>
          </a:p>
          <a:p>
            <a:pPr marL="0" indent="0">
              <a:spcAft>
                <a:spcPts val="17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Exigiria calado, deslocamento, velocidade, trim, vento, ondas, correntes, condição do casco e regime das máquinas.</a:t>
            </a:r>
          </a:p>
          <a:p>
            <a:pPr marL="0" indent="0">
              <a:spcAft>
                <a:spcPts val="0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b="1">
                <a:latin typeface="Arial"/>
                <a:ea typeface="Arial"/>
                <a:cs typeface="Arial"/>
              </a:rPr>
              <a:t>Resultado localizado: </a:t>
            </a: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válido para um navio, uma rota e um momento operacional.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388657AE-30A1-5A7A-6A7F-315D84436430}" type="slidenum">
              <a:rPr sz="1050">
                <a:latin typeface="Arial"/>
                <a:ea typeface="Arial"/>
                <a:cs typeface="Arial"/>
              </a:rPr>
              <a:t>9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O estudo compara desempenhos médios, não uma viagem instantânea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Aft>
                <a:spcPts val="16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Comparar cenários</a:t>
            </a:r>
          </a:p>
          <a:p>
            <a:pPr marL="0" indent="0">
              <a:spcAft>
                <a:spcPts val="17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Combina dados próprios do cenário — origem, destino, carga e percurso — com parâmetros históricos de desempenho.</a:t>
            </a:r>
          </a:p>
          <a:p>
            <a:pPr marL="0" indent="0">
              <a:spcAft>
                <a:spcPts val="17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Rodovia: </a:t>
            </a: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eficiência média por número de eixos.</a:t>
            </a:r>
          </a:p>
          <a:p>
            <a:pPr marL="0" indent="0">
              <a:spcAft>
                <a:spcPts val="0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Navegação: </a:t>
            </a: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indicador anual verificado por navio ou grupo.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3 · Fundamentação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50">
                <a:latin typeface="Arial"/>
                <a:ea typeface="Arial"/>
                <a:cs typeface="Arial"/>
              </a:rPr>
              <a:t>A finalidade é comparar modais em termos gerais sobre uma base comum.</a:t>
            </a:r>
          </a:p>
        </p:txBody>
      </p:sp>
      <p:sp>
        <p:nvSpPr>
          <p:cNvPr id="535" name="comparison-outline-1">
            <a:extLst>
              <a:ext uri="{FF2B5EF4-FFF2-40B4-BE49-F238E27FC236}">
                <a16:creationId xmlns:a16="http://schemas.microsoft.com/office/drawing/2014/main" id="{B70532B9-EF14-4D75-BAA4-C0DD49ACF044}"/>
              </a:ext>
            </a:extLst>
          </p:cNvPr>
          <p:cNvSpPr>
            <a:spLocks noGrp="1"/>
          </p:cNvSpPr>
          <p:nvPr/>
        </p:nvSpPr>
        <p:spPr>
          <a:xfrm>
            <a:off x="171450" y="2000250"/>
            <a:ext cx="5772150" cy="2781300"/>
          </a:xfrm>
          <a:prstGeom prst="roundRect">
            <a:avLst>
              <a:gd name="adj" fmla="val 2740"/>
            </a:avLst>
          </a:prstGeom>
          <a:noFill/>
          <a:ln w="10478">
            <a:solidFill>
              <a:srgbClr val="CCD5E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36" name="comparison-outline-2">
            <a:extLst>
              <a:ext uri="{FF2B5EF4-FFF2-40B4-BE49-F238E27FC236}">
                <a16:creationId xmlns:a16="http://schemas.microsoft.com/office/drawing/2014/main" id="{111D3F6D-C5BF-43E5-8ACC-C57B7BF66C9D}"/>
              </a:ext>
            </a:extLst>
          </p:cNvPr>
          <p:cNvSpPr>
            <a:spLocks noGrp="1"/>
          </p:cNvSpPr>
          <p:nvPr/>
        </p:nvSpPr>
        <p:spPr>
          <a:xfrm>
            <a:off x="6038850" y="2000250"/>
            <a:ext cx="5772150" cy="2781300"/>
          </a:xfrm>
          <a:prstGeom prst="roundRect">
            <a:avLst>
              <a:gd name="adj" fmla="val 2740"/>
            </a:avLst>
          </a:prstGeom>
          <a:noFill/>
          <a:ln w="10478">
            <a:solidFill>
              <a:srgbClr val="CCD5E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DB7BEEEC-A170-5376-2B6E-CB54687B0CB1}" type="slidenum">
              <a:rPr sz="1050">
                <a:latin typeface="Arial"/>
                <a:ea typeface="Arial"/>
                <a:cs typeface="Arial"/>
              </a:rPr>
              <a:t>10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170935"/>
            <a:ext cx="11404600" cy="1797958"/>
          </a:xfrm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pPr algn="ctr">
              <a:buNone/>
            </a:pPr>
            <a:r>
              <a:rPr sz="42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4 · Metodologia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FF86C5-A7D2-315F-C644-70488B8E4BC8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noGrp="1"/>
          </p:cNvSpPr>
          <p:nvPr/>
        </p:nvSpPr>
        <p:spPr>
          <a:xfrm>
            <a:off x="2549677" y="3297710"/>
            <a:ext cx="7092645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100">
                <a:latin typeface="Arial"/>
                <a:ea typeface="Arial"/>
                <a:cs typeface="Arial"/>
              </a:rPr>
              <a:t>O caso São Paulo–Rio Branco acompanha toda a sequência: calcular a rodovia, construir a alternativa multimodal e comparar os totais.</a:t>
            </a: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30394428-F1DC-E5F6-DB0C-7DE31F3D8A23}" type="slidenum">
              <a:rPr sz="1050">
                <a:latin typeface="Arial"/>
                <a:ea typeface="Arial"/>
                <a:cs typeface="Arial"/>
              </a:rPr>
              <a:t>11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Uma unidade funcional comum ancora todos os cálculos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3700" y="2374900"/>
            <a:ext cx="5537200" cy="3619499"/>
          </a:xfrm>
          <a:prstGeom prst="rect">
            <a:avLst/>
          </a:prstGeom>
          <a:solidFill>
            <a:srgbClr val="F8FAFD"/>
          </a:solidFill>
          <a:ln w="10478">
            <a:solidFill>
              <a:srgbClr val="D2D9E6"/>
            </a:solidFill>
            <a:prstDash val="solid"/>
          </a:ln>
        </p:spPr>
        <p:txBody>
          <a:bodyPr spcFirstLastPara="1" vert="horz" wrap="square" lIns="228600" tIns="209550" rIns="228600" bIns="20955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spcBef>
                <a:spcPts val="0"/>
              </a:spcBef>
              <a:spcAft>
                <a:spcPts val="7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Mesma remessa</a:t>
            </a:r>
          </a:p>
          <a:p>
            <a:pPr marL="0" indent="0">
              <a:spcAft>
                <a:spcPts val="0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A origem, o destino e a massa permanecem constantes.</a:t>
            </a:r>
          </a:p>
          <a:p>
            <a:pPr marL="0" indent="0">
              <a:spcAft>
                <a:spcPts val="0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>
                <a:latin typeface="Arial"/>
                <a:ea typeface="Arial"/>
                <a:cs typeface="Arial"/>
              </a:rPr>
              <a:t> </a:t>
            </a:r>
          </a:p>
          <a:p>
            <a:pPr marL="0" indent="0">
              <a:spcBef>
                <a:spcPts val="16"/>
              </a:spcBef>
              <a:spcAft>
                <a:spcPts val="7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Representação portuária</a:t>
            </a:r>
          </a:p>
          <a:p>
            <a:pPr marL="0" indent="0">
              <a:spcAft>
                <a:spcPts val="0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11827"/>
                </a:solidFill>
                <a:latin typeface="Arial"/>
                <a:ea typeface="Arial"/>
                <a:cs typeface="Arial"/>
              </a:rPr>
              <a:t>A carga corresponde a 1 TEU nas operações dos dois terminais.</a:t>
            </a:r>
          </a:p>
          <a:p>
            <a:pPr marL="0" indent="0">
              <a:spcAft>
                <a:spcPts val="0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525">
                <a:latin typeface="Arial"/>
                <a:ea typeface="Arial"/>
                <a:cs typeface="Arial"/>
              </a:rPr>
              <a:t> </a:t>
            </a:r>
          </a:p>
          <a:p>
            <a:pPr marL="0" indent="0">
              <a:spcBef>
                <a:spcPts val="16"/>
              </a:spcBef>
              <a:spcAft>
                <a:spcPts val="7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O que muda</a:t>
            </a:r>
          </a:p>
          <a:p>
            <a:pPr marL="0" indent="0">
              <a:spcAft>
                <a:spcPts val="0"/>
              </a:spcAft>
              <a:buNone/>
              <a:defRPr sz="1425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b="1">
                <a:latin typeface="Arial"/>
                <a:ea typeface="Arial"/>
                <a:cs typeface="Arial"/>
              </a:rPr>
              <a:t>Apenas a cadeia logística.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25">
                <a:latin typeface="Arial"/>
                <a:ea typeface="Arial"/>
                <a:cs typeface="Arial"/>
              </a:rPr>
              <a:t>14 t · São Paulo → Rio Branco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São Paulo (SP).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Origem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noGrp="1"/>
          </p:cNvSpPr>
          <p:nvPr/>
        </p:nvSpPr>
        <p:spPr>
          <a:xfrm>
            <a:off x="6405842" y="152193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Rio Branco (AC).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Destino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A · Rodovia direta  |  B · Santos–Manaus + acessos.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Alternativas comparadas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noGrp="1"/>
          </p:cNvSpPr>
          <p:nvPr/>
        </p:nvSpPr>
        <p:spPr>
          <a:xfrm>
            <a:off x="6405843" y="453945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4DB16885-0D3F-A391-B669-3211DB3B26E8}" type="slidenum">
              <a:rPr sz="1050">
                <a:latin typeface="Arial"/>
                <a:ea typeface="Arial"/>
                <a:cs typeface="Arial"/>
              </a:rPr>
              <a:t>12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7835900" cy="10402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Cada fonte alimenta uma parte específica do cálculo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="4752742" y="1549337"/>
          <a:ext cx="6778000" cy="4999553"/>
        </p:xfrm>
        <a:graphic>
          <a:graphicData uri="http://schemas.openxmlformats.org/drawingml/2006/table">
            <a:tbl>
              <a:tblPr firstRow="1"/>
              <a:tblGrid>
                <a:gridCol w="169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4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Fonte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Dado principal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Papel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Procedência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ANTAQ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Carga e atracações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Reconstruir viagens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arquivos 2025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EU MRV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g/(t·nm) por navio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Intensidade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IMO / tipo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ANTT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km/L por eixos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Consumo rodoviário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tabela oficial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ANP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Diesel S10 por UF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Custo do diesel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levantamento semanal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Ship &amp; Bunker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VLSFO em US$/mt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Custo marítimo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cotação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BCE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USD/BRL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Converter VLSFO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taxa cambial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ORS / LocationIQ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coordenadas e rotas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Distâncias terrestres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API + cache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Supabase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matrizes e resultados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Persistência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Postgres / Storage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Literatura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fatores e fronteiras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Premissas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referências citadas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5B304C-27F3-8A33-E6D7-E2EFCA2F82B2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71547039-AB2A-5CA1-49F7-26E9E71601EF}"/>
              </a:ext>
            </a:extLst>
          </p:cNvPr>
          <p:cNvSpPr>
            <a:spLocks noGrp="1"/>
          </p:cNvSpPr>
          <p:nvPr/>
        </p:nvSpPr>
        <p:spPr>
          <a:xfrm>
            <a:off x="393700" y="2774196"/>
            <a:ext cx="3606800" cy="3220203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latin typeface="Arial"/>
                <a:ea typeface="Arial"/>
                <a:cs typeface="Arial"/>
              </a:rPr>
              <a:t>ANTAQ e EU MRV formam a perna marítima histórica. As demais fontes fornecem rotas, eficiências, preços, fatores e persistência.</a:t>
            </a:r>
          </a:p>
        </p:txBody>
      </p:sp>
      <p:sp>
        <p:nvSpPr>
          <p:cNvPr id="8" name="Google Shape;534;p58">
            <a:extLst>
              <a:ext uri="{FF2B5EF4-FFF2-40B4-BE49-F238E27FC236}">
                <a16:creationId xmlns:a16="http://schemas.microsoft.com/office/drawing/2014/main" id="{D136FB89-7449-CC90-F061-B6BF578EA25E}"/>
              </a:ext>
            </a:extLst>
          </p:cNvPr>
          <p:cNvSpPr>
            <a:spLocks noGrp="1"/>
          </p:cNvSpPr>
          <p:nvPr/>
        </p:nvSpPr>
        <p:spPr>
          <a:xfrm>
            <a:off x="393700" y="1564835"/>
            <a:ext cx="3606800" cy="1178365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50">
                <a:latin typeface="Arial"/>
                <a:ea typeface="Arial"/>
                <a:cs typeface="Arial"/>
              </a:rPr>
              <a:t>Dados observados + parâmetros</a:t>
            </a:r>
          </a:p>
        </p:txBody>
      </p:sp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2DD23107-4986-8758-3A93-3D74F35908CC}" type="slidenum">
              <a:rPr sz="1050">
                <a:latin typeface="Arial"/>
                <a:ea typeface="Arial"/>
                <a:cs typeface="Arial"/>
              </a:rPr>
              <a:t>13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 </a:t>
            </a:r>
            <a:r>
              <a:rPr dirty="0" err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massa</a:t>
            </a:r>
            <a:r>
              <a:rPr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 define o </a:t>
            </a:r>
            <a:r>
              <a:rPr dirty="0" err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veículo</a:t>
            </a:r>
            <a:r>
              <a:rPr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; a </a:t>
            </a:r>
            <a:r>
              <a:rPr dirty="0" err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rota</a:t>
            </a:r>
            <a:r>
              <a:rPr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 define o diesel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3700" y="237490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⁠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25">
                <a:latin typeface="Arial"/>
                <a:ea typeface="Arial"/>
                <a:cs typeface="Arial"/>
              </a:rPr>
              <a:t>4.2.1 · Consumo rodoviário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2800" b="0" i="0" u="none" cap="none" dirty="0">
                <a:ln>
                  <a:noFill/>
                </a:ln>
                <a:latin typeface="Arial"/>
                <a:ea typeface="Arial"/>
                <a:cs typeface="Arial"/>
              </a:rPr>
              <a:t>14 t → carreta de 5 </a:t>
            </a:r>
            <a:r>
              <a:rPr sz="2800" b="0" i="0" u="none" cap="none" dirty="0" err="1">
                <a:ln>
                  <a:noFill/>
                </a:ln>
                <a:latin typeface="Arial"/>
                <a:ea typeface="Arial"/>
                <a:cs typeface="Arial"/>
              </a:rPr>
              <a:t>eixos</a:t>
            </a:r>
            <a:r>
              <a:rPr sz="2800" b="0" i="0" u="none" cap="none" dirty="0">
                <a:ln>
                  <a:noFill/>
                </a:ln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Massa → veículo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noGrp="1"/>
          </p:cNvSpPr>
          <p:nvPr/>
        </p:nvSpPr>
        <p:spPr>
          <a:xfrm>
            <a:off x="6405842" y="152193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Distância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Eficiência e viagens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noGrp="1"/>
          </p:cNvSpPr>
          <p:nvPr/>
        </p:nvSpPr>
        <p:spPr>
          <a:xfrm>
            <a:off x="6405843" y="453945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34" name="Retângulo 533">
            <a:extLst>
              <a:ext uri="{FF2B5EF4-FFF2-40B4-BE49-F238E27FC236}">
                <a16:creationId xmlns:a16="http://schemas.microsoft.com/office/drawing/2014/main" id="{1327E281-644B-4251-BE82-37CEA684E300}"/>
              </a:ext>
            </a:extLst>
          </p:cNvPr>
          <p:cNvSpPr>
            <a:spLocks noGrp="1"/>
          </p:cNvSpPr>
          <p:nvPr/>
        </p:nvSpPr>
        <p:spPr>
          <a:xfrm>
            <a:off x="393668" y="23241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444"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REGRA</a:t>
            </a:r>
          </a:p>
        </p:txBody>
      </p:sp>
      <p:pic>
        <p:nvPicPr>
          <p:cNvPr id="557" name="Imagem 5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7765" y="2647950"/>
            <a:ext cx="4355306" cy="609600"/>
          </a:xfrm>
          <a:prstGeom prst="rect">
            <a:avLst/>
          </a:prstGeom>
        </p:spPr>
      </p:pic>
      <p:sp>
        <p:nvSpPr>
          <p:cNvPr id="536" name="Retângulo 535">
            <a:extLst>
              <a:ext uri="{FF2B5EF4-FFF2-40B4-BE49-F238E27FC236}">
                <a16:creationId xmlns:a16="http://schemas.microsoft.com/office/drawing/2014/main" id="{749A0BDA-C9C1-4CFD-A8F3-DC2FB964CDB3}"/>
              </a:ext>
            </a:extLst>
          </p:cNvPr>
          <p:cNvSpPr>
            <a:spLocks noGrp="1"/>
          </p:cNvSpPr>
          <p:nvPr/>
        </p:nvSpPr>
        <p:spPr>
          <a:xfrm>
            <a:off x="393668" y="3419475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444"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APLICAÇÃO</a:t>
            </a:r>
          </a:p>
        </p:txBody>
      </p:sp>
      <p:pic>
        <p:nvPicPr>
          <p:cNvPr id="559" name="Imagem 55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93668" y="3763174"/>
            <a:ext cx="5238750" cy="627051"/>
          </a:xfrm>
          <a:prstGeom prst="rect">
            <a:avLst/>
          </a:prstGeom>
        </p:spPr>
      </p:pic>
      <p:sp>
        <p:nvSpPr>
          <p:cNvPr id="538" name="Retângulo 537">
            <a:extLst>
              <a:ext uri="{FF2B5EF4-FFF2-40B4-BE49-F238E27FC236}">
                <a16:creationId xmlns:a16="http://schemas.microsoft.com/office/drawing/2014/main" id="{341B8F27-C123-474D-8243-956B156D5225}"/>
              </a:ext>
            </a:extLst>
          </p:cNvPr>
          <p:cNvSpPr>
            <a:spLocks noGrp="1"/>
          </p:cNvSpPr>
          <p:nvPr/>
        </p:nvSpPr>
        <p:spPr>
          <a:xfrm>
            <a:off x="393668" y="466725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444"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SAÍDA</a:t>
            </a:r>
          </a:p>
        </p:txBody>
      </p:sp>
      <p:sp>
        <p:nvSpPr>
          <p:cNvPr id="539" name="Retângulo 538">
            <a:extLst>
              <a:ext uri="{FF2B5EF4-FFF2-40B4-BE49-F238E27FC236}">
                <a16:creationId xmlns:a16="http://schemas.microsoft.com/office/drawing/2014/main" id="{46DD14F9-EC29-4E09-99F6-C1EFE320A02C}"/>
              </a:ext>
            </a:extLst>
          </p:cNvPr>
          <p:cNvSpPr>
            <a:spLocks noGrp="1"/>
          </p:cNvSpPr>
          <p:nvPr/>
        </p:nvSpPr>
        <p:spPr>
          <a:xfrm>
            <a:off x="393668" y="5067300"/>
            <a:ext cx="5334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O volume calculado alimenta custo e emissões.</a:t>
            </a:r>
          </a:p>
        </p:txBody>
      </p:sp>
      <p:pic>
        <p:nvPicPr>
          <p:cNvPr id="562" name="Imagem 56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705219" y="3752188"/>
            <a:ext cx="4900422" cy="479194"/>
          </a:xfrm>
          <a:prstGeom prst="rect">
            <a:avLst/>
          </a:prstGeom>
        </p:spPr>
      </p:pic>
      <p:pic>
        <p:nvPicPr>
          <p:cNvPr id="563" name="Imagem 56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705219" y="5321545"/>
            <a:ext cx="4900422" cy="3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327921A4-25C4-3DB4-06B1-32693CEE2241}" type="slidenum">
              <a:rPr sz="1050">
                <a:latin typeface="Arial"/>
                <a:ea typeface="Arial"/>
                <a:cs typeface="Arial"/>
              </a:rPr>
              <a:t>14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O mesmo volume de diesel gera dois resultados distintos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3700" y="237490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PREÇO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Pdiesel = (6,960 + 9,270) / 2 = 8,115 R$/L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75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CUSTO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1.518,014 L × 8,115 R$/L = R$ 12.318,68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75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EMISSÕES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1.518,014 L × 2,68 kg CO₂e/L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= 4.068,28 kg CO₂e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25">
                <a:latin typeface="Arial"/>
                <a:ea typeface="Arial"/>
                <a:cs typeface="Arial"/>
              </a:rPr>
              <a:t>4.2.2–4.2.3 · Custo e CO₂e TTW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200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Média entre as UFs de origem e destino; fonte ANP.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24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Preço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noGrp="1"/>
          </p:cNvSpPr>
          <p:nvPr/>
        </p:nvSpPr>
        <p:spPr>
          <a:xfrm>
            <a:off x="6405842" y="152193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200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2,68 kg CO₂e/L de Diesel S10; fronteira TTW.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24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Fator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200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Custo é combustível modelado; não é preço de frete.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24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Leitura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noGrp="1"/>
          </p:cNvSpPr>
          <p:nvPr/>
        </p:nvSpPr>
        <p:spPr>
          <a:xfrm>
            <a:off x="6405843" y="453945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3200"/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95E36811-4D7D-1AF4-2047-7797FCF5546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EA83FA91-883A-0168-8075-96CEB9DCA3C2}" type="slidenum">
              <a:rPr sz="1050">
                <a:latin typeface="Arial"/>
                <a:ea typeface="Arial"/>
                <a:cs typeface="Arial"/>
              </a:rPr>
              <a:t>15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0619161C-354F-15D6-9579-085F52D7C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5549230" cy="69739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87664"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Rodovia direta: referência do cenário</a:t>
            </a:r>
          </a:p>
        </p:txBody>
      </p:sp>
      <p:graphicFrame>
        <p:nvGraphicFramePr>
          <p:cNvPr id="543" name="Chart 3"/>
          <p:cNvGraphicFramePr/>
          <p:nvPr/>
        </p:nvGraphicFramePr>
        <p:xfrm>
          <a:off x="408690" y="1023105"/>
          <a:ext cx="5124182" cy="52251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ED08C-D3A0-E23F-F823-E34BEC6E5268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1DC18F5-97D1-0F9E-AF97-E39D1D597D57}"/>
              </a:ext>
            </a:extLst>
          </p:cNvPr>
          <p:cNvSpPr>
            <a:spLocks noGrp="1"/>
          </p:cNvSpPr>
          <p:nvPr/>
        </p:nvSpPr>
        <p:spPr>
          <a:xfrm>
            <a:off x="6271986" y="2032000"/>
            <a:ext cx="2581975" cy="2656541"/>
          </a:xfrm>
          <a:prstGeom prst="roundRect">
            <a:avLst>
              <a:gd name="adj" fmla="val 3602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90C522A2-2174-5AFA-9A00-7E4BBCEB22B0}"/>
              </a:ext>
            </a:extLst>
          </p:cNvPr>
          <p:cNvSpPr>
            <a:spLocks noGrp="1"/>
          </p:cNvSpPr>
          <p:nvPr/>
        </p:nvSpPr>
        <p:spPr>
          <a:xfrm>
            <a:off x="6494348" y="2356820"/>
            <a:ext cx="2133315" cy="90375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2700" u="none" cap="none">
                <a:ln>
                  <a:noFill/>
                </a:ln>
                <a:solidFill>
                  <a:schemeClr val="accent1"/>
                </a:solidFill>
                <a:latin typeface="Arial"/>
                <a:ea typeface="Arial"/>
                <a:cs typeface="Arial"/>
              </a:rPr>
              <a:t>4.068 kg</a:t>
            </a:r>
          </a:p>
        </p:txBody>
      </p:sp>
      <p:sp>
        <p:nvSpPr>
          <p:cNvPr id="7" name="Content Placeholder 15">
            <a:extLst>
              <a:ext uri="{FF2B5EF4-FFF2-40B4-BE49-F238E27FC236}">
                <a16:creationId xmlns:a16="http://schemas.microsoft.com/office/drawing/2014/main" id="{3859261F-DEEB-D3E4-08EA-A3B8D1EB0F8B}"/>
              </a:ext>
            </a:extLst>
          </p:cNvPr>
          <p:cNvSpPr>
            <a:spLocks noGrp="1"/>
          </p:cNvSpPr>
          <p:nvPr/>
        </p:nvSpPr>
        <p:spPr>
          <a:xfrm>
            <a:off x="6560966" y="3529296"/>
            <a:ext cx="2066698" cy="61595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latin typeface="Arial"/>
                <a:ea typeface="Arial"/>
                <a:cs typeface="Arial"/>
              </a:rPr>
              <a:t>CO₂e TTW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latin typeface="Arial"/>
                <a:ea typeface="Arial"/>
                <a:cs typeface="Arial"/>
              </a:rPr>
              <a:t>4.068,28 kg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6A67EF5-6C28-37C0-A44F-C89DA6A63CE8}"/>
              </a:ext>
            </a:extLst>
          </p:cNvPr>
          <p:cNvSpPr>
            <a:spLocks noGrp="1"/>
          </p:cNvSpPr>
          <p:nvPr/>
        </p:nvSpPr>
        <p:spPr>
          <a:xfrm>
            <a:off x="9224191" y="2032000"/>
            <a:ext cx="2581975" cy="2656541"/>
          </a:xfrm>
          <a:prstGeom prst="roundRect">
            <a:avLst>
              <a:gd name="adj" fmla="val 3602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C1178A3C-CA3E-3A18-E320-61DF2ABD5D3C}"/>
              </a:ext>
            </a:extLst>
          </p:cNvPr>
          <p:cNvSpPr>
            <a:spLocks noGrp="1"/>
          </p:cNvSpPr>
          <p:nvPr/>
        </p:nvSpPr>
        <p:spPr>
          <a:xfrm>
            <a:off x="9446553" y="2356820"/>
            <a:ext cx="2133315" cy="90375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2700" u="none" cap="none">
                <a:ln>
                  <a:noFill/>
                </a:ln>
                <a:solidFill>
                  <a:schemeClr val="accent1"/>
                </a:solidFill>
                <a:latin typeface="Arial"/>
                <a:ea typeface="Arial"/>
                <a:cs typeface="Arial"/>
              </a:rPr>
              <a:t>R$ 12.319</a:t>
            </a:r>
          </a:p>
        </p:txBody>
      </p:sp>
      <p:sp>
        <p:nvSpPr>
          <p:cNvPr id="10" name="Content Placeholder 15">
            <a:extLst>
              <a:ext uri="{FF2B5EF4-FFF2-40B4-BE49-F238E27FC236}">
                <a16:creationId xmlns:a16="http://schemas.microsoft.com/office/drawing/2014/main" id="{9A0C1C6C-0D79-048C-2E65-5A332ED31144}"/>
              </a:ext>
            </a:extLst>
          </p:cNvPr>
          <p:cNvSpPr>
            <a:spLocks noGrp="1"/>
          </p:cNvSpPr>
          <p:nvPr/>
        </p:nvSpPr>
        <p:spPr>
          <a:xfrm>
            <a:off x="9513171" y="3529296"/>
            <a:ext cx="2066698" cy="61595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latin typeface="Arial"/>
                <a:ea typeface="Arial"/>
                <a:cs typeface="Arial"/>
              </a:rPr>
              <a:t>custo de combustível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latin typeface="Arial"/>
                <a:ea typeface="Arial"/>
                <a:cs typeface="Arial"/>
              </a:rPr>
              <a:t>R$ 12.318,68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1ADE962-9ED7-3644-FA2A-7A64E19E9545}"/>
              </a:ext>
            </a:extLst>
          </p:cNvPr>
          <p:cNvSpPr>
            <a:spLocks noGrp="1"/>
          </p:cNvSpPr>
          <p:nvPr/>
        </p:nvSpPr>
        <p:spPr>
          <a:xfrm>
            <a:off x="6258427" y="4971337"/>
            <a:ext cx="5539873" cy="9906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Percurso: 3.491,431 km · carreta de cinco eixos · 1.518,014 L de Diesel S10.</a:t>
            </a:r>
          </a:p>
        </p:txBody>
      </p:sp>
      <p:sp>
        <p:nvSpPr>
          <p:cNvPr id="535" name="Retângulo 534">
            <a:extLst>
              <a:ext uri="{FF2B5EF4-FFF2-40B4-BE49-F238E27FC236}">
                <a16:creationId xmlns:a16="http://schemas.microsoft.com/office/drawing/2014/main" id="{310F0D46-5CAA-48B9-9C68-F2EB35D0F81F}"/>
              </a:ext>
            </a:extLst>
          </p:cNvPr>
          <p:cNvSpPr>
            <a:spLocks noGrp="1"/>
          </p:cNvSpPr>
          <p:nvPr/>
        </p:nvSpPr>
        <p:spPr>
          <a:xfrm>
            <a:off x="408718" y="1023080"/>
            <a:ext cx="5124164" cy="52252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36" name="Retângulo 535">
            <a:extLst>
              <a:ext uri="{FF2B5EF4-FFF2-40B4-BE49-F238E27FC236}">
                <a16:creationId xmlns:a16="http://schemas.microsoft.com/office/drawing/2014/main" id="{5A78A1B1-4F69-477E-A24D-C764DCF66C1B}"/>
              </a:ext>
            </a:extLst>
          </p:cNvPr>
          <p:cNvSpPr>
            <a:spLocks noGrp="1"/>
          </p:cNvSpPr>
          <p:nvPr/>
        </p:nvSpPr>
        <p:spPr>
          <a:xfrm>
            <a:off x="561118" y="1137380"/>
            <a:ext cx="481936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350" b="1">
                <a:solidFill>
                  <a:srgbClr val="3357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Distância rodoviária do exemplo</a:t>
            </a:r>
          </a:p>
        </p:txBody>
      </p:sp>
      <p:sp>
        <p:nvSpPr>
          <p:cNvPr id="537" name="Retângulo 536">
            <a:extLst>
              <a:ext uri="{FF2B5EF4-FFF2-40B4-BE49-F238E27FC236}">
                <a16:creationId xmlns:a16="http://schemas.microsoft.com/office/drawing/2014/main" id="{D882646D-FF0A-417D-957F-A3F6D84F071D}"/>
              </a:ext>
            </a:extLst>
          </p:cNvPr>
          <p:cNvSpPr>
            <a:spLocks noGrp="1"/>
          </p:cNvSpPr>
          <p:nvPr/>
        </p:nvSpPr>
        <p:spPr>
          <a:xfrm>
            <a:off x="561118" y="1689830"/>
            <a:ext cx="1028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São Paulo →</a:t>
            </a:r>
          </a:p>
          <a:p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 dirty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Rio Branco</a:t>
            </a:r>
          </a:p>
        </p:txBody>
      </p:sp>
      <p:sp>
        <p:nvSpPr>
          <p:cNvPr id="538" name="Retângulo: Cantos Arredondados 537">
            <a:extLst>
              <a:ext uri="{FF2B5EF4-FFF2-40B4-BE49-F238E27FC236}">
                <a16:creationId xmlns:a16="http://schemas.microsoft.com/office/drawing/2014/main" id="{94CB859B-51F1-42C3-A00F-B929CF0687ED}"/>
              </a:ext>
            </a:extLst>
          </p:cNvPr>
          <p:cNvSpPr>
            <a:spLocks noGrp="1"/>
          </p:cNvSpPr>
          <p:nvPr/>
        </p:nvSpPr>
        <p:spPr>
          <a:xfrm>
            <a:off x="1666018" y="1746980"/>
            <a:ext cx="3314414" cy="266700"/>
          </a:xfrm>
          <a:prstGeom prst="roundRect">
            <a:avLst>
              <a:gd name="adj" fmla="val 28571"/>
            </a:avLst>
          </a:prstGeom>
          <a:solidFill>
            <a:srgbClr val="E8EDF8"/>
          </a:solidFill>
          <a:ln w="0">
            <a:solidFill>
              <a:srgbClr val="E8EDF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39" name="Retângulo: Cantos Arredondados 538">
            <a:extLst>
              <a:ext uri="{FF2B5EF4-FFF2-40B4-BE49-F238E27FC236}">
                <a16:creationId xmlns:a16="http://schemas.microsoft.com/office/drawing/2014/main" id="{E35553AD-366C-442D-ADC5-DE64FC4F6B61}"/>
              </a:ext>
            </a:extLst>
          </p:cNvPr>
          <p:cNvSpPr>
            <a:spLocks noGrp="1"/>
          </p:cNvSpPr>
          <p:nvPr/>
        </p:nvSpPr>
        <p:spPr>
          <a:xfrm>
            <a:off x="1666018" y="1746980"/>
            <a:ext cx="2893012" cy="266700"/>
          </a:xfrm>
          <a:prstGeom prst="roundRect">
            <a:avLst>
              <a:gd name="adj" fmla="val 28571"/>
            </a:avLst>
          </a:prstGeom>
          <a:solidFill>
            <a:srgbClr val="3357B8"/>
          </a:solidFill>
          <a:ln w="0">
            <a:solidFill>
              <a:srgbClr val="3357B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40" name="Retângulo 539">
            <a:extLst>
              <a:ext uri="{FF2B5EF4-FFF2-40B4-BE49-F238E27FC236}">
                <a16:creationId xmlns:a16="http://schemas.microsoft.com/office/drawing/2014/main" id="{2076E5FF-08EC-48B8-B76A-0AE1610B1FD8}"/>
              </a:ext>
            </a:extLst>
          </p:cNvPr>
          <p:cNvSpPr>
            <a:spLocks noGrp="1"/>
          </p:cNvSpPr>
          <p:nvPr/>
        </p:nvSpPr>
        <p:spPr>
          <a:xfrm>
            <a:off x="1666018" y="2070830"/>
            <a:ext cx="331441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33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3.491,431 km</a:t>
            </a:r>
          </a:p>
        </p:txBody>
      </p:sp>
    </p:spTree>
    <p:extLst>
      <p:ext uri="{BB962C8B-B14F-4D97-AF65-F5344CB8AC3E}">
        <p14:creationId xmlns:p14="http://schemas.microsoft.com/office/powerpoint/2010/main" val="399383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DC9C7607-4BA3-B4DC-A00F-2E67A9FCFF7E}" type="slidenum">
              <a:rPr sz="1050">
                <a:latin typeface="Arial"/>
                <a:ea typeface="Arial"/>
                <a:cs typeface="Arial"/>
              </a:rPr>
              <a:t>16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A alternativa multimodal é a soma de quatro componentes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noGrp="1"/>
          </p:cNvSpPr>
          <p:nvPr/>
        </p:nvSpPr>
        <p:spPr>
          <a:xfrm>
            <a:off x="6264412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noGrp="1"/>
          </p:cNvSpPr>
          <p:nvPr/>
        </p:nvSpPr>
        <p:spPr>
          <a:xfrm>
            <a:off x="409043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noGrp="1"/>
          </p:cNvSpPr>
          <p:nvPr/>
        </p:nvSpPr>
        <p:spPr>
          <a:xfrm>
            <a:off x="70627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São Paulo → Porto de Santos · 86,170 km.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noGrp="1"/>
          </p:cNvSpPr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noGrp="1"/>
          </p:cNvSpPr>
          <p:nvPr/>
        </p:nvSpPr>
        <p:spPr>
          <a:xfrm>
            <a:off x="409043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4694142-7504-448C-B110-ABCB1A6DD41E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634044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Cada componente preserva seu combustível e sua unidade até a conversão em custo ou CO₂e.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962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Arial"/>
                <a:ea typeface="Arial"/>
                <a:cs typeface="Arial"/>
              </a:rPr>
              <a:t>4.3 · Cadeia porta a porta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noGrp="1"/>
          </p:cNvSpPr>
          <p:nvPr/>
        </p:nvSpPr>
        <p:spPr>
          <a:xfrm>
            <a:off x="70296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1 · First mile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noGrp="1"/>
          </p:cNvSpPr>
          <p:nvPr/>
        </p:nvSpPr>
        <p:spPr>
          <a:xfrm>
            <a:off x="655843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Santos → Manaus · 6.094,975 km.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noGrp="1"/>
          </p:cNvSpPr>
          <p:nvPr/>
        </p:nvSpPr>
        <p:spPr>
          <a:xfrm>
            <a:off x="655512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2 · Navegação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noGrp="1"/>
          </p:cNvSpPr>
          <p:nvPr/>
        </p:nvSpPr>
        <p:spPr>
          <a:xfrm>
            <a:off x="70627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Movimentação de 1 TEU nos dois terminais.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noGrp="1"/>
          </p:cNvSpPr>
          <p:nvPr/>
        </p:nvSpPr>
        <p:spPr>
          <a:xfrm>
            <a:off x="70296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3 · Portos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Porto de Manaus → Rio Branco · 1.403,691 km.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4 · Last mile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EMBARQUE · SANTOS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150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1. Porto candidato mais próximo da origem.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2. Rota real São Paulo–Santos obtida por ORS/cache.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3. Vfirst = 86,170 / 2,3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150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Distância: 86,170 km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Diesel: 37,465 L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90F7333B-44AC-F7E9-D49D-FE92F45E0477}" type="slidenum">
              <a:rPr sz="1050">
                <a:latin typeface="Arial"/>
                <a:ea typeface="Arial"/>
                <a:cs typeface="Arial"/>
              </a:rPr>
              <a:t>17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Haversine seleciona o porto; a estrada calcula o consumo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DESEMBARQUE · MANAUS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0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1. Porto candidato mais próximo do destino.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2. Rota real Manaus–Rio Branco obtida por ORS/cache.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3. Vlast = 1.403,691 / 2,3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0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Distância: 1.403,691 km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Diesel: 610,300 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50">
                <a:latin typeface="Arial"/>
                <a:ea typeface="Arial"/>
                <a:cs typeface="Arial"/>
              </a:rPr>
              <a:t>A seleção geográfica monta o cenário, sem afirmar viabilidade comercial do porto.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B1C6C81E-38B9-7560-621D-5A151A79DF9B}" type="slidenum">
              <a:rPr sz="1050">
                <a:latin typeface="Arial"/>
                <a:ea typeface="Arial"/>
                <a:cs typeface="Arial"/>
              </a:rPr>
              <a:t>18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As operações portuárias entram como consumo próprio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3700" y="237490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REGRA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Vporto = Nterminais × NTEU ×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(aRTG × cRTG + ainterno × cinterno)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75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APLICAÇÃO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2 × 1 × (4 × 0,355148 + 2 × 0,494671)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= 4,820 L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25">
                <a:latin typeface="Arial"/>
                <a:ea typeface="Arial"/>
                <a:cs typeface="Arial"/>
              </a:rPr>
              <a:t>4.3.3 · Diesel nos terminais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4 movimentos/TEU × 0,355148 L/movimento.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RTG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noGrp="1"/>
          </p:cNvSpPr>
          <p:nvPr/>
        </p:nvSpPr>
        <p:spPr>
          <a:xfrm>
            <a:off x="6405842" y="152193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2 movimentos/TEU × 0,494671 L/movimento.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Caminhão interno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2,410 L em Santos + 2,410 L em Manaus.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noGrp="1"/>
          </p:cNvSpPr>
          <p:nvPr/>
        </p:nvSpPr>
        <p:spPr>
          <a:xfrm>
            <a:off x="6405843" y="453945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>⁠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CCF91274-D221-1BB4-3BF9-836E3AD31EBE}" type="slidenum">
              <a:rPr sz="1050">
                <a:latin typeface="Arial"/>
                <a:ea typeface="Arial"/>
                <a:cs typeface="Arial"/>
              </a:rPr>
              <a:t>19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As tabelas Carga e Atracação têm funções complementares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>⁠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50">
                <a:latin typeface="Arial"/>
                <a:ea typeface="Arial"/>
                <a:cs typeface="Arial"/>
              </a:rPr>
              <a:t>Carga descreve os movimentos; Atracação identifica navio, porto e sequência temporal.</a:t>
            </a:r>
          </a:p>
        </p:txBody>
      </p:sp>
      <p:pic>
        <p:nvPicPr>
          <p:cNvPr id="543" name="Imagem 54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0562" y="2268855"/>
            <a:ext cx="4343381" cy="3649313"/>
          </a:xfrm>
          <a:prstGeom prst="rect">
            <a:avLst/>
          </a:prstGeom>
        </p:spPr>
      </p:pic>
      <p:pic>
        <p:nvPicPr>
          <p:cNvPr id="544" name="Imagem 54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41269" y="3159950"/>
            <a:ext cx="5384768" cy="186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3822700"/>
            <a:ext cx="2595934" cy="1168400"/>
          </a:xfrm>
        </p:spPr>
        <p:txBody>
          <a:bodyPr>
            <a:normAutofit fontScale="95943"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Movimentos elegíveis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Arial"/>
                <a:ea typeface="Arial"/>
                <a:cs typeface="Arial"/>
              </a:rPr>
              <a:t>Cabotagem conteinerizada e escalas com identificação do navio.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>
            <a:normAutofit/>
          </a:bodyPr>
          <a:lstStyle/>
          <a:p>
            <a:fld id="{844E025A-983C-6D44-79C6-4612AACD43FC}" type="slidenum">
              <a:rPr sz="1050">
                <a:latin typeface="Arial"/>
                <a:ea typeface="Arial"/>
                <a:cs typeface="Arial"/>
              </a:rPr>
              <a:t>20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7846838" cy="1034893"/>
          </a:xfrm>
        </p:spPr>
        <p:txBody>
          <a:bodyPr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A chave de atracação transforma dois arquivos em viagens ordenadas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317119" y="3822700"/>
            <a:ext cx="2595934" cy="1168400"/>
          </a:xfrm>
        </p:spPr>
        <p:txBody>
          <a:bodyPr>
            <a:normAutofit fontScale="95943"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Associar por atracação</a:t>
            </a:r>
          </a:p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Carga é agregada por IDAtracacao e ligada ao respectivo porto e IMO.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40538" y="3822700"/>
            <a:ext cx="2595934" cy="1168400"/>
          </a:xfrm>
        </p:spPr>
        <p:txBody>
          <a:bodyPr>
            <a:normAutofit fontScale="95943"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Formar subtrechos</a:t>
            </a:r>
          </a:p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Escalas do mesmo navio são ordenadas no tempo; portos consecutivos viram pernas.</a:t>
            </a:r>
          </a:p>
        </p:txBody>
      </p:sp>
      <p:cxnSp>
        <p:nvCxnSpPr>
          <p:cNvPr id="30" name="Google Shape;2259;p159"/>
          <p:cNvCxnSpPr>
            <a:stCxn id="3" idx="2"/>
          </p:cNvCxnSpPr>
          <p:nvPr/>
        </p:nvCxnSpPr>
        <p:spPr>
          <a:xfrm>
            <a:off x="337718" y="3373753"/>
            <a:ext cx="12245400" cy="300"/>
          </a:xfrm>
          <a:prstGeom prst="straightConnector1">
            <a:avLst/>
          </a:prstGeom>
          <a:ln w="952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noGrp="1"/>
          </p:cNvSpPr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noGrp="1"/>
          </p:cNvSpPr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noGrp="1"/>
          </p:cNvSpPr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noGrp="1"/>
          </p:cNvSpPr>
          <p:nvPr/>
        </p:nvSpPr>
        <p:spPr>
          <a:xfrm>
            <a:off x="393700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5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 · FILTRAR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noGrp="1"/>
          </p:cNvSpPr>
          <p:nvPr/>
        </p:nvSpPr>
        <p:spPr>
          <a:xfrm>
            <a:off x="4294187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5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2 · UNIR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noGrp="1"/>
          </p:cNvSpPr>
          <p:nvPr/>
        </p:nvSpPr>
        <p:spPr>
          <a:xfrm>
            <a:off x="8223249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5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3 · ORDENAR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F6DF2BE2-2DFA-1C03-677D-BDC2260D6D92}" type="slidenum">
              <a:rPr sz="1050">
                <a:latin typeface="Arial"/>
                <a:ea typeface="Arial"/>
                <a:cs typeface="Arial"/>
              </a:rPr>
              <a:t>21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A carga a bordo é reconstruída sem permitir saldo negativo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3700" y="237490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Δk = Memb,k − Mdes,k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Sk = Σ Δi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B0 = max(0, −min Sk)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Bk = B0 + Sk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75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Se o acumulado iniciado em zero fica negativo, B0 adiciona a menor correção capaz de manter toda a viagem fisicamente possível.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25">
                <a:latin typeface="Arial"/>
                <a:ea typeface="Arial"/>
                <a:cs typeface="Arial"/>
              </a:rPr>
              <a:t>4.3.4.1.3.1 · Balanço por escala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Calcular Δk para cada porto.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1 · Saldo da escala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noGrp="1"/>
          </p:cNvSpPr>
          <p:nvPr/>
        </p:nvSpPr>
        <p:spPr>
          <a:xfrm>
            <a:off x="6405842" y="152193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Somar os saldos e localizar o menor Sk.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2 · Acumulado provisório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Somar B0 a cada Sk; o último balanço volta a zero.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3 · Carga efetiva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noGrp="1"/>
          </p:cNvSpPr>
          <p:nvPr/>
        </p:nvSpPr>
        <p:spPr>
          <a:xfrm>
            <a:off x="6405843" y="453945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0BB18BA8-60F4-C50D-CD9B-1BB87D3E8506}" type="slidenum">
              <a:rPr sz="1050">
                <a:latin typeface="Arial"/>
                <a:ea typeface="Arial"/>
                <a:cs typeface="Arial"/>
              </a:rPr>
              <a:t>22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7835900" cy="10402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O exemplo mostra de onde vem a carga de cada subtrecho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="4752742" y="1549337"/>
          <a:ext cx="6778000" cy="4627827"/>
        </p:xfrm>
        <a:graphic>
          <a:graphicData uri="http://schemas.openxmlformats.org/drawingml/2006/table">
            <a:tbl>
              <a:tblPr firstRow="1"/>
              <a:tblGrid>
                <a:gridCol w="169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4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k / porto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Emb. / des. (t)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Δk / Sk (t)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Carga Bk (t)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 · Santos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9.882 / 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+9.882 / 9.882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12.859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 · Suape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11.862 / 8.003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+3.860 / 13.741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16.718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 · Pecém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3.232 / 7.624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−4.392 / 9.349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12.326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4 · Manaus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7.572 / 19.898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−12.326 / −2.977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max(0; 2.977)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2.977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Trecho 1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Santos → Suape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B1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12.858,754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Trecho 2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Suape → Pecém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B2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16.718,333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Trecho 3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Pecém → Manaus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B3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12.325,900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Fechamento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após Manaus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B4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0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5B304C-27F3-8A33-E6D7-E2EFCA2F82B2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71547039-AB2A-5CA1-49F7-26E9E71601EF}"/>
              </a:ext>
            </a:extLst>
          </p:cNvPr>
          <p:cNvSpPr>
            <a:spLocks noGrp="1"/>
          </p:cNvSpPr>
          <p:nvPr/>
        </p:nvSpPr>
        <p:spPr>
          <a:xfrm>
            <a:off x="393700" y="2774196"/>
            <a:ext cx="3606800" cy="3220203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latin typeface="Arial"/>
                <a:ea typeface="Arial"/>
                <a:cs typeface="Arial"/>
              </a:rPr>
              <a:t>Logo, B0 = 2.976,894 t. Essa é a estimativa mínima compatível com as movimentações e com a condição de carga não negativa.</a:t>
            </a:r>
          </a:p>
        </p:txBody>
      </p:sp>
      <p:sp>
        <p:nvSpPr>
          <p:cNvPr id="8" name="Google Shape;534;p58">
            <a:extLst>
              <a:ext uri="{FF2B5EF4-FFF2-40B4-BE49-F238E27FC236}">
                <a16:creationId xmlns:a16="http://schemas.microsoft.com/office/drawing/2014/main" id="{D136FB89-7449-CC90-F061-B6BF578EA25E}"/>
              </a:ext>
            </a:extLst>
          </p:cNvPr>
          <p:cNvSpPr>
            <a:spLocks noGrp="1"/>
          </p:cNvSpPr>
          <p:nvPr/>
        </p:nvSpPr>
        <p:spPr>
          <a:xfrm>
            <a:off x="393700" y="1564835"/>
            <a:ext cx="3606800" cy="1178365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50">
                <a:latin typeface="Arial"/>
                <a:ea typeface="Arial"/>
                <a:cs typeface="Arial"/>
              </a:rPr>
              <a:t>Menor saldo: −2.976,894 t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50">
                <a:latin typeface="Arial"/>
                <a:ea typeface="Arial"/>
                <a:cs typeface="Arial"/>
              </a:rPr>
              <a:t>Tabela com movimentos arredondados à tonelada.</a:t>
            </a:r>
          </a:p>
        </p:txBody>
      </p:sp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>⁠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A4E99CEF-AF55-BA3C-ADF8-4E52E186DD8F}" type="slidenum">
              <a:rPr sz="1050">
                <a:latin typeface="Arial"/>
                <a:ea typeface="Arial"/>
                <a:cs typeface="Arial"/>
              </a:rPr>
              <a:t>23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O EU MRV transforma um ano de operação em intensidade verificada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98369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CONSTRUÇÃO DO INDICADOR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0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1. O navio segue um plano de monitoramento.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2. A companhia registra combustível, distância, tempo e carga.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3. O relatório anual consolida combustível ÷ Σ(carga × distância).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4. Um verificador acreditado avalia os dados.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5. O resultado é publicado no THETIS-MRV.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0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USO NO MODELO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IMO conecta ANTAQ e EU MRV; o CabotageLens usa o valor positivo mais recente.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50">
                <a:latin typeface="Arial"/>
                <a:ea typeface="Arial"/>
                <a:cs typeface="Arial"/>
              </a:rPr>
              <a:t>O indicador representa desempenho histórico do navio — não o consumo exato de uma viagem brasileira.</a:t>
            </a:r>
          </a:p>
        </p:txBody>
      </p:sp>
      <p:pic>
        <p:nvPicPr>
          <p:cNvPr id="542" name="Imagem 54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8918" y="2991617"/>
            <a:ext cx="5346668" cy="220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4A59AF09-D197-0193-A7DE-FAAF0B691058}" type="slidenum">
              <a:rPr sz="1050">
                <a:latin typeface="Arial"/>
                <a:ea typeface="Arial"/>
                <a:cs typeface="Arial"/>
              </a:rPr>
              <a:t>24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noGrp="1"/>
          </p:cNvSpPr>
          <p:nvPr/>
        </p:nvSpPr>
        <p:spPr>
          <a:xfrm>
            <a:off x="43089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noGrp="1"/>
          </p:cNvSpPr>
          <p:nvPr/>
        </p:nvSpPr>
        <p:spPr>
          <a:xfrm>
            <a:off x="8229600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noGrp="1"/>
          </p:cNvSpPr>
          <p:nvPr/>
        </p:nvSpPr>
        <p:spPr>
          <a:xfrm>
            <a:off x="4621821" y="4146160"/>
            <a:ext cx="2949339" cy="143287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2 · Verificação P95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Arial"/>
                <a:ea typeface="Arial"/>
                <a:cs typeface="Arial"/>
              </a:rPr>
              <a:t>Com 20+ navios do mesmo tipo, comparar o valor individual ao P95.</a:t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noGrp="1"/>
          </p:cNvSpPr>
          <p:nvPr/>
        </p:nvSpPr>
        <p:spPr>
          <a:xfrm>
            <a:off x="8536094" y="4146160"/>
            <a:ext cx="2949339" cy="143287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3 · Tipo do navio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Arial"/>
                <a:ea typeface="Arial"/>
                <a:cs typeface="Arial"/>
              </a:rPr>
              <a:t>Se ausente ou atípico, usar média aparada; com amostra pequena, mediana.</a:t>
            </a:r>
          </a:p>
        </p:txBody>
      </p:sp>
      <p:sp>
        <p:nvSpPr>
          <p:cNvPr id="14" name="Google Shape;340;p61">
            <a:extLst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noGrp="1"/>
          </p:cNvSpPr>
          <p:nvPr/>
        </p:nvSpPr>
        <p:spPr>
          <a:xfrm>
            <a:off x="46276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15" name="Google Shape;340;p61">
            <a:extLst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noGrp="1"/>
          </p:cNvSpPr>
          <p:nvPr/>
        </p:nvSpPr>
        <p:spPr>
          <a:xfrm>
            <a:off x="8533270" y="3694102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755665"/>
          </a:xfrm>
        </p:spPr>
        <p:txBody>
          <a:bodyPr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Uma hierarquia única define a intensidade de cada recorte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noGrp="1"/>
          </p:cNvSpPr>
          <p:nvPr/>
        </p:nvSpPr>
        <p:spPr>
          <a:xfrm>
            <a:off x="4227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noGrp="1"/>
          </p:cNvSpPr>
          <p:nvPr/>
        </p:nvSpPr>
        <p:spPr>
          <a:xfrm>
            <a:off x="735621" y="4146160"/>
            <a:ext cx="2949339" cy="143287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 · IMO individual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Arial"/>
                <a:ea typeface="Arial"/>
                <a:cs typeface="Arial"/>
              </a:rPr>
              <a:t>Usar o indicador positivo mais recente do mesmo navio.</a:t>
            </a:r>
          </a:p>
        </p:txBody>
      </p:sp>
      <p:sp>
        <p:nvSpPr>
          <p:cNvPr id="7" name="Google Shape;340;p61">
            <a:extLst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noGrp="1"/>
          </p:cNvSpPr>
          <p:nvPr/>
        </p:nvSpPr>
        <p:spPr>
          <a:xfrm>
            <a:off x="7414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17" name="Google Shape;534;p58">
            <a:extLst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noGrp="1"/>
          </p:cNvSpPr>
          <p:nvPr/>
        </p:nvSpPr>
        <p:spPr>
          <a:xfrm>
            <a:off x="393700" y="1820543"/>
            <a:ext cx="11404600" cy="1326615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A viagem observada permanece no conjunto. O que pode mudar é apenas a fonte da intensidade atribuída ao navio.</a:t>
            </a:r>
          </a:p>
        </p:txBody>
      </p:sp>
      <p:sp>
        <p:nvSpPr>
          <p:cNvPr id="18" name="Google Shape;534;p58">
            <a:extLst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noGrp="1"/>
          </p:cNvSpPr>
          <p:nvPr/>
        </p:nvSpPr>
        <p:spPr>
          <a:xfrm>
            <a:off x="393699" y="131801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725">
                <a:latin typeface="Arial"/>
                <a:ea typeface="Arial"/>
                <a:cs typeface="Arial"/>
              </a:rPr>
              <a:t>4.3.4.2 · IMO → verificação → fallback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F3AE1AE4-D79E-94D6-E825-3FC6C21A77D2}" type="slidenum">
              <a:rPr sz="1050">
                <a:latin typeface="Arial"/>
                <a:ea typeface="Arial"/>
                <a:cs typeface="Arial"/>
              </a:rPr>
              <a:t>25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O fallback preserva a viagem e explicita a referência coletiva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3700" y="237490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O IMO aparece na ANTAQ, mas não possui intensidade individual no EU MRV.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75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Grupo: 268 container ships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Retirada: 2 menores + 2 maiores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Amostra final: 264 navios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75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I = Σ Ij / 264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= 6,624583 g/(t·nm)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25">
                <a:latin typeface="Arial"/>
                <a:ea typeface="Arial"/>
                <a:cs typeface="Arial"/>
              </a:rPr>
              <a:t>Exemplo · IMO 9612777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Santos → Suape → Pecém → Manaus.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Viagem observada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noGrp="1"/>
          </p:cNvSpPr>
          <p:nvPr/>
        </p:nvSpPr>
        <p:spPr>
          <a:xfrm>
            <a:off x="6405842" y="152193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container ship, coerente com o escopo conteinerizado.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Tipo adotado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Estimativa pelo tipo; nunca apresentada como medição do IMO 9612777.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Saída registrada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noGrp="1"/>
          </p:cNvSpPr>
          <p:nvPr/>
        </p:nvSpPr>
        <p:spPr>
          <a:xfrm>
            <a:off x="6405843" y="453945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5AB55966-FA28-BC73-EA9E-53DF014DF033}" type="slidenum">
              <a:rPr sz="1050">
                <a:latin typeface="Arial"/>
                <a:ea typeface="Arial"/>
                <a:cs typeface="Arial"/>
              </a:rPr>
              <a:t>26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noGrp="1"/>
          </p:cNvSpPr>
          <p:nvPr/>
        </p:nvSpPr>
        <p:spPr>
          <a:xfrm>
            <a:off x="43089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noGrp="1"/>
          </p:cNvSpPr>
          <p:nvPr/>
        </p:nvSpPr>
        <p:spPr>
          <a:xfrm>
            <a:off x="8229600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noGrp="1"/>
          </p:cNvSpPr>
          <p:nvPr/>
        </p:nvSpPr>
        <p:spPr>
          <a:xfrm>
            <a:off x="4621821" y="4146160"/>
            <a:ext cx="2949339" cy="143287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Recorte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Arial"/>
                <a:ea typeface="Arial"/>
                <a:cs typeface="Arial"/>
              </a:rPr>
              <a:t>Wv = Σs(ms × ds)
Soma de todos os subtrechos.</a:t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noGrp="1"/>
          </p:cNvSpPr>
          <p:nvPr/>
        </p:nvSpPr>
        <p:spPr>
          <a:xfrm>
            <a:off x="8536094" y="4146160"/>
            <a:ext cx="2949339" cy="143287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Ligação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Arial"/>
                <a:ea typeface="Arial"/>
                <a:cs typeface="Arial"/>
              </a:rPr>
              <a:t>Irep = Σv(Iv × Wv) / ΣvWv
Média ponderada de todos os recortes.</a:t>
            </a:r>
          </a:p>
        </p:txBody>
      </p:sp>
      <p:sp>
        <p:nvSpPr>
          <p:cNvPr id="14" name="Google Shape;340;p61">
            <a:extLst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noGrp="1"/>
          </p:cNvSpPr>
          <p:nvPr/>
        </p:nvSpPr>
        <p:spPr>
          <a:xfrm>
            <a:off x="46276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15" name="Google Shape;340;p61">
            <a:extLst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noGrp="1"/>
          </p:cNvSpPr>
          <p:nvPr/>
        </p:nvSpPr>
        <p:spPr>
          <a:xfrm>
            <a:off x="8533270" y="3694102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755665"/>
          </a:xfrm>
        </p:spPr>
        <p:txBody>
          <a:bodyPr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Carga e distância determinam o peso de cada observação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noGrp="1"/>
          </p:cNvSpPr>
          <p:nvPr/>
        </p:nvSpPr>
        <p:spPr>
          <a:xfrm>
            <a:off x="4227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noGrp="1"/>
          </p:cNvSpPr>
          <p:nvPr/>
        </p:nvSpPr>
        <p:spPr>
          <a:xfrm>
            <a:off x="735621" y="4146160"/>
            <a:ext cx="2949339" cy="143287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Subtrecho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Arial"/>
                <a:ea typeface="Arial"/>
                <a:cs typeface="Arial"/>
              </a:rPr>
              <a:t>Ws = ms × ds
Carga a bordo × distância.</a:t>
            </a:r>
          </a:p>
        </p:txBody>
      </p:sp>
      <p:sp>
        <p:nvSpPr>
          <p:cNvPr id="7" name="Google Shape;340;p61">
            <a:extLst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noGrp="1"/>
          </p:cNvSpPr>
          <p:nvPr/>
        </p:nvSpPr>
        <p:spPr>
          <a:xfrm>
            <a:off x="7414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17" name="Google Shape;534;p58">
            <a:extLst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noGrp="1"/>
          </p:cNvSpPr>
          <p:nvPr/>
        </p:nvSpPr>
        <p:spPr>
          <a:xfrm>
            <a:off x="393700" y="1820543"/>
            <a:ext cx="11404600" cy="1326615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O método não escolhe um navio ou corredor único. Cada recorte contribui conforme o transporte que efetivamente realizou.</a:t>
            </a:r>
          </a:p>
        </p:txBody>
      </p:sp>
      <p:sp>
        <p:nvSpPr>
          <p:cNvPr id="18" name="Google Shape;534;p58">
            <a:extLst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noGrp="1"/>
          </p:cNvSpPr>
          <p:nvPr/>
        </p:nvSpPr>
        <p:spPr>
          <a:xfrm>
            <a:off x="393699" y="131801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725">
                <a:latin typeface="Arial"/>
                <a:ea typeface="Arial"/>
                <a:cs typeface="Arial"/>
              </a:rPr>
              <a:t>4.3.4.3 · Trabalho de transporte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02F15020-66A7-620A-7B7A-C05C4312DEAE}" type="slidenum">
              <a:rPr sz="1050">
                <a:latin typeface="Arial"/>
                <a:ea typeface="Arial"/>
                <a:cs typeface="Arial"/>
              </a:rPr>
              <a:t>27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Distância e intensidade são consolidadas por médias distintas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3700" y="237490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Para cada recorte: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Dv = Σ ds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m̄v = Wv / Dv,nm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75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Depois: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Drep = Σ(Dv,km × m̄v) / Σm̄v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75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O P95 de distância apenas retira recortes excepcionalmente longos dessa média.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25">
                <a:latin typeface="Arial"/>
                <a:ea typeface="Arial"/>
                <a:cs typeface="Arial"/>
              </a:rPr>
              <a:t>4.3.4.4 · Dois P95, duas finalidades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89 recortes completos em 22 corredores.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Cobertura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noGrp="1"/>
          </p:cNvSpPr>
          <p:nvPr/>
        </p:nvSpPr>
        <p:spPr>
          <a:xfrm>
            <a:off x="6405842" y="152193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P95 = 6.975 km; 2 recortes saem apenas da média de distância.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Triagem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Distância: 6.094,975 km (3.291,023 nm), com 87 recortes; intensidade: 89 recortes.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noGrp="1"/>
          </p:cNvSpPr>
          <p:nvPr/>
        </p:nvSpPr>
        <p:spPr>
          <a:xfrm>
            <a:off x="6405843" y="453945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68AD4375-9F50-F53A-6F9F-DD8473067C05}" type="slidenum">
              <a:rPr sz="1050">
                <a:latin typeface="Arial"/>
                <a:ea typeface="Arial"/>
                <a:cs typeface="Arial"/>
              </a:rPr>
              <a:t>28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5549230" cy="69739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87664"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Cinco recortes explicam como as médias são formadas</a:t>
            </a:r>
          </a:p>
        </p:txBody>
      </p:sp>
      <p:graphicFrame>
        <p:nvGraphicFramePr>
          <p:cNvPr id="539" name="Chart 3"/>
          <p:cNvGraphicFramePr/>
          <p:nvPr/>
        </p:nvGraphicFramePr>
        <p:xfrm>
          <a:off x="408690" y="1023105"/>
          <a:ext cx="5124182" cy="52251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55C29-3D04-D88C-395C-E6000B5894F9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EFFCFBF-F669-9423-2DB8-D166659E1B79}"/>
              </a:ext>
            </a:extLst>
          </p:cNvPr>
          <p:cNvSpPr>
            <a:spLocks noGrp="1"/>
          </p:cNvSpPr>
          <p:nvPr/>
        </p:nvSpPr>
        <p:spPr>
          <a:xfrm>
            <a:off x="6264412" y="2374900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B25D3D5-48E8-D985-A4A9-9DA67A423BF8}"/>
              </a:ext>
            </a:extLst>
          </p:cNvPr>
          <p:cNvSpPr>
            <a:spLocks noGrp="1"/>
          </p:cNvSpPr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93A9C42-081B-E830-D8CB-13511AF87915}"/>
              </a:ext>
            </a:extLst>
          </p:cNvPr>
          <p:cNvSpPr>
            <a:spLocks noGrp="1"/>
          </p:cNvSpPr>
          <p:nvPr/>
        </p:nvSpPr>
        <p:spPr>
          <a:xfrm>
            <a:off x="6558438" y="3088295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7,337004 g/(t·nm), ponderada pelo trabalho de transporte.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899B51-315F-2B69-8DFE-6F0EE585DE74}"/>
              </a:ext>
            </a:extLst>
          </p:cNvPr>
          <p:cNvSpPr>
            <a:spLocks noGrp="1"/>
          </p:cNvSpPr>
          <p:nvPr/>
        </p:nvSpPr>
        <p:spPr>
          <a:xfrm>
            <a:off x="6555127" y="2631212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75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Intensidade</a:t>
            </a:r>
          </a:p>
        </p:txBody>
      </p:sp>
      <p:sp>
        <p:nvSpPr>
          <p:cNvPr id="14" name="Content Placeholder 10">
            <a:extLst>
              <a:ext uri="{FF2B5EF4-FFF2-40B4-BE49-F238E27FC236}">
                <a16:creationId xmlns:a16="http://schemas.microsoft.com/office/drawing/2014/main" id="{DBE99E9C-A611-68DB-873D-1306B6DA4538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6.119,690 km, ponderada pela carga média a bordo.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7172E7-1168-69D9-D755-CC735D3A9194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75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Distância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252D751-7B28-98E9-CF7E-0EB98657E0AF}"/>
              </a:ext>
            </a:extLst>
          </p:cNvPr>
          <p:cNvSpPr>
            <a:spLocks noGrp="1"/>
          </p:cNvSpPr>
          <p:nvPr/>
        </p:nvSpPr>
        <p:spPr>
          <a:xfrm>
            <a:off x="6264412" y="391117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07D94FB0-B75A-4229-2FD1-CA1FAAC57998}"/>
              </a:ext>
            </a:extLst>
          </p:cNvPr>
          <p:cNvSpPr>
            <a:spLocks noGrp="1"/>
          </p:cNvSpPr>
          <p:nvPr/>
        </p:nvSpPr>
        <p:spPr>
          <a:xfrm>
            <a:off x="6558438" y="1104512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Quatro navios e cinco sequências Santos–Manaus.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D1D081-A168-A031-F892-8E2476A4AF34}"/>
              </a:ext>
            </a:extLst>
          </p:cNvPr>
          <p:cNvSpPr>
            <a:spLocks noGrp="1"/>
          </p:cNvSpPr>
          <p:nvPr/>
        </p:nvSpPr>
        <p:spPr>
          <a:xfrm>
            <a:off x="6555127" y="647429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75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Exemplo didático</a:t>
            </a:r>
          </a:p>
        </p:txBody>
      </p:sp>
      <p:sp>
        <p:nvSpPr>
          <p:cNvPr id="535" name="Retângulo 534">
            <a:extLst>
              <a:ext uri="{FF2B5EF4-FFF2-40B4-BE49-F238E27FC236}">
                <a16:creationId xmlns:a16="http://schemas.microsoft.com/office/drawing/2014/main" id="{093B9DBF-4308-4923-9A57-BBCC285F2125}"/>
              </a:ext>
            </a:extLst>
          </p:cNvPr>
          <p:cNvSpPr>
            <a:spLocks noGrp="1"/>
          </p:cNvSpPr>
          <p:nvPr/>
        </p:nvSpPr>
        <p:spPr>
          <a:xfrm>
            <a:off x="408690" y="1023105"/>
            <a:ext cx="5124182" cy="5225194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pt-BR"/>
          </a:p>
        </p:txBody>
      </p:sp>
      <p:pic>
        <p:nvPicPr>
          <p:cNvPr id="551" name="Imagem 55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08690" y="1743696"/>
            <a:ext cx="5124182" cy="378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9752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41680313-6E64-04FF-399A-57B7CADE95A9}" type="slidenum">
              <a:rPr sz="1050">
                <a:latin typeface="Arial"/>
                <a:ea typeface="Arial"/>
                <a:cs typeface="Arial"/>
              </a:rPr>
              <a:t>29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Os parâmetros históricos são aplicados à nova remessa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D5D3365-630B-7DA2-6578-D2DE7ACBBC07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noGrp="1"/>
          </p:cNvSpPr>
          <p:nvPr/>
        </p:nvSpPr>
        <p:spPr>
          <a:xfrm>
            <a:off x="393700" y="2374900"/>
            <a:ext cx="5537200" cy="361949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REGRA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MVLSFO = Irep × mremessa × Drep,nm / 1.000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75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APLICAÇÃO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7,006102 g/(t·nm) × 14 t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× 3.291,023 nm / 1.000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75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RESULTADO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MVLSFO = 322,801 kg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noGrp="1"/>
          </p:cNvSpPr>
          <p:nvPr/>
        </p:nvSpPr>
        <p:spPr>
          <a:xfrm>
            <a:off x="393700" y="143666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25">
                <a:latin typeface="Arial"/>
                <a:ea typeface="Arial"/>
                <a:cs typeface="Arial"/>
              </a:rPr>
              <a:t>4.3.4.6 · Consumo marítimo simulado</a:t>
            </a:r>
          </a:p>
        </p:txBody>
      </p:sp>
      <p:sp>
        <p:nvSpPr>
          <p:cNvPr id="27" name="Content Placeholder 10">
            <a:extLst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noGrp="1"/>
          </p:cNvSpPr>
          <p:nvPr/>
        </p:nvSpPr>
        <p:spPr>
          <a:xfrm>
            <a:off x="6648104" y="218425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7,006102 g/(t·nm), formada pelos 89 recortes.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noGrp="1"/>
          </p:cNvSpPr>
          <p:nvPr/>
        </p:nvSpPr>
        <p:spPr>
          <a:xfrm>
            <a:off x="6644793" y="181325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Intensidade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noGrp="1"/>
          </p:cNvSpPr>
          <p:nvPr/>
        </p:nvSpPr>
        <p:spPr>
          <a:xfrm>
            <a:off x="6405842" y="152193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noGrp="1"/>
          </p:cNvSpPr>
          <p:nvPr/>
        </p:nvSpPr>
        <p:spPr>
          <a:xfrm>
            <a:off x="6648104" y="369301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14 t informadas pelo usuário.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noGrp="1"/>
          </p:cNvSpPr>
          <p:nvPr/>
        </p:nvSpPr>
        <p:spPr>
          <a:xfrm>
            <a:off x="6644793" y="332201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Carga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noGrp="1"/>
          </p:cNvSpPr>
          <p:nvPr/>
        </p:nvSpPr>
        <p:spPr>
          <a:xfrm>
            <a:off x="6405842" y="303069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noGrp="1"/>
          </p:cNvSpPr>
          <p:nvPr/>
        </p:nvSpPr>
        <p:spPr>
          <a:xfrm>
            <a:off x="6648105" y="5201772"/>
            <a:ext cx="501476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3.291,023 nm, formada pelos 87 recortes até o P95.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noGrp="1"/>
          </p:cNvSpPr>
          <p:nvPr/>
        </p:nvSpPr>
        <p:spPr>
          <a:xfrm>
            <a:off x="6644794" y="4830775"/>
            <a:ext cx="5014766" cy="243230"/>
          </a:xfrm>
          <a:prstGeom prst="rect">
            <a:avLst/>
          </a:prstGeom>
          <a:noFill/>
        </p:spPr>
        <p:txBody>
          <a:bodyPr wrap="square" lIns="0" tIns="0" rIns="0" bIns="0">
            <a:normAutofit fontScale="93333"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Distância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noGrp="1"/>
          </p:cNvSpPr>
          <p:nvPr/>
        </p:nvSpPr>
        <p:spPr>
          <a:xfrm>
            <a:off x="6405843" y="4539455"/>
            <a:ext cx="5394187" cy="1393857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4429360-E0B5-E472-3BCB-2FC70A04DA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5FEBBBCE-9E16-527A-0EE3-E5839422D847}" type="slidenum">
              <a:rPr sz="1050">
                <a:latin typeface="Arial"/>
                <a:ea typeface="Arial"/>
                <a:cs typeface="Arial"/>
              </a:rPr>
              <a:t>30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CD65521-5912-FE80-B7B5-EE9E16A13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7835900" cy="10402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Diesel e VLSFO só são agregados após a conversão</a:t>
            </a:r>
          </a:p>
        </p:txBody>
      </p:sp>
      <p:graphicFrame>
        <p:nvGraphicFramePr>
          <p:cNvPr id="537" name="Google Shape;644;p93"/>
          <p:cNvGraphicFramePr/>
          <p:nvPr/>
        </p:nvGraphicFramePr>
        <p:xfrm>
          <a:off x="4752742" y="1549337"/>
          <a:ext cx="6778000" cy="4627827"/>
        </p:xfrm>
        <a:graphic>
          <a:graphicData uri="http://schemas.openxmlformats.org/drawingml/2006/table">
            <a:tbl>
              <a:tblPr firstRow="1"/>
              <a:tblGrid>
                <a:gridCol w="169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432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Etapa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Combustível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CO₂e TTW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Custo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19050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First mile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37,465 L diesel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100,41 kg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R$ 260,76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D1D2D3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Navegação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322,801 kg VLSFO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1.005,20 kg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R$ 1.230,62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Porto · embarque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2,410 L diesel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6,46 kg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R$ 16,77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Porto · desemb.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2,410 L diesel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6,46 kg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R$ 17,47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Last mile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610,300 L diesel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1.635,60 kg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R$ 5.041,08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TOTAL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após conversão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2.754,13 kg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R$ 6.566,71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Fronteira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queima operacional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TTW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—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Escopo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Diesel S10 + VLSFO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CO₂e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combustível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chemeClr val="dk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2155"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Agregação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após conversão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unidade comum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700"/>
                        </a:spcAft>
                        <a:buNone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+mn-lt"/>
                          <a:ea typeface="+mn-lt"/>
                          <a:cs typeface="+mn-lt"/>
                        </a:rPr>
                        <a:t>moeda comum</a:t>
                      </a:r>
                    </a:p>
                  </a:txBody>
                  <a:tcPr marL="0" marR="0" marT="91425" marB="91425">
                    <a:lnL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chemeClr val="dk1"/>
                      </a:solidFill>
                      <a:prstDash val="solid"/>
                    </a:lnT>
                    <a:lnB w="9525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5B304C-27F3-8A33-E6D7-E2EFCA2F82B2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71547039-AB2A-5CA1-49F7-26E9E71601EF}"/>
              </a:ext>
            </a:extLst>
          </p:cNvPr>
          <p:cNvSpPr>
            <a:spLocks noGrp="1"/>
          </p:cNvSpPr>
          <p:nvPr/>
        </p:nvSpPr>
        <p:spPr>
          <a:xfrm>
            <a:off x="393700" y="2774196"/>
            <a:ext cx="3606800" cy="3220203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97587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latin typeface="Arial"/>
                <a:ea typeface="Arial"/>
                <a:cs typeface="Arial"/>
              </a:rPr>
              <a:t>DIESEL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latin typeface="Arial"/>
                <a:ea typeface="Arial"/>
                <a:cs typeface="Arial"/>
              </a:rPr>
              <a:t>E = V × 2,68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latin typeface="Arial"/>
                <a:ea typeface="Arial"/>
                <a:cs typeface="Arial"/>
              </a:rPr>
              <a:t>C = V × Pdiesel,i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35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latin typeface="Arial"/>
                <a:ea typeface="Arial"/>
                <a:cs typeface="Arial"/>
              </a:rPr>
              <a:t>VLSFO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latin typeface="Arial"/>
                <a:ea typeface="Arial"/>
                <a:cs typeface="Arial"/>
              </a:rPr>
              <a:t>E = M × 3,114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latin typeface="Arial"/>
                <a:ea typeface="Arial"/>
                <a:cs typeface="Arial"/>
              </a:rPr>
              <a:t>C = M × 3,81231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35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latin typeface="Arial"/>
                <a:ea typeface="Arial"/>
                <a:cs typeface="Arial"/>
              </a:rPr>
              <a:t>Somar litros e quilogramas diretamente não teria significado físico.</a:t>
            </a:r>
          </a:p>
        </p:txBody>
      </p:sp>
      <p:sp>
        <p:nvSpPr>
          <p:cNvPr id="8" name="Google Shape;534;p58">
            <a:extLst>
              <a:ext uri="{FF2B5EF4-FFF2-40B4-BE49-F238E27FC236}">
                <a16:creationId xmlns:a16="http://schemas.microsoft.com/office/drawing/2014/main" id="{D136FB89-7449-CC90-F061-B6BF578EA25E}"/>
              </a:ext>
            </a:extLst>
          </p:cNvPr>
          <p:cNvSpPr>
            <a:spLocks noGrp="1"/>
          </p:cNvSpPr>
          <p:nvPr/>
        </p:nvSpPr>
        <p:spPr>
          <a:xfrm>
            <a:off x="393700" y="1564835"/>
            <a:ext cx="3606800" cy="1178365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50">
                <a:latin typeface="Arial"/>
                <a:ea typeface="Arial"/>
                <a:cs typeface="Arial"/>
              </a:rPr>
              <a:t>Duas famílias de fórmula</a:t>
            </a:r>
          </a:p>
        </p:txBody>
      </p:sp>
    </p:spTree>
    <p:extLst>
      <p:ext uri="{BB962C8B-B14F-4D97-AF65-F5344CB8AC3E}">
        <p14:creationId xmlns:p14="http://schemas.microsoft.com/office/powerpoint/2010/main" val="25538949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95E36811-4D7D-1AF4-2047-7797FCF5546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D172A7C5-A0CC-7B36-F236-345181E6AD72}" type="slidenum">
              <a:rPr sz="1050">
                <a:latin typeface="Arial"/>
                <a:ea typeface="Arial"/>
                <a:cs typeface="Arial"/>
              </a:rPr>
              <a:t>31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0619161C-354F-15D6-9579-085F52D7C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5549230" cy="69739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87664"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O last mile concentra as emissões do exemplo</a:t>
            </a:r>
          </a:p>
        </p:txBody>
      </p:sp>
      <p:graphicFrame>
        <p:nvGraphicFramePr>
          <p:cNvPr id="555" name="Chart 3"/>
          <p:cNvGraphicFramePr/>
          <p:nvPr/>
        </p:nvGraphicFramePr>
        <p:xfrm>
          <a:off x="408690" y="1023105"/>
          <a:ext cx="5124182" cy="52251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ED08C-D3A0-E23F-F823-E34BEC6E5268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1DC18F5-97D1-0F9E-AF97-E39D1D597D57}"/>
              </a:ext>
            </a:extLst>
          </p:cNvPr>
          <p:cNvSpPr>
            <a:spLocks noGrp="1"/>
          </p:cNvSpPr>
          <p:nvPr/>
        </p:nvSpPr>
        <p:spPr>
          <a:xfrm>
            <a:off x="6271986" y="2032000"/>
            <a:ext cx="2581975" cy="2656541"/>
          </a:xfrm>
          <a:prstGeom prst="roundRect">
            <a:avLst>
              <a:gd name="adj" fmla="val 3602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90C522A2-2174-5AFA-9A00-7E4BBCEB22B0}"/>
              </a:ext>
            </a:extLst>
          </p:cNvPr>
          <p:cNvSpPr>
            <a:spLocks noGrp="1"/>
          </p:cNvSpPr>
          <p:nvPr/>
        </p:nvSpPr>
        <p:spPr>
          <a:xfrm>
            <a:off x="6494348" y="2356820"/>
            <a:ext cx="2133315" cy="90375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2700" u="none" cap="none">
                <a:ln>
                  <a:noFill/>
                </a:ln>
                <a:solidFill>
                  <a:schemeClr val="accent1"/>
                </a:solidFill>
                <a:latin typeface="Arial"/>
                <a:ea typeface="Arial"/>
                <a:cs typeface="Arial"/>
              </a:rPr>
              <a:t>2.754 kg</a:t>
            </a:r>
          </a:p>
        </p:txBody>
      </p:sp>
      <p:sp>
        <p:nvSpPr>
          <p:cNvPr id="7" name="Content Placeholder 15">
            <a:extLst>
              <a:ext uri="{FF2B5EF4-FFF2-40B4-BE49-F238E27FC236}">
                <a16:creationId xmlns:a16="http://schemas.microsoft.com/office/drawing/2014/main" id="{3859261F-DEEB-D3E4-08EA-A3B8D1EB0F8B}"/>
              </a:ext>
            </a:extLst>
          </p:cNvPr>
          <p:cNvSpPr>
            <a:spLocks noGrp="1"/>
          </p:cNvSpPr>
          <p:nvPr/>
        </p:nvSpPr>
        <p:spPr>
          <a:xfrm>
            <a:off x="6560966" y="3529296"/>
            <a:ext cx="2066698" cy="61595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latin typeface="Arial"/>
                <a:ea typeface="Arial"/>
                <a:cs typeface="Arial"/>
              </a:rPr>
              <a:t>CO₂e TTW total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latin typeface="Arial"/>
                <a:ea typeface="Arial"/>
                <a:cs typeface="Arial"/>
              </a:rPr>
              <a:t>2.754,13 kg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6A67EF5-6C28-37C0-A44F-C89DA6A63CE8}"/>
              </a:ext>
            </a:extLst>
          </p:cNvPr>
          <p:cNvSpPr>
            <a:spLocks noGrp="1"/>
          </p:cNvSpPr>
          <p:nvPr/>
        </p:nvSpPr>
        <p:spPr>
          <a:xfrm>
            <a:off x="9224191" y="2032000"/>
            <a:ext cx="2581975" cy="2656541"/>
          </a:xfrm>
          <a:prstGeom prst="roundRect">
            <a:avLst>
              <a:gd name="adj" fmla="val 3602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C1178A3C-CA3E-3A18-E320-61DF2ABD5D3C}"/>
              </a:ext>
            </a:extLst>
          </p:cNvPr>
          <p:cNvSpPr>
            <a:spLocks noGrp="1"/>
          </p:cNvSpPr>
          <p:nvPr/>
        </p:nvSpPr>
        <p:spPr>
          <a:xfrm>
            <a:off x="9446553" y="2356820"/>
            <a:ext cx="2133315" cy="90375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2700" u="none" cap="none">
                <a:ln>
                  <a:noFill/>
                </a:ln>
                <a:solidFill>
                  <a:schemeClr val="accent1"/>
                </a:solidFill>
                <a:latin typeface="Arial"/>
                <a:ea typeface="Arial"/>
                <a:cs typeface="Arial"/>
              </a:rPr>
              <a:t>R$ 6.567</a:t>
            </a:r>
          </a:p>
        </p:txBody>
      </p:sp>
      <p:sp>
        <p:nvSpPr>
          <p:cNvPr id="10" name="Content Placeholder 15">
            <a:extLst>
              <a:ext uri="{FF2B5EF4-FFF2-40B4-BE49-F238E27FC236}">
                <a16:creationId xmlns:a16="http://schemas.microsoft.com/office/drawing/2014/main" id="{9A0C1C6C-0D79-048C-2E65-5A332ED31144}"/>
              </a:ext>
            </a:extLst>
          </p:cNvPr>
          <p:cNvSpPr>
            <a:spLocks noGrp="1"/>
          </p:cNvSpPr>
          <p:nvPr/>
        </p:nvSpPr>
        <p:spPr>
          <a:xfrm>
            <a:off x="9513171" y="3529296"/>
            <a:ext cx="2066698" cy="615950"/>
          </a:xfrm>
          <a:prstGeom prst="rect">
            <a:avLst/>
          </a:prstGeom>
        </p:spPr>
        <p:txBody>
          <a:bodyPr vert="horz" lIns="0" tIns="0" rIns="0" bIns="0">
            <a:normAutofit fontScale="98587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latin typeface="Arial"/>
                <a:ea typeface="Arial"/>
                <a:cs typeface="Arial"/>
              </a:rPr>
              <a:t>custo total de combustível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latin typeface="Arial"/>
                <a:ea typeface="Arial"/>
                <a:cs typeface="Arial"/>
              </a:rPr>
              <a:t>R$ 6.566,71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1ADE962-9ED7-3644-FA2A-7A64E19E9545}"/>
              </a:ext>
            </a:extLst>
          </p:cNvPr>
          <p:cNvSpPr>
            <a:spLocks noGrp="1"/>
          </p:cNvSpPr>
          <p:nvPr/>
        </p:nvSpPr>
        <p:spPr>
          <a:xfrm>
            <a:off x="6258427" y="4971337"/>
            <a:ext cx="5539873" cy="9906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Distância total: 7.584,836 km · diesel nos acessos e portos · VLSFO na navegação.</a:t>
            </a:r>
          </a:p>
        </p:txBody>
      </p:sp>
      <p:sp>
        <p:nvSpPr>
          <p:cNvPr id="535" name="Retângulo 534">
            <a:extLst>
              <a:ext uri="{FF2B5EF4-FFF2-40B4-BE49-F238E27FC236}">
                <a16:creationId xmlns:a16="http://schemas.microsoft.com/office/drawing/2014/main" id="{FF3F6FA7-31D4-43FC-9F48-94F9C93B9228}"/>
              </a:ext>
            </a:extLst>
          </p:cNvPr>
          <p:cNvSpPr>
            <a:spLocks noGrp="1"/>
          </p:cNvSpPr>
          <p:nvPr/>
        </p:nvSpPr>
        <p:spPr>
          <a:xfrm>
            <a:off x="408718" y="1023080"/>
            <a:ext cx="5124164" cy="52252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36" name="Retângulo 535">
            <a:extLst>
              <a:ext uri="{FF2B5EF4-FFF2-40B4-BE49-F238E27FC236}">
                <a16:creationId xmlns:a16="http://schemas.microsoft.com/office/drawing/2014/main" id="{D6160E8E-2270-402B-9E48-70473AAD7B01}"/>
              </a:ext>
            </a:extLst>
          </p:cNvPr>
          <p:cNvSpPr>
            <a:spLocks noGrp="1"/>
          </p:cNvSpPr>
          <p:nvPr/>
        </p:nvSpPr>
        <p:spPr>
          <a:xfrm>
            <a:off x="561118" y="1137380"/>
            <a:ext cx="4819364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350" b="1">
                <a:solidFill>
                  <a:srgbClr val="3357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Emissões TTW por etapa</a:t>
            </a:r>
          </a:p>
        </p:txBody>
      </p:sp>
      <p:sp>
        <p:nvSpPr>
          <p:cNvPr id="537" name="Retângulo 536">
            <a:extLst>
              <a:ext uri="{FF2B5EF4-FFF2-40B4-BE49-F238E27FC236}">
                <a16:creationId xmlns:a16="http://schemas.microsoft.com/office/drawing/2014/main" id="{1E5B701B-5CFB-443E-B54C-29D1EFA31157}"/>
              </a:ext>
            </a:extLst>
          </p:cNvPr>
          <p:cNvSpPr>
            <a:spLocks noGrp="1"/>
          </p:cNvSpPr>
          <p:nvPr/>
        </p:nvSpPr>
        <p:spPr>
          <a:xfrm>
            <a:off x="561118" y="1689830"/>
            <a:ext cx="1028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First mile</a:t>
            </a:r>
          </a:p>
        </p:txBody>
      </p:sp>
      <p:sp>
        <p:nvSpPr>
          <p:cNvPr id="538" name="Retângulo: Cantos Arredondados 537">
            <a:extLst>
              <a:ext uri="{FF2B5EF4-FFF2-40B4-BE49-F238E27FC236}">
                <a16:creationId xmlns:a16="http://schemas.microsoft.com/office/drawing/2014/main" id="{9CC7A2BB-0A7E-47BF-8270-0DF8AD2EFA20}"/>
              </a:ext>
            </a:extLst>
          </p:cNvPr>
          <p:cNvSpPr>
            <a:spLocks noGrp="1"/>
          </p:cNvSpPr>
          <p:nvPr/>
        </p:nvSpPr>
        <p:spPr>
          <a:xfrm>
            <a:off x="1666018" y="1746980"/>
            <a:ext cx="3314414" cy="266700"/>
          </a:xfrm>
          <a:prstGeom prst="roundRect">
            <a:avLst>
              <a:gd name="adj" fmla="val 28571"/>
            </a:avLst>
          </a:prstGeom>
          <a:solidFill>
            <a:srgbClr val="E8EDF8"/>
          </a:solidFill>
          <a:ln w="0">
            <a:solidFill>
              <a:srgbClr val="E8EDF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39" name="Retângulo: Cantos Arredondados 538">
            <a:extLst>
              <a:ext uri="{FF2B5EF4-FFF2-40B4-BE49-F238E27FC236}">
                <a16:creationId xmlns:a16="http://schemas.microsoft.com/office/drawing/2014/main" id="{B5FDA9FA-1924-4D41-8A8D-998FB7629EE6}"/>
              </a:ext>
            </a:extLst>
          </p:cNvPr>
          <p:cNvSpPr>
            <a:spLocks noGrp="1"/>
          </p:cNvSpPr>
          <p:nvPr/>
        </p:nvSpPr>
        <p:spPr>
          <a:xfrm>
            <a:off x="1666018" y="1746980"/>
            <a:ext cx="195765" cy="266700"/>
          </a:xfrm>
          <a:prstGeom prst="roundRect">
            <a:avLst>
              <a:gd name="adj" fmla="val 38924"/>
            </a:avLst>
          </a:prstGeom>
          <a:solidFill>
            <a:srgbClr val="3357B8"/>
          </a:solidFill>
          <a:ln w="0">
            <a:solidFill>
              <a:srgbClr val="3357B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40" name="Retângulo 539">
            <a:extLst>
              <a:ext uri="{FF2B5EF4-FFF2-40B4-BE49-F238E27FC236}">
                <a16:creationId xmlns:a16="http://schemas.microsoft.com/office/drawing/2014/main" id="{1120AFE0-5ADF-4BFF-8F3A-537A544159E7}"/>
              </a:ext>
            </a:extLst>
          </p:cNvPr>
          <p:cNvSpPr>
            <a:spLocks noGrp="1"/>
          </p:cNvSpPr>
          <p:nvPr/>
        </p:nvSpPr>
        <p:spPr>
          <a:xfrm>
            <a:off x="1666018" y="2070830"/>
            <a:ext cx="331441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33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100,41 kg</a:t>
            </a:r>
          </a:p>
        </p:txBody>
      </p:sp>
      <p:sp>
        <p:nvSpPr>
          <p:cNvPr id="541" name="Retângulo 540">
            <a:extLst>
              <a:ext uri="{FF2B5EF4-FFF2-40B4-BE49-F238E27FC236}">
                <a16:creationId xmlns:a16="http://schemas.microsoft.com/office/drawing/2014/main" id="{B87051BE-CB22-4811-AF96-2E8CF64799B4}"/>
              </a:ext>
            </a:extLst>
          </p:cNvPr>
          <p:cNvSpPr>
            <a:spLocks noGrp="1"/>
          </p:cNvSpPr>
          <p:nvPr/>
        </p:nvSpPr>
        <p:spPr>
          <a:xfrm>
            <a:off x="561118" y="2689955"/>
            <a:ext cx="1028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Navegação</a:t>
            </a:r>
          </a:p>
        </p:txBody>
      </p:sp>
      <p:sp>
        <p:nvSpPr>
          <p:cNvPr id="542" name="Retângulo: Cantos Arredondados 541">
            <a:extLst>
              <a:ext uri="{FF2B5EF4-FFF2-40B4-BE49-F238E27FC236}">
                <a16:creationId xmlns:a16="http://schemas.microsoft.com/office/drawing/2014/main" id="{BF5555F4-30A6-41AA-8AC7-6713123C3A65}"/>
              </a:ext>
            </a:extLst>
          </p:cNvPr>
          <p:cNvSpPr>
            <a:spLocks noGrp="1"/>
          </p:cNvSpPr>
          <p:nvPr/>
        </p:nvSpPr>
        <p:spPr>
          <a:xfrm>
            <a:off x="1666018" y="2747105"/>
            <a:ext cx="3314414" cy="266700"/>
          </a:xfrm>
          <a:prstGeom prst="roundRect">
            <a:avLst>
              <a:gd name="adj" fmla="val 28571"/>
            </a:avLst>
          </a:prstGeom>
          <a:solidFill>
            <a:srgbClr val="E8EDF8"/>
          </a:solidFill>
          <a:ln w="0">
            <a:solidFill>
              <a:srgbClr val="E8EDF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43" name="Retângulo: Cantos Arredondados 542">
            <a:extLst>
              <a:ext uri="{FF2B5EF4-FFF2-40B4-BE49-F238E27FC236}">
                <a16:creationId xmlns:a16="http://schemas.microsoft.com/office/drawing/2014/main" id="{09B438D0-AA56-49DB-B31F-8519EE63C1F6}"/>
              </a:ext>
            </a:extLst>
          </p:cNvPr>
          <p:cNvSpPr>
            <a:spLocks noGrp="1"/>
          </p:cNvSpPr>
          <p:nvPr/>
        </p:nvSpPr>
        <p:spPr>
          <a:xfrm>
            <a:off x="1666018" y="2747105"/>
            <a:ext cx="1959794" cy="266700"/>
          </a:xfrm>
          <a:prstGeom prst="roundRect">
            <a:avLst>
              <a:gd name="adj" fmla="val 28571"/>
            </a:avLst>
          </a:prstGeom>
          <a:solidFill>
            <a:srgbClr val="3357B8"/>
          </a:solidFill>
          <a:ln w="0">
            <a:solidFill>
              <a:srgbClr val="3357B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44" name="Retângulo 543">
            <a:extLst>
              <a:ext uri="{FF2B5EF4-FFF2-40B4-BE49-F238E27FC236}">
                <a16:creationId xmlns:a16="http://schemas.microsoft.com/office/drawing/2014/main" id="{5FF7E62A-F880-4A22-A177-CBBB12F84758}"/>
              </a:ext>
            </a:extLst>
          </p:cNvPr>
          <p:cNvSpPr>
            <a:spLocks noGrp="1"/>
          </p:cNvSpPr>
          <p:nvPr/>
        </p:nvSpPr>
        <p:spPr>
          <a:xfrm>
            <a:off x="1666018" y="3070955"/>
            <a:ext cx="331441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33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1.005,20 kg</a:t>
            </a:r>
          </a:p>
        </p:txBody>
      </p:sp>
      <p:sp>
        <p:nvSpPr>
          <p:cNvPr id="545" name="Retângulo 544">
            <a:extLst>
              <a:ext uri="{FF2B5EF4-FFF2-40B4-BE49-F238E27FC236}">
                <a16:creationId xmlns:a16="http://schemas.microsoft.com/office/drawing/2014/main" id="{67B2F7C5-C80D-4188-B6A4-662E8AB2C495}"/>
              </a:ext>
            </a:extLst>
          </p:cNvPr>
          <p:cNvSpPr>
            <a:spLocks noGrp="1"/>
          </p:cNvSpPr>
          <p:nvPr/>
        </p:nvSpPr>
        <p:spPr>
          <a:xfrm>
            <a:off x="561118" y="3690080"/>
            <a:ext cx="1028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Portos</a:t>
            </a:r>
          </a:p>
        </p:txBody>
      </p:sp>
      <p:sp>
        <p:nvSpPr>
          <p:cNvPr id="546" name="Retângulo: Cantos Arredondados 545">
            <a:extLst>
              <a:ext uri="{FF2B5EF4-FFF2-40B4-BE49-F238E27FC236}">
                <a16:creationId xmlns:a16="http://schemas.microsoft.com/office/drawing/2014/main" id="{B76E0602-E19D-43A6-913F-AAF3122456B1}"/>
              </a:ext>
            </a:extLst>
          </p:cNvPr>
          <p:cNvSpPr>
            <a:spLocks noGrp="1"/>
          </p:cNvSpPr>
          <p:nvPr/>
        </p:nvSpPr>
        <p:spPr>
          <a:xfrm>
            <a:off x="1666018" y="3747230"/>
            <a:ext cx="3314414" cy="266700"/>
          </a:xfrm>
          <a:prstGeom prst="roundRect">
            <a:avLst>
              <a:gd name="adj" fmla="val 28571"/>
            </a:avLst>
          </a:prstGeom>
          <a:solidFill>
            <a:srgbClr val="E8EDF8"/>
          </a:solidFill>
          <a:ln w="0">
            <a:solidFill>
              <a:srgbClr val="E8EDF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47" name="Retângulo: Cantos Arredondados 546">
            <a:extLst>
              <a:ext uri="{FF2B5EF4-FFF2-40B4-BE49-F238E27FC236}">
                <a16:creationId xmlns:a16="http://schemas.microsoft.com/office/drawing/2014/main" id="{E6913E4B-ED04-498A-A74A-D4929536EE58}"/>
              </a:ext>
            </a:extLst>
          </p:cNvPr>
          <p:cNvSpPr>
            <a:spLocks noGrp="1"/>
          </p:cNvSpPr>
          <p:nvPr/>
        </p:nvSpPr>
        <p:spPr>
          <a:xfrm>
            <a:off x="1666018" y="3747230"/>
            <a:ext cx="95250" cy="266700"/>
          </a:xfrm>
          <a:prstGeom prst="roundRect">
            <a:avLst>
              <a:gd name="adj" fmla="val 50000"/>
            </a:avLst>
          </a:prstGeom>
          <a:solidFill>
            <a:srgbClr val="3357B8"/>
          </a:solidFill>
          <a:ln w="0">
            <a:solidFill>
              <a:srgbClr val="3357B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48" name="Retângulo 547">
            <a:extLst>
              <a:ext uri="{FF2B5EF4-FFF2-40B4-BE49-F238E27FC236}">
                <a16:creationId xmlns:a16="http://schemas.microsoft.com/office/drawing/2014/main" id="{84D0831C-1847-41B5-BCDE-E443AAED342D}"/>
              </a:ext>
            </a:extLst>
          </p:cNvPr>
          <p:cNvSpPr>
            <a:spLocks noGrp="1"/>
          </p:cNvSpPr>
          <p:nvPr/>
        </p:nvSpPr>
        <p:spPr>
          <a:xfrm>
            <a:off x="1666018" y="4071080"/>
            <a:ext cx="331441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33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12,92 kg</a:t>
            </a:r>
          </a:p>
        </p:txBody>
      </p:sp>
      <p:sp>
        <p:nvSpPr>
          <p:cNvPr id="549" name="Retângulo 548">
            <a:extLst>
              <a:ext uri="{FF2B5EF4-FFF2-40B4-BE49-F238E27FC236}">
                <a16:creationId xmlns:a16="http://schemas.microsoft.com/office/drawing/2014/main" id="{C5FE99B6-7636-4DA2-B9C1-447E2919245A}"/>
              </a:ext>
            </a:extLst>
          </p:cNvPr>
          <p:cNvSpPr>
            <a:spLocks noGrp="1"/>
          </p:cNvSpPr>
          <p:nvPr/>
        </p:nvSpPr>
        <p:spPr>
          <a:xfrm>
            <a:off x="561118" y="4690205"/>
            <a:ext cx="10287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Last mile</a:t>
            </a:r>
          </a:p>
        </p:txBody>
      </p:sp>
      <p:sp>
        <p:nvSpPr>
          <p:cNvPr id="550" name="Retângulo: Cantos Arredondados 549">
            <a:extLst>
              <a:ext uri="{FF2B5EF4-FFF2-40B4-BE49-F238E27FC236}">
                <a16:creationId xmlns:a16="http://schemas.microsoft.com/office/drawing/2014/main" id="{54D0AD0F-2600-4653-8754-C3F627C6F839}"/>
              </a:ext>
            </a:extLst>
          </p:cNvPr>
          <p:cNvSpPr>
            <a:spLocks noGrp="1"/>
          </p:cNvSpPr>
          <p:nvPr/>
        </p:nvSpPr>
        <p:spPr>
          <a:xfrm>
            <a:off x="1666018" y="4747355"/>
            <a:ext cx="3314414" cy="266700"/>
          </a:xfrm>
          <a:prstGeom prst="roundRect">
            <a:avLst>
              <a:gd name="adj" fmla="val 28571"/>
            </a:avLst>
          </a:prstGeom>
          <a:solidFill>
            <a:srgbClr val="E8EDF8"/>
          </a:solidFill>
          <a:ln w="0">
            <a:solidFill>
              <a:srgbClr val="E8EDF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51" name="Retângulo: Cantos Arredondados 550">
            <a:extLst>
              <a:ext uri="{FF2B5EF4-FFF2-40B4-BE49-F238E27FC236}">
                <a16:creationId xmlns:a16="http://schemas.microsoft.com/office/drawing/2014/main" id="{8559C4FB-6CAC-4FF0-A878-1BE332BD4144}"/>
              </a:ext>
            </a:extLst>
          </p:cNvPr>
          <p:cNvSpPr>
            <a:spLocks noGrp="1"/>
          </p:cNvSpPr>
          <p:nvPr/>
        </p:nvSpPr>
        <p:spPr>
          <a:xfrm>
            <a:off x="1666018" y="4747355"/>
            <a:ext cx="3188856" cy="266700"/>
          </a:xfrm>
          <a:prstGeom prst="roundRect">
            <a:avLst>
              <a:gd name="adj" fmla="val 28571"/>
            </a:avLst>
          </a:prstGeom>
          <a:solidFill>
            <a:srgbClr val="3357B8"/>
          </a:solidFill>
          <a:ln w="0">
            <a:solidFill>
              <a:srgbClr val="3357B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52" name="Retângulo 551">
            <a:extLst>
              <a:ext uri="{FF2B5EF4-FFF2-40B4-BE49-F238E27FC236}">
                <a16:creationId xmlns:a16="http://schemas.microsoft.com/office/drawing/2014/main" id="{A0698A56-5AC4-4B01-A276-DC4956F88284}"/>
              </a:ext>
            </a:extLst>
          </p:cNvPr>
          <p:cNvSpPr>
            <a:spLocks noGrp="1"/>
          </p:cNvSpPr>
          <p:nvPr/>
        </p:nvSpPr>
        <p:spPr>
          <a:xfrm>
            <a:off x="1666018" y="5071205"/>
            <a:ext cx="331441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r">
              <a:defRPr sz="1125" b="1">
                <a:solidFill>
                  <a:srgbClr val="3357B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1.635,60 kg</a:t>
            </a:r>
          </a:p>
        </p:txBody>
      </p:sp>
    </p:spTree>
    <p:extLst>
      <p:ext uri="{BB962C8B-B14F-4D97-AF65-F5344CB8AC3E}">
        <p14:creationId xmlns:p14="http://schemas.microsoft.com/office/powerpoint/2010/main" val="3993831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95E36811-4D7D-1AF4-2047-7797FCF5546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66C3428B-053E-6B4E-39FF-75B44F3F33F6}" type="slidenum">
              <a:rPr sz="1050">
                <a:latin typeface="Arial"/>
                <a:ea typeface="Arial"/>
                <a:cs typeface="Arial"/>
              </a:rPr>
              <a:t>32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0619161C-354F-15D6-9579-085F52D7C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5549230" cy="69739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87664"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A rota mais longa reduziu emissões e custo</a:t>
            </a:r>
          </a:p>
        </p:txBody>
      </p:sp>
      <p:graphicFrame>
        <p:nvGraphicFramePr>
          <p:cNvPr id="558" name="Chart 3"/>
          <p:cNvGraphicFramePr/>
          <p:nvPr/>
        </p:nvGraphicFramePr>
        <p:xfrm>
          <a:off x="408690" y="1023105"/>
          <a:ext cx="5124182" cy="52251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ED08C-D3A0-E23F-F823-E34BEC6E5268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4 · Metodologia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1DC18F5-97D1-0F9E-AF97-E39D1D597D57}"/>
              </a:ext>
            </a:extLst>
          </p:cNvPr>
          <p:cNvSpPr>
            <a:spLocks noGrp="1"/>
          </p:cNvSpPr>
          <p:nvPr/>
        </p:nvSpPr>
        <p:spPr>
          <a:xfrm>
            <a:off x="6271986" y="2032000"/>
            <a:ext cx="2581975" cy="2656541"/>
          </a:xfrm>
          <a:prstGeom prst="roundRect">
            <a:avLst>
              <a:gd name="adj" fmla="val 3602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90C522A2-2174-5AFA-9A00-7E4BBCEB22B0}"/>
              </a:ext>
            </a:extLst>
          </p:cNvPr>
          <p:cNvSpPr>
            <a:spLocks noGrp="1"/>
          </p:cNvSpPr>
          <p:nvPr/>
        </p:nvSpPr>
        <p:spPr>
          <a:xfrm>
            <a:off x="6494348" y="2356820"/>
            <a:ext cx="2133315" cy="90375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2700" u="none" cap="none">
                <a:ln>
                  <a:noFill/>
                </a:ln>
                <a:solidFill>
                  <a:schemeClr val="accent1"/>
                </a:solidFill>
                <a:latin typeface="Arial"/>
                <a:ea typeface="Arial"/>
                <a:cs typeface="Arial"/>
              </a:rPr>
              <a:t>−32,30%</a:t>
            </a:r>
          </a:p>
        </p:txBody>
      </p:sp>
      <p:sp>
        <p:nvSpPr>
          <p:cNvPr id="7" name="Content Placeholder 15">
            <a:extLst>
              <a:ext uri="{FF2B5EF4-FFF2-40B4-BE49-F238E27FC236}">
                <a16:creationId xmlns:a16="http://schemas.microsoft.com/office/drawing/2014/main" id="{3859261F-DEEB-D3E4-08EA-A3B8D1EB0F8B}"/>
              </a:ext>
            </a:extLst>
          </p:cNvPr>
          <p:cNvSpPr>
            <a:spLocks noGrp="1"/>
          </p:cNvSpPr>
          <p:nvPr/>
        </p:nvSpPr>
        <p:spPr>
          <a:xfrm>
            <a:off x="6560966" y="3529296"/>
            <a:ext cx="2066698" cy="61595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latin typeface="Arial"/>
                <a:ea typeface="Arial"/>
                <a:cs typeface="Arial"/>
              </a:rPr>
              <a:t>emissões TTW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latin typeface="Arial"/>
                <a:ea typeface="Arial"/>
                <a:cs typeface="Arial"/>
              </a:rPr>
              <a:t>1.314,15 kg a menos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6A67EF5-6C28-37C0-A44F-C89DA6A63CE8}"/>
              </a:ext>
            </a:extLst>
          </p:cNvPr>
          <p:cNvSpPr>
            <a:spLocks noGrp="1"/>
          </p:cNvSpPr>
          <p:nvPr/>
        </p:nvSpPr>
        <p:spPr>
          <a:xfrm>
            <a:off x="9224191" y="2032000"/>
            <a:ext cx="2581975" cy="2656541"/>
          </a:xfrm>
          <a:prstGeom prst="roundRect">
            <a:avLst>
              <a:gd name="adj" fmla="val 3602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C1178A3C-CA3E-3A18-E320-61DF2ABD5D3C}"/>
              </a:ext>
            </a:extLst>
          </p:cNvPr>
          <p:cNvSpPr>
            <a:spLocks noGrp="1"/>
          </p:cNvSpPr>
          <p:nvPr/>
        </p:nvSpPr>
        <p:spPr>
          <a:xfrm>
            <a:off x="9446553" y="2356820"/>
            <a:ext cx="2133315" cy="90375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2700" u="none" cap="none">
                <a:ln>
                  <a:noFill/>
                </a:ln>
                <a:solidFill>
                  <a:schemeClr val="accent1"/>
                </a:solidFill>
                <a:latin typeface="Arial"/>
                <a:ea typeface="Arial"/>
                <a:cs typeface="Arial"/>
              </a:rPr>
              <a:t>−46,69%</a:t>
            </a:r>
          </a:p>
        </p:txBody>
      </p:sp>
      <p:sp>
        <p:nvSpPr>
          <p:cNvPr id="10" name="Content Placeholder 15">
            <a:extLst>
              <a:ext uri="{FF2B5EF4-FFF2-40B4-BE49-F238E27FC236}">
                <a16:creationId xmlns:a16="http://schemas.microsoft.com/office/drawing/2014/main" id="{9A0C1C6C-0D79-048C-2E65-5A332ED31144}"/>
              </a:ext>
            </a:extLst>
          </p:cNvPr>
          <p:cNvSpPr>
            <a:spLocks noGrp="1"/>
          </p:cNvSpPr>
          <p:nvPr/>
        </p:nvSpPr>
        <p:spPr>
          <a:xfrm>
            <a:off x="9513171" y="3529296"/>
            <a:ext cx="2066698" cy="61595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latin typeface="Arial"/>
                <a:ea typeface="Arial"/>
                <a:cs typeface="Arial"/>
              </a:rPr>
              <a:t>custo de combustível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latin typeface="Arial"/>
                <a:ea typeface="Arial"/>
                <a:cs typeface="Arial"/>
              </a:rPr>
              <a:t>R$ 5.751,97 a menos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1ADE962-9ED7-3644-FA2A-7A64E19E9545}"/>
              </a:ext>
            </a:extLst>
          </p:cNvPr>
          <p:cNvSpPr>
            <a:spLocks noGrp="1"/>
          </p:cNvSpPr>
          <p:nvPr/>
        </p:nvSpPr>
        <p:spPr>
          <a:xfrm>
            <a:off x="6258427" y="4971337"/>
            <a:ext cx="5539873" cy="9906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A alternativa multimodal percorreu 117,24% mais distância no mesmo cenário de 14 t.</a:t>
            </a:r>
          </a:p>
        </p:txBody>
      </p:sp>
      <p:sp>
        <p:nvSpPr>
          <p:cNvPr id="535" name="Retângulo 534">
            <a:extLst>
              <a:ext uri="{FF2B5EF4-FFF2-40B4-BE49-F238E27FC236}">
                <a16:creationId xmlns:a16="http://schemas.microsoft.com/office/drawing/2014/main" id="{F3B31703-BDA5-4E2E-95B9-7D1F02863203}"/>
              </a:ext>
            </a:extLst>
          </p:cNvPr>
          <p:cNvSpPr>
            <a:spLocks noGrp="1"/>
          </p:cNvSpPr>
          <p:nvPr/>
        </p:nvSpPr>
        <p:spPr>
          <a:xfrm>
            <a:off x="408718" y="1023080"/>
            <a:ext cx="5124164" cy="5225225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36" name="Retângulo 535">
            <a:extLst>
              <a:ext uri="{FF2B5EF4-FFF2-40B4-BE49-F238E27FC236}">
                <a16:creationId xmlns:a16="http://schemas.microsoft.com/office/drawing/2014/main" id="{5B8903AC-AC46-45E1-9A37-B1030A0E0BA6}"/>
              </a:ext>
            </a:extLst>
          </p:cNvPr>
          <p:cNvSpPr>
            <a:spLocks noGrp="1"/>
          </p:cNvSpPr>
          <p:nvPr/>
        </p:nvSpPr>
        <p:spPr>
          <a:xfrm>
            <a:off x="561118" y="1099280"/>
            <a:ext cx="4819364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350" b="1">
                <a:solidFill>
                  <a:srgbClr val="3357B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Índice relativo por indicador</a:t>
            </a:r>
          </a:p>
        </p:txBody>
      </p:sp>
      <p:sp>
        <p:nvSpPr>
          <p:cNvPr id="537" name="Retângulo 536">
            <a:extLst>
              <a:ext uri="{FF2B5EF4-FFF2-40B4-BE49-F238E27FC236}">
                <a16:creationId xmlns:a16="http://schemas.microsoft.com/office/drawing/2014/main" id="{9B7C70DA-9321-4B31-9B87-0CCF880AE348}"/>
              </a:ext>
            </a:extLst>
          </p:cNvPr>
          <p:cNvSpPr>
            <a:spLocks noGrp="1"/>
          </p:cNvSpPr>
          <p:nvPr/>
        </p:nvSpPr>
        <p:spPr>
          <a:xfrm>
            <a:off x="580168" y="1518380"/>
            <a:ext cx="171450" cy="95250"/>
          </a:xfrm>
          <a:prstGeom prst="rect">
            <a:avLst/>
          </a:prstGeom>
          <a:solidFill>
            <a:srgbClr val="AEB8CC"/>
          </a:solidFill>
          <a:ln w="0">
            <a:solidFill>
              <a:srgbClr val="AEB8CC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38" name="Retângulo 537">
            <a:extLst>
              <a:ext uri="{FF2B5EF4-FFF2-40B4-BE49-F238E27FC236}">
                <a16:creationId xmlns:a16="http://schemas.microsoft.com/office/drawing/2014/main" id="{7C58F411-946F-4968-859F-459F431BE0FF}"/>
              </a:ext>
            </a:extLst>
          </p:cNvPr>
          <p:cNvSpPr>
            <a:spLocks noGrp="1"/>
          </p:cNvSpPr>
          <p:nvPr/>
        </p:nvSpPr>
        <p:spPr>
          <a:xfrm>
            <a:off x="808768" y="1432655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0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Rodovia = 100</a:t>
            </a:r>
          </a:p>
        </p:txBody>
      </p:sp>
      <p:sp>
        <p:nvSpPr>
          <p:cNvPr id="539" name="Retângulo 538">
            <a:extLst>
              <a:ext uri="{FF2B5EF4-FFF2-40B4-BE49-F238E27FC236}">
                <a16:creationId xmlns:a16="http://schemas.microsoft.com/office/drawing/2014/main" id="{37820DF4-2046-4DED-9DE1-979CCA1544BD}"/>
              </a:ext>
            </a:extLst>
          </p:cNvPr>
          <p:cNvSpPr>
            <a:spLocks noGrp="1"/>
          </p:cNvSpPr>
          <p:nvPr/>
        </p:nvSpPr>
        <p:spPr>
          <a:xfrm>
            <a:off x="2123218" y="1518380"/>
            <a:ext cx="171450" cy="95250"/>
          </a:xfrm>
          <a:prstGeom prst="rect">
            <a:avLst/>
          </a:prstGeom>
          <a:solidFill>
            <a:srgbClr val="3357B8"/>
          </a:solidFill>
          <a:ln w="0">
            <a:solidFill>
              <a:srgbClr val="3357B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40" name="Retângulo 539">
            <a:extLst>
              <a:ext uri="{FF2B5EF4-FFF2-40B4-BE49-F238E27FC236}">
                <a16:creationId xmlns:a16="http://schemas.microsoft.com/office/drawing/2014/main" id="{EFF68DE6-FF56-48B0-9E17-376494931ABB}"/>
              </a:ext>
            </a:extLst>
          </p:cNvPr>
          <p:cNvSpPr>
            <a:spLocks noGrp="1"/>
          </p:cNvSpPr>
          <p:nvPr/>
        </p:nvSpPr>
        <p:spPr>
          <a:xfrm>
            <a:off x="2351818" y="1432655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0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Multimodal</a:t>
            </a:r>
          </a:p>
        </p:txBody>
      </p:sp>
      <p:sp>
        <p:nvSpPr>
          <p:cNvPr id="541" name="Retângulo 540">
            <a:extLst>
              <a:ext uri="{FF2B5EF4-FFF2-40B4-BE49-F238E27FC236}">
                <a16:creationId xmlns:a16="http://schemas.microsoft.com/office/drawing/2014/main" id="{4B0D2552-74A8-4427-9503-8CA8777BE863}"/>
              </a:ext>
            </a:extLst>
          </p:cNvPr>
          <p:cNvSpPr>
            <a:spLocks noGrp="1"/>
          </p:cNvSpPr>
          <p:nvPr/>
        </p:nvSpPr>
        <p:spPr>
          <a:xfrm>
            <a:off x="542068" y="2032730"/>
            <a:ext cx="971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Distância</a:t>
            </a:r>
          </a:p>
        </p:txBody>
      </p:sp>
      <p:sp>
        <p:nvSpPr>
          <p:cNvPr id="542" name="Retângulo: Cantos Arredondados 541">
            <a:extLst>
              <a:ext uri="{FF2B5EF4-FFF2-40B4-BE49-F238E27FC236}">
                <a16:creationId xmlns:a16="http://schemas.microsoft.com/office/drawing/2014/main" id="{CE3DD7E9-0D84-43EE-BC23-3E62A6C16813}"/>
              </a:ext>
            </a:extLst>
          </p:cNvPr>
          <p:cNvSpPr>
            <a:spLocks noGrp="1"/>
          </p:cNvSpPr>
          <p:nvPr/>
        </p:nvSpPr>
        <p:spPr>
          <a:xfrm>
            <a:off x="1608868" y="1937480"/>
            <a:ext cx="1523876" cy="209550"/>
          </a:xfrm>
          <a:prstGeom prst="roundRect">
            <a:avLst>
              <a:gd name="adj" fmla="val 27273"/>
            </a:avLst>
          </a:prstGeom>
          <a:solidFill>
            <a:srgbClr val="AEB8CC"/>
          </a:solidFill>
          <a:ln w="0">
            <a:solidFill>
              <a:srgbClr val="AEB8CC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43" name="Retângulo: Cantos Arredondados 542">
            <a:extLst>
              <a:ext uri="{FF2B5EF4-FFF2-40B4-BE49-F238E27FC236}">
                <a16:creationId xmlns:a16="http://schemas.microsoft.com/office/drawing/2014/main" id="{8AC6EABA-2AE3-407E-BFE2-6D28BB4A2B74}"/>
              </a:ext>
            </a:extLst>
          </p:cNvPr>
          <p:cNvSpPr>
            <a:spLocks noGrp="1"/>
          </p:cNvSpPr>
          <p:nvPr/>
        </p:nvSpPr>
        <p:spPr>
          <a:xfrm>
            <a:off x="1608868" y="2261330"/>
            <a:ext cx="3310468" cy="209550"/>
          </a:xfrm>
          <a:prstGeom prst="roundRect">
            <a:avLst>
              <a:gd name="adj" fmla="val 27273"/>
            </a:avLst>
          </a:prstGeom>
          <a:solidFill>
            <a:srgbClr val="3357B8"/>
          </a:solidFill>
          <a:ln w="0">
            <a:solidFill>
              <a:srgbClr val="3357B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44" name="Retângulo 543">
            <a:extLst>
              <a:ext uri="{FF2B5EF4-FFF2-40B4-BE49-F238E27FC236}">
                <a16:creationId xmlns:a16="http://schemas.microsoft.com/office/drawing/2014/main" id="{B3922998-E91D-4266-B232-049756FBA2EF}"/>
              </a:ext>
            </a:extLst>
          </p:cNvPr>
          <p:cNvSpPr>
            <a:spLocks noGrp="1"/>
          </p:cNvSpPr>
          <p:nvPr/>
        </p:nvSpPr>
        <p:spPr>
          <a:xfrm>
            <a:off x="3208944" y="1889855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45" name="Retângulo 544">
            <a:extLst>
              <a:ext uri="{FF2B5EF4-FFF2-40B4-BE49-F238E27FC236}">
                <a16:creationId xmlns:a16="http://schemas.microsoft.com/office/drawing/2014/main" id="{68D13922-A060-44CB-9BA7-1B0108F364E8}"/>
              </a:ext>
            </a:extLst>
          </p:cNvPr>
          <p:cNvSpPr>
            <a:spLocks noGrp="1"/>
          </p:cNvSpPr>
          <p:nvPr/>
        </p:nvSpPr>
        <p:spPr>
          <a:xfrm>
            <a:off x="4847082" y="2213705"/>
            <a:ext cx="60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050" b="1">
                <a:solidFill>
                  <a:srgbClr val="335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217,24</a:t>
            </a:r>
          </a:p>
        </p:txBody>
      </p:sp>
      <p:sp>
        <p:nvSpPr>
          <p:cNvPr id="546" name="Retângulo 545">
            <a:extLst>
              <a:ext uri="{FF2B5EF4-FFF2-40B4-BE49-F238E27FC236}">
                <a16:creationId xmlns:a16="http://schemas.microsoft.com/office/drawing/2014/main" id="{B5A08E63-C26B-45A7-B1BF-EB10D83CCEFF}"/>
              </a:ext>
            </a:extLst>
          </p:cNvPr>
          <p:cNvSpPr>
            <a:spLocks noGrp="1"/>
          </p:cNvSpPr>
          <p:nvPr/>
        </p:nvSpPr>
        <p:spPr>
          <a:xfrm>
            <a:off x="542068" y="3318605"/>
            <a:ext cx="971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Emissões</a:t>
            </a:r>
          </a:p>
        </p:txBody>
      </p:sp>
      <p:sp>
        <p:nvSpPr>
          <p:cNvPr id="547" name="Retângulo: Cantos Arredondados 546">
            <a:extLst>
              <a:ext uri="{FF2B5EF4-FFF2-40B4-BE49-F238E27FC236}">
                <a16:creationId xmlns:a16="http://schemas.microsoft.com/office/drawing/2014/main" id="{32236CE4-735F-4EA2-9EC9-98144EEF170D}"/>
              </a:ext>
            </a:extLst>
          </p:cNvPr>
          <p:cNvSpPr>
            <a:spLocks noGrp="1"/>
          </p:cNvSpPr>
          <p:nvPr/>
        </p:nvSpPr>
        <p:spPr>
          <a:xfrm>
            <a:off x="1608868" y="3223355"/>
            <a:ext cx="1523876" cy="209550"/>
          </a:xfrm>
          <a:prstGeom prst="roundRect">
            <a:avLst>
              <a:gd name="adj" fmla="val 27273"/>
            </a:avLst>
          </a:prstGeom>
          <a:solidFill>
            <a:srgbClr val="AEB8CC"/>
          </a:solidFill>
          <a:ln w="0">
            <a:solidFill>
              <a:srgbClr val="AEB8CC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48" name="Retângulo: Cantos Arredondados 547">
            <a:extLst>
              <a:ext uri="{FF2B5EF4-FFF2-40B4-BE49-F238E27FC236}">
                <a16:creationId xmlns:a16="http://schemas.microsoft.com/office/drawing/2014/main" id="{003E5838-BBF0-4F82-8011-BF5C3B868287}"/>
              </a:ext>
            </a:extLst>
          </p:cNvPr>
          <p:cNvSpPr>
            <a:spLocks noGrp="1"/>
          </p:cNvSpPr>
          <p:nvPr/>
        </p:nvSpPr>
        <p:spPr>
          <a:xfrm>
            <a:off x="1608868" y="3547205"/>
            <a:ext cx="1031664" cy="209550"/>
          </a:xfrm>
          <a:prstGeom prst="roundRect">
            <a:avLst>
              <a:gd name="adj" fmla="val 27273"/>
            </a:avLst>
          </a:prstGeom>
          <a:solidFill>
            <a:srgbClr val="3357B8"/>
          </a:solidFill>
          <a:ln w="0">
            <a:solidFill>
              <a:srgbClr val="3357B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49" name="Retângulo 548">
            <a:extLst>
              <a:ext uri="{FF2B5EF4-FFF2-40B4-BE49-F238E27FC236}">
                <a16:creationId xmlns:a16="http://schemas.microsoft.com/office/drawing/2014/main" id="{3F42C3F8-0F46-4573-AFAA-72701D20A080}"/>
              </a:ext>
            </a:extLst>
          </p:cNvPr>
          <p:cNvSpPr>
            <a:spLocks noGrp="1"/>
          </p:cNvSpPr>
          <p:nvPr/>
        </p:nvSpPr>
        <p:spPr>
          <a:xfrm>
            <a:off x="3208944" y="317573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50" name="Retângulo 549">
            <a:extLst>
              <a:ext uri="{FF2B5EF4-FFF2-40B4-BE49-F238E27FC236}">
                <a16:creationId xmlns:a16="http://schemas.microsoft.com/office/drawing/2014/main" id="{C3B7B385-8E0B-4BF8-BD08-40243D879D27}"/>
              </a:ext>
            </a:extLst>
          </p:cNvPr>
          <p:cNvSpPr>
            <a:spLocks noGrp="1"/>
          </p:cNvSpPr>
          <p:nvPr/>
        </p:nvSpPr>
        <p:spPr>
          <a:xfrm>
            <a:off x="2716732" y="3499580"/>
            <a:ext cx="60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050" b="1">
                <a:solidFill>
                  <a:srgbClr val="335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67,70</a:t>
            </a:r>
          </a:p>
        </p:txBody>
      </p:sp>
      <p:sp>
        <p:nvSpPr>
          <p:cNvPr id="551" name="Retângulo 550">
            <a:extLst>
              <a:ext uri="{FF2B5EF4-FFF2-40B4-BE49-F238E27FC236}">
                <a16:creationId xmlns:a16="http://schemas.microsoft.com/office/drawing/2014/main" id="{590696B7-F830-45C3-AD37-635AD597D340}"/>
              </a:ext>
            </a:extLst>
          </p:cNvPr>
          <p:cNvSpPr>
            <a:spLocks noGrp="1"/>
          </p:cNvSpPr>
          <p:nvPr/>
        </p:nvSpPr>
        <p:spPr>
          <a:xfrm>
            <a:off x="542068" y="4604480"/>
            <a:ext cx="9715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Custo</a:t>
            </a:r>
          </a:p>
        </p:txBody>
      </p:sp>
      <p:sp>
        <p:nvSpPr>
          <p:cNvPr id="552" name="Retângulo: Cantos Arredondados 551">
            <a:extLst>
              <a:ext uri="{FF2B5EF4-FFF2-40B4-BE49-F238E27FC236}">
                <a16:creationId xmlns:a16="http://schemas.microsoft.com/office/drawing/2014/main" id="{D2B202BE-C0E4-4D6D-AA72-BCE9E7D7C7B1}"/>
              </a:ext>
            </a:extLst>
          </p:cNvPr>
          <p:cNvSpPr>
            <a:spLocks noGrp="1"/>
          </p:cNvSpPr>
          <p:nvPr/>
        </p:nvSpPr>
        <p:spPr>
          <a:xfrm>
            <a:off x="1608868" y="4509230"/>
            <a:ext cx="1523876" cy="209550"/>
          </a:xfrm>
          <a:prstGeom prst="roundRect">
            <a:avLst>
              <a:gd name="adj" fmla="val 27273"/>
            </a:avLst>
          </a:prstGeom>
          <a:solidFill>
            <a:srgbClr val="AEB8CC"/>
          </a:solidFill>
          <a:ln w="0">
            <a:solidFill>
              <a:srgbClr val="AEB8CC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53" name="Retângulo: Cantos Arredondados 552">
            <a:extLst>
              <a:ext uri="{FF2B5EF4-FFF2-40B4-BE49-F238E27FC236}">
                <a16:creationId xmlns:a16="http://schemas.microsoft.com/office/drawing/2014/main" id="{693C5ED0-4DB6-4EE7-AA7D-C1FEBBE4AD5C}"/>
              </a:ext>
            </a:extLst>
          </p:cNvPr>
          <p:cNvSpPr>
            <a:spLocks noGrp="1"/>
          </p:cNvSpPr>
          <p:nvPr/>
        </p:nvSpPr>
        <p:spPr>
          <a:xfrm>
            <a:off x="1608868" y="4833080"/>
            <a:ext cx="812378" cy="209550"/>
          </a:xfrm>
          <a:prstGeom prst="roundRect">
            <a:avLst>
              <a:gd name="adj" fmla="val 27273"/>
            </a:avLst>
          </a:prstGeom>
          <a:solidFill>
            <a:srgbClr val="3357B8"/>
          </a:solidFill>
          <a:ln w="0">
            <a:solidFill>
              <a:srgbClr val="3357B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54" name="Retângulo 553">
            <a:extLst>
              <a:ext uri="{FF2B5EF4-FFF2-40B4-BE49-F238E27FC236}">
                <a16:creationId xmlns:a16="http://schemas.microsoft.com/office/drawing/2014/main" id="{DAB4EBB1-F8DF-44D8-8800-4F25D5207B3C}"/>
              </a:ext>
            </a:extLst>
          </p:cNvPr>
          <p:cNvSpPr>
            <a:spLocks noGrp="1"/>
          </p:cNvSpPr>
          <p:nvPr/>
        </p:nvSpPr>
        <p:spPr>
          <a:xfrm>
            <a:off x="3208944" y="4461605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050" b="0">
                <a:solidFill>
                  <a:srgbClr val="4B556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B5563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555" name="Retângulo 554">
            <a:extLst>
              <a:ext uri="{FF2B5EF4-FFF2-40B4-BE49-F238E27FC236}">
                <a16:creationId xmlns:a16="http://schemas.microsoft.com/office/drawing/2014/main" id="{82F0879C-D4F0-415F-B349-8F23246F8214}"/>
              </a:ext>
            </a:extLst>
          </p:cNvPr>
          <p:cNvSpPr>
            <a:spLocks noGrp="1"/>
          </p:cNvSpPr>
          <p:nvPr/>
        </p:nvSpPr>
        <p:spPr>
          <a:xfrm>
            <a:off x="2497446" y="4785455"/>
            <a:ext cx="60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050" b="1">
                <a:solidFill>
                  <a:srgbClr val="3357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357B8"/>
                </a:solidFill>
                <a:latin typeface="Arial"/>
                <a:ea typeface="Arial"/>
                <a:cs typeface="Arial"/>
              </a:rPr>
              <a:t>53,31</a:t>
            </a:r>
          </a:p>
        </p:txBody>
      </p:sp>
    </p:spTree>
    <p:extLst>
      <p:ext uri="{BB962C8B-B14F-4D97-AF65-F5344CB8AC3E}">
        <p14:creationId xmlns:p14="http://schemas.microsoft.com/office/powerpoint/2010/main" val="3993831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F5D028D-B73B-5BFF-0AA5-65F94FB570F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59F9B2FD-F323-2D0A-D581-D6E61055F9A8}" type="slidenum">
              <a:rPr sz="1050">
                <a:latin typeface="Arial"/>
                <a:ea typeface="Arial"/>
                <a:cs typeface="Arial"/>
              </a:rPr>
              <a:t>33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D035ED81-B82C-6CFE-FAA7-0911E05CD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1170935"/>
            <a:ext cx="11404600" cy="1797958"/>
          </a:xfrm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pPr algn="ctr">
              <a:buNone/>
            </a:pPr>
            <a:r>
              <a:rPr sz="42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5 · Implementação computacional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FF86C5-A7D2-315F-C644-70488B8E4BC8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5 · Implementação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6730FFED-E57C-67CB-4BAA-568126831AB5}"/>
              </a:ext>
            </a:extLst>
          </p:cNvPr>
          <p:cNvSpPr>
            <a:spLocks noGrp="1"/>
          </p:cNvSpPr>
          <p:nvPr/>
        </p:nvSpPr>
        <p:spPr>
          <a:xfrm>
            <a:off x="2549677" y="3297710"/>
            <a:ext cx="7092645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100">
                <a:latin typeface="Arial"/>
                <a:ea typeface="Arial"/>
                <a:cs typeface="Arial"/>
              </a:rPr>
              <a:t>O software reproduz a mesma ordem do método e separa a preparação histórica da execução de cada cenário.</a:t>
            </a:r>
          </a:p>
        </p:txBody>
      </p:sp>
    </p:spTree>
    <p:extLst>
      <p:ext uri="{BB962C8B-B14F-4D97-AF65-F5344CB8AC3E}">
        <p14:creationId xmlns:p14="http://schemas.microsoft.com/office/powerpoint/2010/main" val="3466142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PREPARAÇÃO HISTÓRICA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150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ANTAQ → limpeza e associação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→ viagens e carga a bordo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150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EU MRV → intensidade por IMO / tipo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150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Distâncias marítimas → subtrechos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sz="150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Saída: SeaMatrix versionada e persistida.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D6C2EC43-E3B9-C9B0-67FF-5447EB7F3925}" type="slidenum">
              <a:rPr sz="1050">
                <a:latin typeface="Arial"/>
                <a:ea typeface="Arial"/>
                <a:cs typeface="Arial"/>
              </a:rPr>
              <a:t>34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Preparar a base uma vez evita reconstruções a cada consulta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EXECUÇÃO DO CENÁRIO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0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Origem + destino + massa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→ geocodificação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→ rodovia direta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→ portos e acessos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→ consulta SeaMatrix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→ portos, navegação e agregação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endParaRPr sz="1500">
              <a:latin typeface="Arial"/>
              <a:ea typeface="Arial"/>
              <a:cs typeface="Arial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latin typeface="Arial"/>
                <a:ea typeface="Arial"/>
                <a:cs typeface="Arial"/>
              </a:rPr>
              <a:t>Saída: resultado + procedência.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5 · Implementação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50">
                <a:latin typeface="Arial"/>
                <a:ea typeface="Arial"/>
                <a:cs typeface="Arial"/>
              </a:rPr>
              <a:t>Python organiza domínio, integrações, persistência e interface em componentes separados.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3822700"/>
            <a:ext cx="2595934" cy="1168400"/>
          </a:xfrm>
        </p:spPr>
        <p:txBody>
          <a:bodyPr>
            <a:normAutofit fontScale="95943"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Normalizar e localizar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Arial"/>
                <a:ea typeface="Arial"/>
                <a:cs typeface="Arial"/>
              </a:rPr>
              <a:t>Validar origem, destino e massa; geocodificar com provedor e cache.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>
            <a:normAutofit/>
          </a:bodyPr>
          <a:lstStyle/>
          <a:p>
            <a:fld id="{4A4FA566-8B12-6DD2-DDB5-FA6393938FB6}" type="slidenum">
              <a:rPr sz="1050">
                <a:latin typeface="Arial"/>
                <a:ea typeface="Arial"/>
                <a:cs typeface="Arial"/>
              </a:rPr>
              <a:t>35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7846838" cy="1034893"/>
          </a:xfrm>
        </p:spPr>
        <p:txBody>
          <a:bodyPr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A execução percorre três blocos na mesma sequência do relatório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317119" y="3822700"/>
            <a:ext cx="2595934" cy="1168400"/>
          </a:xfrm>
        </p:spPr>
        <p:txBody>
          <a:bodyPr>
            <a:normAutofit fontScale="90302"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Construir alternativas</a:t>
            </a:r>
          </a:p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sz="1600"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Calcular rodovia; selecionar portos; obter acessos; consultar SeaMatrix; incluir terminais.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40538" y="3822700"/>
            <a:ext cx="2595934" cy="1168400"/>
          </a:xfrm>
        </p:spPr>
        <p:txBody>
          <a:bodyPr>
            <a:normAutofit fontScale="95943"/>
          </a:bodyPr>
          <a:lstStyle/>
          <a:p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Agregar e registrar</a:t>
            </a:r>
          </a:p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</a:pPr>
            <a:r>
              <a:rPr b="0" i="0" u="none" cap="none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Converter combustível em custo e TTW; salvar fontes, datas, fallbacks e avisos.</a:t>
            </a:r>
          </a:p>
        </p:txBody>
      </p:sp>
      <p:cxnSp>
        <p:nvCxnSpPr>
          <p:cNvPr id="30" name="Google Shape;2259;p159"/>
          <p:cNvCxnSpPr>
            <a:stCxn id="3" idx="2"/>
          </p:cNvCxnSpPr>
          <p:nvPr/>
        </p:nvCxnSpPr>
        <p:spPr>
          <a:xfrm>
            <a:off x="337718" y="3373753"/>
            <a:ext cx="12245400" cy="300"/>
          </a:xfrm>
          <a:prstGeom prst="straightConnector1">
            <a:avLst/>
          </a:prstGeom>
          <a:ln w="9525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>
            <a:spLocks noGrp="1"/>
          </p:cNvSpPr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>
            <a:spLocks noGrp="1"/>
          </p:cNvSpPr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>
            <a:spLocks noGrp="1"/>
          </p:cNvSpPr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>
            <a:spLocks noGrp="1"/>
          </p:cNvSpPr>
          <p:nvPr/>
        </p:nvSpPr>
        <p:spPr>
          <a:xfrm>
            <a:off x="393700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5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1 · ENTRADA</a:t>
            </a: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>
            <a:spLocks noGrp="1"/>
          </p:cNvSpPr>
          <p:nvPr/>
        </p:nvSpPr>
        <p:spPr>
          <a:xfrm>
            <a:off x="4294187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5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2 · CÁLCULO</a:t>
            </a: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>
            <a:spLocks noGrp="1"/>
          </p:cNvSpPr>
          <p:nvPr/>
        </p:nvSpPr>
        <p:spPr>
          <a:xfrm>
            <a:off x="8223249" y="2843266"/>
            <a:ext cx="1612900" cy="2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5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3 · SAÍDA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5 · Implementação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pPr marL="0" indent="0">
              <a:lnSpc>
                <a:spcPct val="108000"/>
              </a:lnSpc>
              <a:spcAft>
                <a:spcPts val="18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PREPARAÇÃO OFFLINE</a:t>
            </a:r>
          </a:p>
          <a:p>
            <a:pPr marL="20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 todos os recortes no sentido observado</a:t>
            </a:r>
          </a:p>
          <a:p>
            <a:pPr marL="20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 carga por subtrecho</a:t>
            </a:r>
          </a:p>
          <a:p>
            <a:pPr marL="20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 distância total por recorte</a:t>
            </a:r>
          </a:p>
          <a:p>
            <a:pPr marL="20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 intensidade por IMO ou tipo</a:t>
            </a:r>
          </a:p>
          <a:p>
            <a:pPr marL="20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 P95 de intensidade e de distância</a:t>
            </a:r>
          </a:p>
          <a:p>
            <a:pPr marL="20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 fonte e tratamento de cada valor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E39A338D-B192-3127-EB9A-53A2665A0BB7}" type="slidenum">
              <a:rPr sz="1050">
                <a:latin typeface="Arial"/>
                <a:ea typeface="Arial"/>
                <a:cs typeface="Arial"/>
              </a:rPr>
              <a:t>36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A SeaMatrix conserva método e procedência em cada par de portos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8000"/>
              </a:lnSpc>
              <a:spcAft>
                <a:spcPts val="18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CONSULTA ONLINE</a:t>
            </a:r>
          </a:p>
          <a:p>
            <a:pPr marL="0" indent="0">
              <a:lnSpc>
                <a:spcPct val="108000"/>
              </a:lnSpc>
              <a:spcAft>
                <a:spcPts val="14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Para o par selecionado, a aplicação recebe:</a:t>
            </a:r>
          </a:p>
          <a:p>
            <a:pPr marL="20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 distância representativa</a:t>
            </a:r>
          </a:p>
          <a:p>
            <a:pPr marL="20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 intensidade representativa</a:t>
            </a:r>
          </a:p>
          <a:p>
            <a:pPr marL="20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 número de recortes e corredores</a:t>
            </a:r>
          </a:p>
          <a:p>
            <a:pPr marL="20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 distribuição das fontes de intensidade</a:t>
            </a:r>
          </a:p>
          <a:p>
            <a:pPr marL="20" indent="-12">
              <a:lnSpc>
                <a:spcPct val="108000"/>
              </a:lnSpc>
              <a:spcAft>
                <a:spcPts val="10"/>
              </a:spcAft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11827"/>
                </a:solidFill>
                <a:latin typeface="Arial"/>
                <a:ea typeface="Arial"/>
                <a:cs typeface="Arial"/>
              </a:rPr>
              <a:t> avisos de Haversine</a:t>
            </a:r>
          </a:p>
          <a:p>
            <a:pPr marL="0" indent="0">
              <a:lnSpc>
                <a:spcPct val="108000"/>
              </a:lnSpc>
              <a:spcBef>
                <a:spcPts val="16"/>
              </a:spcBef>
              <a:buNone/>
              <a:defRPr sz="15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Sem refazer toda a ANTAQ.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5 · Implementação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50">
                <a:latin typeface="Arial"/>
                <a:ea typeface="Arial"/>
                <a:cs typeface="Arial"/>
              </a:rPr>
              <a:t>Santos → Manaus e Manaus → Santos são consultas diferentes.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Arial"/>
                <a:ea typeface="Arial"/>
                <a:cs typeface="Arial"/>
              </a:rPr>
              <a:t>⁠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8D334276-4C85-190E-BA41-5CA1CBB04E4E}" type="slidenum">
              <a:rPr sz="1050">
                <a:latin typeface="Arial"/>
                <a:ea typeface="Arial"/>
                <a:cs typeface="Arial"/>
              </a:rPr>
              <a:t>37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55026"/>
            <a:ext cx="7835900" cy="1029274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Router explica um cenário; Mapa de calor explora vários destinos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00">
                <a:latin typeface="Arial"/>
                <a:ea typeface="Arial"/>
                <a:cs typeface="Arial"/>
              </a:rPr>
              <a:t>⁠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5 · Implementação</a:t>
            </a: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FD46BF2A-8122-2E0A-E8CC-886653CF64DA}"/>
              </a:ext>
            </a:extLst>
          </p:cNvPr>
          <p:cNvSpPr>
            <a:spLocks noGrp="1"/>
          </p:cNvSpPr>
          <p:nvPr/>
        </p:nvSpPr>
        <p:spPr>
          <a:xfrm>
            <a:off x="393700" y="1310936"/>
            <a:ext cx="5537200" cy="719318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50">
                <a:latin typeface="Arial"/>
                <a:ea typeface="Arial"/>
                <a:cs typeface="Arial"/>
              </a:rPr>
              <a:t>As duas páginas usam o mesmo pipeline e apresentam resultados com seus componentes.</a:t>
            </a:r>
          </a:p>
        </p:txBody>
      </p:sp>
      <p:pic>
        <p:nvPicPr>
          <p:cNvPr id="543" name="Imagem 54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9868" y="2389158"/>
            <a:ext cx="5384768" cy="3408707"/>
          </a:xfrm>
          <a:prstGeom prst="rect">
            <a:avLst/>
          </a:prstGeom>
        </p:spPr>
      </p:pic>
      <p:pic>
        <p:nvPicPr>
          <p:cNvPr id="544" name="Imagem 54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173703" y="2268855"/>
            <a:ext cx="3719900" cy="364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1C5E7605-6E74-4190-8328-B451EC72C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99" y="2812968"/>
            <a:ext cx="5537200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O total final não basta. O sistema preserva entradas, rotas, portos, ligação marítima, preços, fatores, critérios estatísticos, aproximações e mensagens de qualidade.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0F4A2AFE-97A2-48B7-BF9E-01705149856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855A7F00-3259-A23D-D734-A322A9F9DD63}" type="slidenum">
              <a:rPr sz="1050">
                <a:latin typeface="Arial"/>
                <a:ea typeface="Arial"/>
                <a:cs typeface="Arial"/>
              </a:rPr>
              <a:t>38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5 · Implementação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A3548D03-1D0F-655D-DD48-D4BF5C80F44D}"/>
              </a:ext>
            </a:extLst>
          </p:cNvPr>
          <p:cNvSpPr>
            <a:spLocks noGrp="1"/>
          </p:cNvSpPr>
          <p:nvPr/>
        </p:nvSpPr>
        <p:spPr>
          <a:xfrm>
            <a:off x="393700" y="2111025"/>
            <a:ext cx="1844403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Princípio</a:t>
            </a:r>
          </a:p>
        </p:txBody>
      </p:sp>
      <p:sp>
        <p:nvSpPr>
          <p:cNvPr id="6" name="Google Shape;534;p58">
            <a:extLst>
              <a:ext uri="{FF2B5EF4-FFF2-40B4-BE49-F238E27FC236}">
                <a16:creationId xmlns:a16="http://schemas.microsoft.com/office/drawing/2014/main" id="{4051D0BE-5D22-BCB4-EADF-44F16643D9F5}"/>
              </a:ext>
            </a:extLst>
          </p:cNvPr>
          <p:cNvSpPr>
            <a:spLocks noGrp="1"/>
          </p:cNvSpPr>
          <p:nvPr/>
        </p:nvSpPr>
        <p:spPr>
          <a:xfrm>
            <a:off x="6260109" y="2826992"/>
            <a:ext cx="5537200" cy="100108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25">
                <a:latin typeface="Arial"/>
                <a:ea typeface="Arial"/>
                <a:cs typeface="Arial"/>
              </a:rPr>
              <a:t>Provedor e cache da rota, par de portos, cobertura da SeaMatrix, intensidade por IMO ou tipo e datas dos preços.</a:t>
            </a: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EE26938C-7FB7-798D-7C48-988932737F6D}"/>
              </a:ext>
            </a:extLst>
          </p:cNvPr>
          <p:cNvSpPr>
            <a:spLocks noGrp="1"/>
          </p:cNvSpPr>
          <p:nvPr/>
        </p:nvSpPr>
        <p:spPr>
          <a:xfrm>
            <a:off x="6260109" y="2344035"/>
            <a:ext cx="5537200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50">
                <a:latin typeface="Arial"/>
                <a:ea typeface="Arial"/>
                <a:cs typeface="Arial"/>
              </a:rPr>
              <a:t>Procedência operacional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944AF173-BF22-B5ED-B88F-9080D8699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1046195"/>
            <a:ext cx="11403610" cy="623819"/>
          </a:xfrm>
        </p:spPr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O resultado registra como foi construído</a:t>
            </a:r>
          </a:p>
        </p:txBody>
      </p:sp>
      <p:sp>
        <p:nvSpPr>
          <p:cNvPr id="11" name="Subtitle 4">
            <a:extLst>
              <a:ext uri="{FF2B5EF4-FFF2-40B4-BE49-F238E27FC236}">
                <a16:creationId xmlns:a16="http://schemas.microsoft.com/office/drawing/2014/main" id="{42E9C51D-AB09-8D83-4157-006D57137348}"/>
              </a:ext>
            </a:extLst>
          </p:cNvPr>
          <p:cNvSpPr>
            <a:spLocks noGrp="1"/>
          </p:cNvSpPr>
          <p:nvPr/>
        </p:nvSpPr>
        <p:spPr>
          <a:xfrm>
            <a:off x="393699" y="392242"/>
            <a:ext cx="3578411" cy="345178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65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5.7 · RASTREABILIDADE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F2F7C95B-7A8C-4708-ABC8-6A554EDFED31}"/>
              </a:ext>
            </a:extLst>
          </p:cNvPr>
          <p:cNvSpPr>
            <a:spLocks noGrp="1"/>
          </p:cNvSpPr>
          <p:nvPr/>
        </p:nvSpPr>
        <p:spPr>
          <a:xfrm>
            <a:off x="6261100" y="4039769"/>
            <a:ext cx="5537200" cy="0"/>
          </a:xfrm>
          <a:prstGeom prst="line">
            <a:avLst/>
          </a:prstGeom>
          <a:ln w="12700"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16" name="Google Shape;534;p58">
            <a:extLst>
              <a:ext uri="{FF2B5EF4-FFF2-40B4-BE49-F238E27FC236}">
                <a16:creationId xmlns:a16="http://schemas.microsoft.com/office/drawing/2014/main" id="{108E1773-B682-C5EE-6944-58546A384F37}"/>
              </a:ext>
            </a:extLst>
          </p:cNvPr>
          <p:cNvSpPr>
            <a:spLocks noGrp="1"/>
          </p:cNvSpPr>
          <p:nvPr/>
        </p:nvSpPr>
        <p:spPr>
          <a:xfrm>
            <a:off x="6260109" y="4867987"/>
            <a:ext cx="5537200" cy="120023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25">
                <a:latin typeface="Arial"/>
                <a:ea typeface="Arial"/>
                <a:cs typeface="Arial"/>
              </a:rPr>
              <a:t>Git registra as regras de cálculo; Supabase persiste matrizes, caches e resultados reutilizáveis.</a:t>
            </a:r>
          </a:p>
        </p:txBody>
      </p:sp>
      <p:sp>
        <p:nvSpPr>
          <p:cNvPr id="17" name="Google Shape;534;p58">
            <a:extLst>
              <a:ext uri="{FF2B5EF4-FFF2-40B4-BE49-F238E27FC236}">
                <a16:creationId xmlns:a16="http://schemas.microsoft.com/office/drawing/2014/main" id="{1C1F2FD8-0D30-C7BF-5234-6F0EE46F0DC3}"/>
              </a:ext>
            </a:extLst>
          </p:cNvPr>
          <p:cNvSpPr>
            <a:spLocks noGrp="1"/>
          </p:cNvSpPr>
          <p:nvPr/>
        </p:nvSpPr>
        <p:spPr>
          <a:xfrm>
            <a:off x="6260109" y="4385030"/>
            <a:ext cx="5537200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50">
                <a:latin typeface="Arial"/>
                <a:ea typeface="Arial"/>
                <a:cs typeface="Arial"/>
              </a:rPr>
              <a:t>Reprodução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6B487F-1A7A-C301-4AB8-8DC1C19839AB}"/>
              </a:ext>
            </a:extLst>
          </p:cNvPr>
          <p:cNvSpPr>
            <a:spLocks noGrp="1"/>
          </p:cNvSpPr>
          <p:nvPr/>
        </p:nvSpPr>
        <p:spPr>
          <a:xfrm>
            <a:off x="2349499" y="2093356"/>
            <a:ext cx="2271780" cy="402442"/>
          </a:xfrm>
          <a:prstGeom prst="roundRect">
            <a:avLst>
              <a:gd name="adj" fmla="val 15738"/>
            </a:avLst>
          </a:prstGeom>
          <a:solidFill>
            <a:schemeClr val="accent1">
              <a:alpha val="2464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buNone/>
            </a:pPr>
            <a:r>
              <a:rPr sz="1425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auditável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AF61EC-DBA0-BFB1-3293-0BF5DB670691}"/>
              </a:ext>
            </a:extLst>
          </p:cNvPr>
          <p:cNvSpPr>
            <a:spLocks noGrp="1"/>
          </p:cNvSpPr>
          <p:nvPr/>
        </p:nvSpPr>
        <p:spPr>
          <a:xfrm>
            <a:off x="393699" y="4756098"/>
            <a:ext cx="5537199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Efeito prático</a:t>
            </a:r>
          </a:p>
        </p:txBody>
      </p:sp>
      <p:sp>
        <p:nvSpPr>
          <p:cNvPr id="18" name="Google Shape;534;p58">
            <a:extLst>
              <a:ext uri="{FF2B5EF4-FFF2-40B4-BE49-F238E27FC236}">
                <a16:creationId xmlns:a16="http://schemas.microsoft.com/office/drawing/2014/main" id="{47E14DB1-10CD-1A00-06DC-F11F90562A04}"/>
              </a:ext>
            </a:extLst>
          </p:cNvPr>
          <p:cNvSpPr>
            <a:spLocks noGrp="1"/>
          </p:cNvSpPr>
          <p:nvPr/>
        </p:nvSpPr>
        <p:spPr>
          <a:xfrm>
            <a:off x="386251" y="5134071"/>
            <a:ext cx="5537200" cy="86032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50">
                <a:latin typeface="Arial"/>
                <a:ea typeface="Arial"/>
                <a:cs typeface="Arial"/>
              </a:rPr>
              <a:t>Fallbacks permanecem visíveis; nenhuma aproximação desaparece dentro do total.</a:t>
            </a:r>
          </a:p>
        </p:txBody>
      </p:sp>
    </p:spTree>
    <p:extLst>
      <p:ext uri="{BB962C8B-B14F-4D97-AF65-F5344CB8AC3E}">
        <p14:creationId xmlns:p14="http://schemas.microsoft.com/office/powerpoint/2010/main" val="2659897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6166C477-A387-35CF-F492-F54B4FA4FEC9}" type="slidenum">
              <a:rPr sz="1050">
                <a:latin typeface="Arial"/>
                <a:ea typeface="Arial"/>
                <a:cs typeface="Arial"/>
              </a:rPr>
              <a:t>39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noGrp="1"/>
          </p:cNvSpPr>
          <p:nvPr/>
        </p:nvSpPr>
        <p:spPr>
          <a:xfrm>
            <a:off x="43089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noGrp="1"/>
          </p:cNvSpPr>
          <p:nvPr/>
        </p:nvSpPr>
        <p:spPr>
          <a:xfrm>
            <a:off x="8229600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noGrp="1"/>
          </p:cNvSpPr>
          <p:nvPr/>
        </p:nvSpPr>
        <p:spPr>
          <a:xfrm>
            <a:off x="4621821" y="4146160"/>
            <a:ext cx="2949339" cy="143287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Log-In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Arial"/>
                <a:ea typeface="Arial"/>
                <a:cs typeface="Arial"/>
              </a:rPr>
              <a:t>Multimodal: 0,15% de diferença na distância e 5,3% nas emissões; rodovia diverge.</a:t>
            </a:r>
          </a:p>
        </p:txBody>
      </p:sp>
      <p:sp>
        <p:nvSpPr>
          <p:cNvPr id="13" name="Content Placeholder 10">
            <a:extLst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noGrp="1"/>
          </p:cNvSpPr>
          <p:nvPr/>
        </p:nvSpPr>
        <p:spPr>
          <a:xfrm>
            <a:off x="8536094" y="4146160"/>
            <a:ext cx="2949339" cy="143287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ANTT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Arial"/>
                <a:ea typeface="Arial"/>
                <a:cs typeface="Arial"/>
              </a:rPr>
              <a:t>Combustível equivale a 57,8% do piso mínimo; são grandezas econômicas diferentes.</a:t>
            </a:r>
          </a:p>
        </p:txBody>
      </p:sp>
      <p:sp>
        <p:nvSpPr>
          <p:cNvPr id="14" name="Google Shape;340;p61">
            <a:extLst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noGrp="1"/>
          </p:cNvSpPr>
          <p:nvPr/>
        </p:nvSpPr>
        <p:spPr>
          <a:xfrm>
            <a:off x="46276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15" name="Google Shape;340;p61">
            <a:extLst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noGrp="1"/>
          </p:cNvSpPr>
          <p:nvPr/>
        </p:nvSpPr>
        <p:spPr>
          <a:xfrm>
            <a:off x="8533270" y="3694102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AC9A03-119F-393D-2295-2587BE7C4F73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6 · Comparações externas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755665"/>
          </a:xfrm>
        </p:spPr>
        <p:txBody>
          <a:bodyPr>
            <a:normAutofit fontScale="97258"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Ferramentas externas contextualizam o resultado — não o validam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noGrp="1"/>
          </p:cNvSpPr>
          <p:nvPr/>
        </p:nvSpPr>
        <p:spPr>
          <a:xfrm>
            <a:off x="422753" y="3365501"/>
            <a:ext cx="3568700" cy="26289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noGrp="1"/>
          </p:cNvSpPr>
          <p:nvPr/>
        </p:nvSpPr>
        <p:spPr>
          <a:xfrm>
            <a:off x="735621" y="4146160"/>
            <a:ext cx="2949339" cy="143287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Aliança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  <a:latin typeface="Arial"/>
                <a:ea typeface="Arial"/>
                <a:cs typeface="Arial"/>
              </a:rPr>
              <a:t>Redução TTW: 70,9% no CabotageLens e 76,0% na calculadora.</a:t>
            </a:r>
          </a:p>
        </p:txBody>
      </p:sp>
      <p:sp>
        <p:nvSpPr>
          <p:cNvPr id="7" name="Google Shape;340;p61">
            <a:extLst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noGrp="1"/>
          </p:cNvSpPr>
          <p:nvPr/>
        </p:nvSpPr>
        <p:spPr>
          <a:xfrm>
            <a:off x="741445" y="3694101"/>
            <a:ext cx="233806" cy="23371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/>
          </a:p>
        </p:txBody>
      </p:sp>
      <p:sp>
        <p:nvSpPr>
          <p:cNvPr id="17" name="Google Shape;534;p58">
            <a:extLst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noGrp="1"/>
          </p:cNvSpPr>
          <p:nvPr/>
        </p:nvSpPr>
        <p:spPr>
          <a:xfrm>
            <a:off x="393700" y="1820543"/>
            <a:ext cx="11404600" cy="1326615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Rota, fronteira e método diferem entre ferramentas. O relatório mantém essas diferenças explícitas e não ajusta resultados para criar equivalência artificial.</a:t>
            </a:r>
          </a:p>
        </p:txBody>
      </p:sp>
      <p:sp>
        <p:nvSpPr>
          <p:cNvPr id="18" name="Google Shape;534;p58">
            <a:extLst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noGrp="1"/>
          </p:cNvSpPr>
          <p:nvPr/>
        </p:nvSpPr>
        <p:spPr>
          <a:xfrm>
            <a:off x="393699" y="131801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725">
                <a:latin typeface="Arial"/>
                <a:ea typeface="Arial"/>
                <a:cs typeface="Arial"/>
              </a:rPr>
              <a:t>6 · Comparações com escopos preservados</a:t>
            </a: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C0C89EF0-BE71-8D92-BDDF-FF7D05F0AC04}" type="slidenum">
              <a:rPr sz="1050">
                <a:latin typeface="Arial"/>
                <a:ea typeface="Arial"/>
                <a:cs typeface="Arial"/>
              </a:rPr>
              <a:t>40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344009"/>
            <a:ext cx="11404599" cy="595791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r>
              <a:rPr>
                <a:solidFill>
                  <a:schemeClr val="accent1"/>
                </a:solidFill>
                <a:latin typeface="Arial"/>
                <a:ea typeface="Arial"/>
                <a:cs typeface="Arial"/>
              </a:rPr>
              <a:t>Quatro limites orientam a interpretação dos resultados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noGrp="1"/>
          </p:cNvSpPr>
          <p:nvPr/>
        </p:nvSpPr>
        <p:spPr>
          <a:xfrm>
            <a:off x="6264412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noGrp="1"/>
          </p:cNvSpPr>
          <p:nvPr/>
        </p:nvSpPr>
        <p:spPr>
          <a:xfrm>
            <a:off x="409043" y="253749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noGrp="1"/>
          </p:cNvSpPr>
          <p:nvPr/>
        </p:nvSpPr>
        <p:spPr>
          <a:xfrm>
            <a:off x="70627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Não inclui WTW, LCA, infraestrutura ou fabricação de veículos e equipamentos.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noGrp="1"/>
          </p:cNvSpPr>
          <p:nvPr/>
        </p:nvSpPr>
        <p:spPr>
          <a:xfrm>
            <a:off x="6264412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noGrp="1"/>
          </p:cNvSpPr>
          <p:nvPr/>
        </p:nvSpPr>
        <p:spPr>
          <a:xfrm>
            <a:off x="409043" y="4370106"/>
            <a:ext cx="5533887" cy="1638300"/>
          </a:xfrm>
          <a:prstGeom prst="roundRect">
            <a:avLst>
              <a:gd name="adj" fmla="val 3585"/>
            </a:avLst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4694142-7504-448C-B110-ABCB1A6DD41E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7 · Conclusões</a:t>
            </a:r>
          </a:p>
        </p:txBody>
      </p:sp>
      <p:sp>
        <p:nvSpPr>
          <p:cNvPr id="12" name="Google Shape;534;p58">
            <a:extLst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noGrp="1"/>
          </p:cNvSpPr>
          <p:nvPr/>
        </p:nvSpPr>
        <p:spPr>
          <a:xfrm>
            <a:off x="393700" y="1649094"/>
            <a:ext cx="11404600" cy="634044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99212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O modelo compara cenários sob premissas explícitas; não substitui planejamento comercial ou simulação operacional detalhada.</a:t>
            </a:r>
          </a:p>
        </p:txBody>
      </p:sp>
      <p:sp>
        <p:nvSpPr>
          <p:cNvPr id="13" name="Google Shape;534;p58">
            <a:extLst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noGrp="1"/>
          </p:cNvSpPr>
          <p:nvPr/>
        </p:nvSpPr>
        <p:spPr>
          <a:xfrm>
            <a:off x="393699" y="1146566"/>
            <a:ext cx="11404599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96200"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Arial"/>
                <a:ea typeface="Arial"/>
                <a:cs typeface="Arial"/>
              </a:rPr>
              <a:t>Condições de leitura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noGrp="1"/>
          </p:cNvSpPr>
          <p:nvPr/>
        </p:nvSpPr>
        <p:spPr>
          <a:xfrm>
            <a:off x="70296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TTW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noGrp="1"/>
          </p:cNvSpPr>
          <p:nvPr/>
        </p:nvSpPr>
        <p:spPr>
          <a:xfrm>
            <a:off x="6558438" y="325089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Não reproduz velocidade, calado, clima e condição de uma viagem específica.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noGrp="1"/>
          </p:cNvSpPr>
          <p:nvPr/>
        </p:nvSpPr>
        <p:spPr>
          <a:xfrm>
            <a:off x="6555127" y="279380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Médias históricas</a:t>
            </a: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noGrp="1"/>
          </p:cNvSpPr>
          <p:nvPr/>
        </p:nvSpPr>
        <p:spPr>
          <a:xfrm>
            <a:off x="70627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Não representa frete, seguro, estoque, tarifa, negociação ou permanência.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noGrp="1"/>
          </p:cNvSpPr>
          <p:nvPr/>
        </p:nvSpPr>
        <p:spPr>
          <a:xfrm>
            <a:off x="70296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Custo de combustível</a:t>
            </a: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noGrp="1"/>
          </p:cNvSpPr>
          <p:nvPr/>
        </p:nvSpPr>
        <p:spPr>
          <a:xfrm>
            <a:off x="6558438" y="5094931"/>
            <a:ext cx="4986886" cy="59753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latin typeface="Arial"/>
                <a:ea typeface="Arial"/>
                <a:cs typeface="Arial"/>
              </a:rPr>
              <a:t>Escalas observadas não garantem frequência, capacidade ou disponibilidade futura.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noGrp="1"/>
          </p:cNvSpPr>
          <p:nvPr/>
        </p:nvSpPr>
        <p:spPr>
          <a:xfrm>
            <a:off x="6555127" y="4637848"/>
            <a:ext cx="4986886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65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Oferta do serviço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1C5E7605-6E74-4190-8328-B451EC72C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99" y="2812968"/>
            <a:ext cx="5537200" cy="186590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latin typeface="Arial"/>
                <a:ea typeface="Arial"/>
                <a:cs typeface="Arial"/>
              </a:rPr>
              <a:t>A alternativa multimodal percorreu 117,24% mais quilômetros, mas apresentou 32,30% menos CO₂e TTW e 46,69% menor custo modelado do combustível.</a:t>
            </a:r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0F4A2AFE-97A2-48B7-BF9E-01705149856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prstGeom prst="rect">
            <a:avLst/>
          </a:prstGeom>
        </p:spPr>
        <p:txBody>
          <a:bodyPr spcFirstLastPara="1" vert="horz" wrap="square" lIns="0" tIns="0" rIns="0" bIns="0" anchor="b">
            <a:normAutofit/>
          </a:bodyPr>
          <a:lstStyle/>
          <a:p>
            <a:fld id="{9CAEC632-A9E6-82AB-6034-3014BC3905A0}" type="slidenum">
              <a:rPr sz="1050">
                <a:latin typeface="Arial"/>
                <a:ea typeface="Arial"/>
                <a:cs typeface="Arial"/>
              </a:rPr>
              <a:t>41</a:t>
            </a:fld>
            <a:endParaRPr sz="1050">
              <a:latin typeface="Arial"/>
              <a:ea typeface="Arial"/>
              <a:cs typeface="Arial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941D6B-3AD0-04BD-76AF-506638666ACC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r>
              <a:rPr>
                <a:latin typeface="Arial"/>
                <a:ea typeface="Arial"/>
                <a:cs typeface="Arial"/>
              </a:rPr>
              <a:t>CabotageLens · 7 · Conclusões</a:t>
            </a:r>
          </a:p>
        </p:txBody>
      </p:sp>
      <p:sp>
        <p:nvSpPr>
          <p:cNvPr id="5" name="Google Shape;534;p58">
            <a:extLst>
              <a:ext uri="{FF2B5EF4-FFF2-40B4-BE49-F238E27FC236}">
                <a16:creationId xmlns:a16="http://schemas.microsoft.com/office/drawing/2014/main" id="{A3548D03-1D0F-655D-DD48-D4BF5C80F44D}"/>
              </a:ext>
            </a:extLst>
          </p:cNvPr>
          <p:cNvSpPr>
            <a:spLocks noGrp="1"/>
          </p:cNvSpPr>
          <p:nvPr/>
        </p:nvSpPr>
        <p:spPr>
          <a:xfrm>
            <a:off x="393700" y="2111025"/>
            <a:ext cx="1844403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75">
                <a:latin typeface="Arial"/>
                <a:ea typeface="Arial"/>
                <a:cs typeface="Arial"/>
              </a:rPr>
              <a:t>Exemplo</a:t>
            </a:r>
          </a:p>
        </p:txBody>
      </p:sp>
      <p:sp>
        <p:nvSpPr>
          <p:cNvPr id="6" name="Google Shape;534;p58">
            <a:extLst>
              <a:ext uri="{FF2B5EF4-FFF2-40B4-BE49-F238E27FC236}">
                <a16:creationId xmlns:a16="http://schemas.microsoft.com/office/drawing/2014/main" id="{4051D0BE-5D22-BCB4-EADF-44F16643D9F5}"/>
              </a:ext>
            </a:extLst>
          </p:cNvPr>
          <p:cNvSpPr>
            <a:spLocks noGrp="1"/>
          </p:cNvSpPr>
          <p:nvPr/>
        </p:nvSpPr>
        <p:spPr>
          <a:xfrm>
            <a:off x="6260109" y="2826992"/>
            <a:ext cx="5537200" cy="100108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25">
                <a:latin typeface="Arial"/>
                <a:ea typeface="Arial"/>
                <a:cs typeface="Arial"/>
              </a:rPr>
              <a:t>Reconstruir viagens ANTAQ, preservar escalas, calcular carga por subtrecho e ponderar intensidade pelo trabalho de transporte.</a:t>
            </a:r>
          </a:p>
        </p:txBody>
      </p:sp>
      <p:sp>
        <p:nvSpPr>
          <p:cNvPr id="7" name="Google Shape;534;p58">
            <a:extLst>
              <a:ext uri="{FF2B5EF4-FFF2-40B4-BE49-F238E27FC236}">
                <a16:creationId xmlns:a16="http://schemas.microsoft.com/office/drawing/2014/main" id="{EE26938C-7FB7-798D-7C48-988932737F6D}"/>
              </a:ext>
            </a:extLst>
          </p:cNvPr>
          <p:cNvSpPr>
            <a:spLocks noGrp="1"/>
          </p:cNvSpPr>
          <p:nvPr/>
        </p:nvSpPr>
        <p:spPr>
          <a:xfrm>
            <a:off x="6260109" y="2344035"/>
            <a:ext cx="5537200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50">
                <a:latin typeface="Arial"/>
                <a:ea typeface="Arial"/>
                <a:cs typeface="Arial"/>
              </a:rPr>
              <a:t>Contribuição metodológica</a:t>
            </a: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944AF173-BF22-B5ED-B88F-9080D8699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699" y="1046195"/>
            <a:ext cx="11403610" cy="623819"/>
          </a:xfrm>
        </p:spPr>
        <p:txBody>
          <a:bodyPr>
            <a:normAutofit/>
          </a:bodyPr>
          <a:lstStyle/>
          <a:p>
            <a:r>
              <a:rPr>
                <a:latin typeface="Arial"/>
                <a:ea typeface="Arial"/>
                <a:cs typeface="Arial"/>
              </a:rPr>
              <a:t>Distância isolada não decide a comparação modal</a:t>
            </a:r>
          </a:p>
        </p:txBody>
      </p:sp>
      <p:sp>
        <p:nvSpPr>
          <p:cNvPr id="11" name="Subtitle 4">
            <a:extLst>
              <a:ext uri="{FF2B5EF4-FFF2-40B4-BE49-F238E27FC236}">
                <a16:creationId xmlns:a16="http://schemas.microsoft.com/office/drawing/2014/main" id="{42E9C51D-AB09-8D83-4157-006D57137348}"/>
              </a:ext>
            </a:extLst>
          </p:cNvPr>
          <p:cNvSpPr>
            <a:spLocks noGrp="1"/>
          </p:cNvSpPr>
          <p:nvPr/>
        </p:nvSpPr>
        <p:spPr>
          <a:xfrm>
            <a:off x="393699" y="392242"/>
            <a:ext cx="3578411" cy="345178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165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7 · CONCLUSÕES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F2F7C95B-7A8C-4708-ABC8-6A554EDFED31}"/>
              </a:ext>
            </a:extLst>
          </p:cNvPr>
          <p:cNvSpPr>
            <a:spLocks noGrp="1"/>
          </p:cNvSpPr>
          <p:nvPr/>
        </p:nvSpPr>
        <p:spPr>
          <a:xfrm>
            <a:off x="6261100" y="4039769"/>
            <a:ext cx="5537200" cy="0"/>
          </a:xfrm>
          <a:prstGeom prst="line">
            <a:avLst/>
          </a:prstGeom>
          <a:ln w="12700"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  <p:sp>
        <p:nvSpPr>
          <p:cNvPr id="16" name="Google Shape;534;p58">
            <a:extLst>
              <a:ext uri="{FF2B5EF4-FFF2-40B4-BE49-F238E27FC236}">
                <a16:creationId xmlns:a16="http://schemas.microsoft.com/office/drawing/2014/main" id="{108E1773-B682-C5EE-6944-58546A384F37}"/>
              </a:ext>
            </a:extLst>
          </p:cNvPr>
          <p:cNvSpPr>
            <a:spLocks noGrp="1"/>
          </p:cNvSpPr>
          <p:nvPr/>
        </p:nvSpPr>
        <p:spPr>
          <a:xfrm>
            <a:off x="6260109" y="4867987"/>
            <a:ext cx="5537200" cy="120023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25">
                <a:latin typeface="Arial"/>
                <a:ea typeface="Arial"/>
                <a:cs typeface="Arial"/>
              </a:rPr>
              <a:t>Uma aplicação pública permite testar cenários e conferir premissas, fontes, aproximações e resultados.</a:t>
            </a:r>
          </a:p>
        </p:txBody>
      </p:sp>
      <p:sp>
        <p:nvSpPr>
          <p:cNvPr id="17" name="Google Shape;534;p58">
            <a:extLst>
              <a:ext uri="{FF2B5EF4-FFF2-40B4-BE49-F238E27FC236}">
                <a16:creationId xmlns:a16="http://schemas.microsoft.com/office/drawing/2014/main" id="{1C1F2FD8-0D30-C7BF-5234-6F0EE46F0DC3}"/>
              </a:ext>
            </a:extLst>
          </p:cNvPr>
          <p:cNvSpPr>
            <a:spLocks noGrp="1"/>
          </p:cNvSpPr>
          <p:nvPr/>
        </p:nvSpPr>
        <p:spPr>
          <a:xfrm>
            <a:off x="6260109" y="4385030"/>
            <a:ext cx="5537200" cy="402442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50">
                <a:latin typeface="Arial"/>
                <a:ea typeface="Arial"/>
                <a:cs typeface="Arial"/>
              </a:rPr>
              <a:t>Contribuição aplicada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6B487F-1A7A-C301-4AB8-8DC1C19839AB}"/>
              </a:ext>
            </a:extLst>
          </p:cNvPr>
          <p:cNvSpPr>
            <a:spLocks noGrp="1"/>
          </p:cNvSpPr>
          <p:nvPr/>
        </p:nvSpPr>
        <p:spPr>
          <a:xfrm>
            <a:off x="2349499" y="2093356"/>
            <a:ext cx="2271780" cy="402442"/>
          </a:xfrm>
          <a:prstGeom prst="roundRect">
            <a:avLst>
              <a:gd name="adj" fmla="val 15738"/>
            </a:avLst>
          </a:prstGeom>
          <a:solidFill>
            <a:schemeClr val="accent1">
              <a:alpha val="2464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>
              <a:buNone/>
            </a:pPr>
            <a:r>
              <a:rPr sz="1425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SP → Rio Branco · 14 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AF61EC-DBA0-BFB1-3293-0BF5DB670691}"/>
              </a:ext>
            </a:extLst>
          </p:cNvPr>
          <p:cNvSpPr>
            <a:spLocks noGrp="1"/>
          </p:cNvSpPr>
          <p:nvPr/>
        </p:nvSpPr>
        <p:spPr>
          <a:xfrm>
            <a:off x="393699" y="4756098"/>
            <a:ext cx="5537199" cy="312725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500" b="0" i="0" u="none" cap="none">
                <a:ln>
                  <a:noFill/>
                </a:ln>
                <a:solidFill>
                  <a:srgbClr val="3357B8"/>
                </a:solidFill>
                <a:latin typeface="Arial"/>
                <a:ea typeface="Arial"/>
                <a:cs typeface="Arial"/>
              </a:rPr>
              <a:t>Síntese</a:t>
            </a:r>
          </a:p>
        </p:txBody>
      </p:sp>
      <p:sp>
        <p:nvSpPr>
          <p:cNvPr id="18" name="Google Shape;534;p58">
            <a:extLst>
              <a:ext uri="{FF2B5EF4-FFF2-40B4-BE49-F238E27FC236}">
                <a16:creationId xmlns:a16="http://schemas.microsoft.com/office/drawing/2014/main" id="{47E14DB1-10CD-1A00-06DC-F11F90562A04}"/>
              </a:ext>
            </a:extLst>
          </p:cNvPr>
          <p:cNvSpPr>
            <a:spLocks noGrp="1"/>
          </p:cNvSpPr>
          <p:nvPr/>
        </p:nvSpPr>
        <p:spPr>
          <a:xfrm>
            <a:off x="386251" y="5134071"/>
            <a:ext cx="5537200" cy="860329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50">
                <a:latin typeface="Arial"/>
                <a:ea typeface="Arial"/>
                <a:cs typeface="Arial"/>
              </a:rPr>
              <a:t>A comparação só é defensável quando toda a cadeia logística e a procedência dos dados permanecem visíveis.</a:t>
            </a:r>
          </a:p>
        </p:txBody>
      </p:sp>
    </p:spTree>
    <p:extLst>
      <p:ext uri="{BB962C8B-B14F-4D97-AF65-F5344CB8AC3E}">
        <p14:creationId xmlns:p14="http://schemas.microsoft.com/office/powerpoint/2010/main" val="2659897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011EE4-C416-3EA2-180D-62404CE47D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937510"/>
            <a:ext cx="9448800" cy="2491490"/>
          </a:xfrm>
        </p:spPr>
        <p:txBody>
          <a:bodyPr>
            <a:normAutofit/>
          </a:bodyPr>
          <a:lstStyle/>
          <a:p>
            <a:r>
              <a:rPr sz="650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Obrigado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19B400D-E218-8301-7E00-C5A55230DE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1201" y="4532466"/>
            <a:ext cx="6458364" cy="138802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None/>
            </a:pPr>
            <a:r>
              <a:rPr sz="1950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Perguntas?</a:t>
            </a:r>
          </a:p>
          <a:p>
            <a:pPr>
              <a:lnSpc>
                <a:spcPct val="120000"/>
              </a:lnSpc>
              <a:buNone/>
            </a:pPr>
            <a:r>
              <a:rPr sz="1950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cabotagelens.streamlit.app</a:t>
            </a:r>
          </a:p>
          <a:p>
            <a:pPr>
              <a:lnSpc>
                <a:spcPct val="120000"/>
              </a:lnSpc>
              <a:buNone/>
            </a:pPr>
            <a:r>
              <a:rPr sz="1950">
                <a:solidFill>
                  <a:schemeClr val="accent2">
                    <a:lumMod val="50000"/>
                  </a:schemeClr>
                </a:solidFill>
                <a:latin typeface="Arial"/>
                <a:ea typeface="Arial"/>
                <a:cs typeface="Arial"/>
              </a:rPr>
              <a:t>github.com/pennylanesccp/cabotage-lens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CC8B7875-3D13-4BC0-98E4-827542DADC34}"/>
              </a:ext>
            </a:extLst>
          </p:cNvPr>
          <p:cNvSpPr>
            <a:spLocks noGrp="1"/>
          </p:cNvSpPr>
          <p:nvPr/>
        </p:nvSpPr>
        <p:spPr>
          <a:xfrm>
            <a:off x="-183260" y="3934067"/>
            <a:ext cx="125585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835545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4467</Words>
  <Application>Microsoft Office PowerPoint</Application>
  <DocSecurity>0</DocSecurity>
  <PresentationFormat>Widescreen</PresentationFormat>
  <Paragraphs>792</Paragraphs>
  <Slides>42</Slides>
  <Notes>42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7" baseType="lpstr">
      <vt:lpstr>Arial</vt:lpstr>
      <vt:lpstr>Roboto</vt:lpstr>
      <vt:lpstr>Lora SemiBold</vt:lpstr>
      <vt:lpstr>Roboto Medium</vt:lpstr>
      <vt:lpstr>Default Codex Theme</vt:lpstr>
      <vt:lpstr>CabotageLens comparação porta a porta</vt:lpstr>
      <vt:lpstr>A apresentação segue a ordem lógica do relatório</vt:lpstr>
      <vt:lpstr>O CabotageLens compara duas alternativas para o mesmo serviço</vt:lpstr>
      <vt:lpstr>A rodovia domina a matriz brasileira de cargas</vt:lpstr>
      <vt:lpstr>Comparar apenas caminhão e navio produziria serviços diferentes</vt:lpstr>
      <vt:lpstr>O escopo mantém as duas alternativas comparáveis</vt:lpstr>
      <vt:lpstr>3 · Fundamentação metodológica</vt:lpstr>
      <vt:lpstr>A literatura impõe três requisitos ao desenho do método</vt:lpstr>
      <vt:lpstr>O estudo compara desempenhos médios, não uma viagem instantânea</vt:lpstr>
      <vt:lpstr>4 · Metodologia</vt:lpstr>
      <vt:lpstr>Uma unidade funcional comum ancora todos os cálculos</vt:lpstr>
      <vt:lpstr>Cada fonte alimenta uma parte específica do cálculo</vt:lpstr>
      <vt:lpstr>A massa define o veículo; a rota define o diesel</vt:lpstr>
      <vt:lpstr>O mesmo volume de diesel gera dois resultados distintos</vt:lpstr>
      <vt:lpstr>Rodovia direta: referência do cenário</vt:lpstr>
      <vt:lpstr>A alternativa multimodal é a soma de quatro componentes</vt:lpstr>
      <vt:lpstr>Haversine seleciona o porto; a estrada calcula o consumo</vt:lpstr>
      <vt:lpstr>As operações portuárias entram como consumo próprio</vt:lpstr>
      <vt:lpstr>As tabelas Carga e Atracação têm funções complementares</vt:lpstr>
      <vt:lpstr>A chave de atracação transforma dois arquivos em viagens ordenadas</vt:lpstr>
      <vt:lpstr>A carga a bordo é reconstruída sem permitir saldo negativo</vt:lpstr>
      <vt:lpstr>O exemplo mostra de onde vem a carga de cada subtrecho</vt:lpstr>
      <vt:lpstr>O EU MRV transforma um ano de operação em intensidade verificada</vt:lpstr>
      <vt:lpstr>Uma hierarquia única define a intensidade de cada recorte</vt:lpstr>
      <vt:lpstr>O fallback preserva a viagem e explicita a referência coletiva</vt:lpstr>
      <vt:lpstr>Carga e distância determinam o peso de cada observação</vt:lpstr>
      <vt:lpstr>Distância e intensidade são consolidadas por médias distintas</vt:lpstr>
      <vt:lpstr>Cinco recortes explicam como as médias são formadas</vt:lpstr>
      <vt:lpstr>Os parâmetros históricos são aplicados à nova remessa</vt:lpstr>
      <vt:lpstr>Diesel e VLSFO só são agregados após a conversão</vt:lpstr>
      <vt:lpstr>O last mile concentra as emissões do exemplo</vt:lpstr>
      <vt:lpstr>A rota mais longa reduziu emissões e custo</vt:lpstr>
      <vt:lpstr>5 · Implementação computacional</vt:lpstr>
      <vt:lpstr>Preparar a base uma vez evita reconstruções a cada consulta</vt:lpstr>
      <vt:lpstr>A execução percorre três blocos na mesma sequência do relatório</vt:lpstr>
      <vt:lpstr>A SeaMatrix conserva método e procedência em cada par de portos</vt:lpstr>
      <vt:lpstr>Router explica um cenário; Mapa de calor explora vários destinos</vt:lpstr>
      <vt:lpstr>O resultado registra como foi construído</vt:lpstr>
      <vt:lpstr>Ferramentas externas contextualizam o resultado — não o validam</vt:lpstr>
      <vt:lpstr>Quatro limites orientam a interpretação dos resultados</vt:lpstr>
      <vt:lpstr>Distância isolada não decide a comparação modal</vt:lpstr>
      <vt:lpstr>Obrigado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Felipe Proença</cp:lastModifiedBy>
  <cp:revision>1</cp:revision>
  <dcterms:created xsi:type="dcterms:W3CDTF">2026-07-26T23:20:06Z</dcterms:created>
  <dcterms:modified xsi:type="dcterms:W3CDTF">2026-07-26T23:43:16Z</dcterms:modified>
</cp:coreProperties>
</file>