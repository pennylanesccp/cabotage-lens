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dc76261f404755" /><Relationship Type="http://schemas.openxmlformats.org/officeDocument/2006/relationships/extended-properties" Target="/docProps/app.xml" Id="Rc7ed50cd64424c77" /><Relationship Type="http://schemas.openxmlformats.org/officeDocument/2006/relationships/officeDocument" Target="/ppt/presentation.xml" Id="R22a6fa2531d44a8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a8dd48a778d481d"/>
  </p:sldMasterIdLst>
  <p:notesMasterIdLst>
    <p:notesMasterId xmlns:r="http://schemas.openxmlformats.org/officeDocument/2006/relationships" r:id="Rf5aa04323f6c45d5"/>
  </p:notesMasterIdLst>
  <p:sldIdLst>
    <p:sldId xmlns:r="http://schemas.openxmlformats.org/officeDocument/2006/relationships" id="256" r:id="R2ccc75b3e6074f9f"/>
    <p:sldId xmlns:r="http://schemas.openxmlformats.org/officeDocument/2006/relationships" id="257" r:id="R5032a46a68e1456d"/>
    <p:sldId xmlns:r="http://schemas.openxmlformats.org/officeDocument/2006/relationships" id="258" r:id="R8a26dbc79c994476"/>
    <p:sldId xmlns:r="http://schemas.openxmlformats.org/officeDocument/2006/relationships" id="259" r:id="Rfb4342153cf04ddb"/>
    <p:sldId xmlns:r="http://schemas.openxmlformats.org/officeDocument/2006/relationships" id="260" r:id="Rd688c2580ad7470b"/>
    <p:sldId xmlns:r="http://schemas.openxmlformats.org/officeDocument/2006/relationships" id="261" r:id="R5d2d7dca6e7a4075"/>
    <p:sldId xmlns:r="http://schemas.openxmlformats.org/officeDocument/2006/relationships" id="262" r:id="R2d669ce053894cec"/>
    <p:sldId xmlns:r="http://schemas.openxmlformats.org/officeDocument/2006/relationships" id="263" r:id="R7e1f9b9bd0f84b6e"/>
    <p:sldId xmlns:r="http://schemas.openxmlformats.org/officeDocument/2006/relationships" id="264" r:id="Rc6e80e22d7034676"/>
    <p:sldId xmlns:r="http://schemas.openxmlformats.org/officeDocument/2006/relationships" id="265" r:id="Rd5f3c47a31914cf1"/>
    <p:sldId xmlns:r="http://schemas.openxmlformats.org/officeDocument/2006/relationships" id="266" r:id="R04ad83b32a4b41f4"/>
    <p:sldId xmlns:r="http://schemas.openxmlformats.org/officeDocument/2006/relationships" id="267" r:id="Rff28465f83934b09"/>
    <p:sldId xmlns:r="http://schemas.openxmlformats.org/officeDocument/2006/relationships" id="268" r:id="R2312eccfb8254269"/>
    <p:sldId xmlns:r="http://schemas.openxmlformats.org/officeDocument/2006/relationships" id="269" r:id="Rd70aebc3d3fd4038"/>
    <p:sldId xmlns:r="http://schemas.openxmlformats.org/officeDocument/2006/relationships" id="270" r:id="R63681d9e30264b00"/>
    <p:sldId xmlns:r="http://schemas.openxmlformats.org/officeDocument/2006/relationships" id="271" r:id="R5b6f4d09949743e8"/>
    <p:sldId xmlns:r="http://schemas.openxmlformats.org/officeDocument/2006/relationships" id="272" r:id="Rf99895ab1f874863"/>
    <p:sldId xmlns:r="http://schemas.openxmlformats.org/officeDocument/2006/relationships" id="273" r:id="Re6a1e44c73c14dc0"/>
    <p:sldId xmlns:r="http://schemas.openxmlformats.org/officeDocument/2006/relationships" id="274" r:id="R9cf957b43d0a4269"/>
  </p:sldIdLst>
  <p:sldSz cx="12192000" cy="6858000"/>
  <p:notesSz cx="6858000" cy="9144000"/>
  <p:embeddedFontLst>
    <p:embeddedFont>
      <p:font typeface="Lora"/>
      <p:regular xmlns:r="http://schemas.openxmlformats.org/officeDocument/2006/relationships" r:id="R8ddc6dfd4661454e"/>
      <p:bold xmlns:r="http://schemas.openxmlformats.org/officeDocument/2006/relationships" r:id="Ra6d0d5ed2c504a65"/>
      <p:italic xmlns:r="http://schemas.openxmlformats.org/officeDocument/2006/relationships" r:id="R451342f383174e67"/>
      <p:boldItalic xmlns:r="http://schemas.openxmlformats.org/officeDocument/2006/relationships" r:id="R983be281c1b04e38"/>
    </p:embeddedFont>
    <p:embeddedFont>
      <p:font typeface="OpenAI Sans"/>
      <p:regular xmlns:r="http://schemas.openxmlformats.org/officeDocument/2006/relationships" r:id="R7a8bfa3b5361492e"/>
      <p:bold xmlns:r="http://schemas.openxmlformats.org/officeDocument/2006/relationships" r:id="R026acd13a59a4b4d"/>
      <p:italic xmlns:r="http://schemas.openxmlformats.org/officeDocument/2006/relationships" r:id="R1a2509c1156f4631"/>
      <p:boldItalic xmlns:r="http://schemas.openxmlformats.org/officeDocument/2006/relationships" r:id="R4ead00dec6d9421a"/>
    </p:embeddedFont>
    <p:embeddedFont>
      <p:font typeface="Roboto"/>
      <p:regular xmlns:r="http://schemas.openxmlformats.org/officeDocument/2006/relationships" r:id="Rc630d2612b78447b"/>
      <p:bold xmlns:r="http://schemas.openxmlformats.org/officeDocument/2006/relationships" r:id="R028efcca3bd54cdc"/>
      <p:italic xmlns:r="http://schemas.openxmlformats.org/officeDocument/2006/relationships" r:id="R978528e62f844a93"/>
      <p:boldItalic xmlns:r="http://schemas.openxmlformats.org/officeDocument/2006/relationships" r:id="R078a724649ed405a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c6a4d2d5954a39" /><Relationship Type="http://schemas.openxmlformats.org/officeDocument/2006/relationships/slideMaster" Target="/ppt/slideMasters/slideMaster1.xml" Id="R6a8dd48a778d481d" /><Relationship Type="http://schemas.openxmlformats.org/officeDocument/2006/relationships/notesMaster" Target="/ppt/notesMasters/notesMaster1.xml" Id="Rf5aa04323f6c45d5" /><Relationship Type="http://schemas.openxmlformats.org/officeDocument/2006/relationships/presProps" Target="/ppt/presProps.xml" Id="R02e53152e1bf4b41" /><Relationship Type="http://schemas.openxmlformats.org/officeDocument/2006/relationships/viewProps" Target="/ppt/viewProps.xml" Id="Re1090a9d0e494a64" /><Relationship Type="http://schemas.openxmlformats.org/officeDocument/2006/relationships/tableStyles" Target="/ppt/tableStyles.xml" Id="R18a18c1a0c84475c" /><Relationship Type="http://schemas.openxmlformats.org/officeDocument/2006/relationships/font" Target="/ppt/fonts/font.dat" Id="R8ddc6dfd4661454e" /><Relationship Type="http://schemas.openxmlformats.org/officeDocument/2006/relationships/font" Target="/ppt/fonts/font2.dat" Id="Ra6d0d5ed2c504a65" /><Relationship Type="http://schemas.openxmlformats.org/officeDocument/2006/relationships/font" Target="/ppt/fonts/font3.dat" Id="R451342f383174e67" /><Relationship Type="http://schemas.openxmlformats.org/officeDocument/2006/relationships/font" Target="/ppt/fonts/font4.dat" Id="R983be281c1b04e38" /><Relationship Type="http://schemas.openxmlformats.org/officeDocument/2006/relationships/font" Target="/ppt/fonts/font5.dat" Id="R7a8bfa3b5361492e" /><Relationship Type="http://schemas.openxmlformats.org/officeDocument/2006/relationships/font" Target="/ppt/fonts/font6.dat" Id="R026acd13a59a4b4d" /><Relationship Type="http://schemas.openxmlformats.org/officeDocument/2006/relationships/font" Target="/ppt/fonts/font7.dat" Id="R1a2509c1156f4631" /><Relationship Type="http://schemas.openxmlformats.org/officeDocument/2006/relationships/font" Target="/ppt/fonts/font8.dat" Id="R4ead00dec6d9421a" /><Relationship Type="http://schemas.openxmlformats.org/officeDocument/2006/relationships/font" Target="/ppt/fonts/font9.dat" Id="Rc630d2612b78447b" /><Relationship Type="http://schemas.openxmlformats.org/officeDocument/2006/relationships/font" Target="/ppt/fonts/font10.dat" Id="R028efcca3bd54cdc" /><Relationship Type="http://schemas.openxmlformats.org/officeDocument/2006/relationships/font" Target="/ppt/fonts/font11.dat" Id="R978528e62f844a93" /><Relationship Type="http://schemas.openxmlformats.org/officeDocument/2006/relationships/font" Target="/ppt/fonts/font12.dat" Id="R078a724649ed405a" /><Relationship Type="http://schemas.openxmlformats.org/officeDocument/2006/relationships/slide" Target="/ppt/slides/slide1.xml" Id="R2ccc75b3e6074f9f" /><Relationship Type="http://schemas.openxmlformats.org/officeDocument/2006/relationships/slide" Target="/ppt/slides/slide2.xml" Id="R5032a46a68e1456d" /><Relationship Type="http://schemas.openxmlformats.org/officeDocument/2006/relationships/slide" Target="/ppt/slides/slide3.xml" Id="R8a26dbc79c994476" /><Relationship Type="http://schemas.openxmlformats.org/officeDocument/2006/relationships/slide" Target="/ppt/slides/slide4.xml" Id="Rfb4342153cf04ddb" /><Relationship Type="http://schemas.openxmlformats.org/officeDocument/2006/relationships/slide" Target="/ppt/slides/slide5.xml" Id="Rd688c2580ad7470b" /><Relationship Type="http://schemas.openxmlformats.org/officeDocument/2006/relationships/slide" Target="/ppt/slides/slide6.xml" Id="R5d2d7dca6e7a4075" /><Relationship Type="http://schemas.openxmlformats.org/officeDocument/2006/relationships/slide" Target="/ppt/slides/slide7.xml" Id="R2d669ce053894cec" /><Relationship Type="http://schemas.openxmlformats.org/officeDocument/2006/relationships/slide" Target="/ppt/slides/slide8.xml" Id="R7e1f9b9bd0f84b6e" /><Relationship Type="http://schemas.openxmlformats.org/officeDocument/2006/relationships/slide" Target="/ppt/slides/slide9.xml" Id="Rc6e80e22d7034676" /><Relationship Type="http://schemas.openxmlformats.org/officeDocument/2006/relationships/slide" Target="/ppt/slides/slide10.xml" Id="Rd5f3c47a31914cf1" /><Relationship Type="http://schemas.openxmlformats.org/officeDocument/2006/relationships/slide" Target="/ppt/slides/slide11.xml" Id="R04ad83b32a4b41f4" /><Relationship Type="http://schemas.openxmlformats.org/officeDocument/2006/relationships/slide" Target="/ppt/slides/slide12.xml" Id="Rff28465f83934b09" /><Relationship Type="http://schemas.openxmlformats.org/officeDocument/2006/relationships/slide" Target="/ppt/slides/slide13.xml" Id="R2312eccfb8254269" /><Relationship Type="http://schemas.openxmlformats.org/officeDocument/2006/relationships/slide" Target="/ppt/slides/slide14.xml" Id="Rd70aebc3d3fd4038" /><Relationship Type="http://schemas.openxmlformats.org/officeDocument/2006/relationships/slide" Target="/ppt/slides/slide15.xml" Id="R63681d9e30264b00" /><Relationship Type="http://schemas.openxmlformats.org/officeDocument/2006/relationships/slide" Target="/ppt/slides/slide16.xml" Id="R5b6f4d09949743e8" /><Relationship Type="http://schemas.openxmlformats.org/officeDocument/2006/relationships/slide" Target="/ppt/slides/slide17.xml" Id="Rf99895ab1f874863" /><Relationship Type="http://schemas.openxmlformats.org/officeDocument/2006/relationships/slide" Target="/ppt/slides/slide18.xml" Id="Re6a1e44c73c14dc0" /><Relationship Type="http://schemas.openxmlformats.org/officeDocument/2006/relationships/slide" Target="/ppt/slides/slide19.xml" Id="R9cf957b43d0a42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1ebcc53e404e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d6b344fa7a42f6" /><Relationship Type="http://schemas.openxmlformats.org/officeDocument/2006/relationships/notesMaster" Target="/ppt/notesMasters/notesMaster1.xml" Id="R0967c531c2fc43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99a5e7aa5d4808" /><Relationship Type="http://schemas.openxmlformats.org/officeDocument/2006/relationships/notesMaster" Target="/ppt/notesMasters/notesMaster1.xml" Id="R984a1f7781664b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73370b6b9e4ff1" /><Relationship Type="http://schemas.openxmlformats.org/officeDocument/2006/relationships/notesMaster" Target="/ppt/notesMasters/notesMaster1.xml" Id="R393332410b8c48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36ecf87d3842f7" /><Relationship Type="http://schemas.openxmlformats.org/officeDocument/2006/relationships/notesMaster" Target="/ppt/notesMasters/notesMaster1.xml" Id="Re29a50c2eb504d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572f04ec0341c5" /><Relationship Type="http://schemas.openxmlformats.org/officeDocument/2006/relationships/notesMaster" Target="/ppt/notesMasters/notesMaster1.xml" Id="Rb223e0553c5c40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2419b2a0744599" /><Relationship Type="http://schemas.openxmlformats.org/officeDocument/2006/relationships/notesMaster" Target="/ppt/notesMasters/notesMaster1.xml" Id="R6176a9a8b1864e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90888ac0554c28" /><Relationship Type="http://schemas.openxmlformats.org/officeDocument/2006/relationships/notesMaster" Target="/ppt/notesMasters/notesMaster1.xml" Id="Rd95eb8e477a243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9fc2245ec94186" /><Relationship Type="http://schemas.openxmlformats.org/officeDocument/2006/relationships/notesMaster" Target="/ppt/notesMasters/notesMaster1.xml" Id="R71bb99636e2a4d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aa3c4711554ad1" /><Relationship Type="http://schemas.openxmlformats.org/officeDocument/2006/relationships/notesMaster" Target="/ppt/notesMasters/notesMaster1.xml" Id="R9a96a38a76a941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6c51c0d2694a2e" /><Relationship Type="http://schemas.openxmlformats.org/officeDocument/2006/relationships/notesMaster" Target="/ppt/notesMasters/notesMaster1.xml" Id="R88b0c055a3074a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af458e1376d424b" /><Relationship Type="http://schemas.openxmlformats.org/officeDocument/2006/relationships/notesMaster" Target="/ppt/notesMasters/notesMaster1.xml" Id="Rae15d8c597be467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972f44002946ef" /><Relationship Type="http://schemas.openxmlformats.org/officeDocument/2006/relationships/notesMaster" Target="/ppt/notesMasters/notesMaster1.xml" Id="R2d931e87f0ff4b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830565abbe48be" /><Relationship Type="http://schemas.openxmlformats.org/officeDocument/2006/relationships/notesMaster" Target="/ppt/notesMasters/notesMaster1.xml" Id="Rc2083e53802049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52a58249594826" /><Relationship Type="http://schemas.openxmlformats.org/officeDocument/2006/relationships/notesMaster" Target="/ppt/notesMasters/notesMaster1.xml" Id="R984c5381fc5e44c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5b08478fde84674" /><Relationship Type="http://schemas.openxmlformats.org/officeDocument/2006/relationships/notesMaster" Target="/ppt/notesMasters/notesMaster1.xml" Id="R98e32d36da394a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789da461e324fd9" /><Relationship Type="http://schemas.openxmlformats.org/officeDocument/2006/relationships/notesMaster" Target="/ppt/notesMasters/notesMaster1.xml" Id="R30fdcb66b5074af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be7e13941094bec" /><Relationship Type="http://schemas.openxmlformats.org/officeDocument/2006/relationships/notesMaster" Target="/ppt/notesMasters/notesMaster1.xml" Id="R9dcc05d2c9fe410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b266b876e99497b" /><Relationship Type="http://schemas.openxmlformats.org/officeDocument/2006/relationships/notesMaster" Target="/ppt/notesMasters/notesMaster1.xml" Id="R3ae218931b4f49b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430feb3931e4246" /><Relationship Type="http://schemas.openxmlformats.org/officeDocument/2006/relationships/notesMaster" Target="/ppt/notesMasters/notesMaster1.xml" Id="R1cf03b31ee5b45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docs/tf_technical_article_draft.md, capa e resumo.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1 e 2.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1, 2 e 5.3.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3.1, 4.2 e 4.3.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4.2, 4.3 e 4.4.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ANTT, ANP, ANTAQ, EU MRV e Ship &amp; Bunker, conforme referências do relatório.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4.2 e 5.1.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docs/images/Screenshot 2026-07-15 144749.png.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4.3.3.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4.3.4.1.1 a 4.3.4.1.3.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docs/images/antaq_2025_atracacao_recorte.png.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4.3.4.1.4 e exemplo subsequente.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4.3.4.2.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docs/references/core/policy_transport_shipping_gd1_maritime_en.pdf.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4.3.4.5.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docs/images/fig07_cinco_recortes_santos_manaus.png.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4.3.4.4, 4.3.5 e 4.3.6.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5.1 e tabelas de resultados do cenário.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4.1 e subseções de implementação.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de implementação da página Router.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docs/images/router-map.png.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de implementação da página Heatmap.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docs/images/heatmap-map.png.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5.2.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5.3.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6.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c2a0802aa54b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4a1da3e15b421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812d0758ca4bf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45ce71c649447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af9f56458142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784970f9e148b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4c51bf3183462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993a8ecfcf4e61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f48c1bbc0b4262" /><Relationship Type="http://schemas.openxmlformats.org/officeDocument/2006/relationships/slideLayout" Target="/ppt/slideLayouts/slideLayout1.xml" Id="R1e298ac7a4b349ec" /><Relationship Type="http://schemas.openxmlformats.org/officeDocument/2006/relationships/slideLayout" Target="/ppt/slideLayouts/slideLayout2.xml" Id="R19dc37849db247b3" /><Relationship Type="http://schemas.openxmlformats.org/officeDocument/2006/relationships/slideLayout" Target="/ppt/slideLayouts/slideLayout3.xml" Id="Rd0bd66c50ff64253" /><Relationship Type="http://schemas.openxmlformats.org/officeDocument/2006/relationships/slideLayout" Target="/ppt/slideLayouts/slideLayout4.xml" Id="R6dec99471d674489" /><Relationship Type="http://schemas.openxmlformats.org/officeDocument/2006/relationships/slideLayout" Target="/ppt/slideLayouts/slideLayout5.xml" Id="R5d96d0dbb8a442af" /><Relationship Type="http://schemas.openxmlformats.org/officeDocument/2006/relationships/slideLayout" Target="/ppt/slideLayouts/slideLayout6.xml" Id="R1cd1c161320f4351" /><Relationship Type="http://schemas.openxmlformats.org/officeDocument/2006/relationships/slideLayout" Target="/ppt/slideLayouts/slideLayout7.xml" Id="Rbf1fde539b0d42b3" /><Relationship Type="http://schemas.openxmlformats.org/officeDocument/2006/relationships/slideLayout" Target="/ppt/slideLayouts/slideLayout8.xml" Id="Rf32ed626f47e4fe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298ac7a4b349ec"/>
    <p:sldLayoutId xmlns:r="http://schemas.openxmlformats.org/officeDocument/2006/relationships" id="2147483650" r:id="R19dc37849db247b3"/>
    <p:sldLayoutId xmlns:r="http://schemas.openxmlformats.org/officeDocument/2006/relationships" id="2147483651" r:id="Rd0bd66c50ff64253"/>
    <p:sldLayoutId xmlns:r="http://schemas.openxmlformats.org/officeDocument/2006/relationships" id="2147483652" r:id="R6dec99471d674489"/>
    <p:sldLayoutId xmlns:r="http://schemas.openxmlformats.org/officeDocument/2006/relationships" id="2147483653" r:id="R5d96d0dbb8a442af"/>
    <p:sldLayoutId xmlns:r="http://schemas.openxmlformats.org/officeDocument/2006/relationships" id="2147483654" r:id="R1cd1c161320f4351"/>
    <p:sldLayoutId xmlns:r="http://schemas.openxmlformats.org/officeDocument/2006/relationships" id="2147483655" r:id="Rbf1fde539b0d42b3"/>
    <p:sldLayoutId xmlns:r="http://schemas.openxmlformats.org/officeDocument/2006/relationships" id="2147483656" r:id="Rf32ed626f47e4fe5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f99fa5bc545b7" /><Relationship Type="http://schemas.openxmlformats.org/officeDocument/2006/relationships/notesSlide" Target="/ppt/notesSlides/notesSlide1.xml" Id="R0eba5ffe03fb4f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0c197cb17b4ad0" /><Relationship Type="http://schemas.openxmlformats.org/officeDocument/2006/relationships/notesSlide" Target="/ppt/notesSlides/notesSlide2.xml" Id="R33a64cc5a59f4d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d08301dfaa4723" /><Relationship Type="http://schemas.openxmlformats.org/officeDocument/2006/relationships/notesSlide" Target="/ppt/notesSlides/notesSlide3.xml" Id="R46940c78ef1343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8018854a7f41b6" /><Relationship Type="http://schemas.openxmlformats.org/officeDocument/2006/relationships/notesSlide" Target="/ppt/notesSlides/notesSlide4.xml" Id="R590f54bc89644d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37beddf33a48b7" /><Relationship Type="http://schemas.openxmlformats.org/officeDocument/2006/relationships/notesSlide" Target="/ppt/notesSlides/notesSlide5.xml" Id="R505a21a4fd024f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18e6b49a1142e5" /><Relationship Type="http://schemas.openxmlformats.org/officeDocument/2006/relationships/image" Target="/ppt/media/image.png" Id="R0f9b1a4aba044133" /><Relationship Type="http://schemas.openxmlformats.org/officeDocument/2006/relationships/notesSlide" Target="/ppt/notesSlides/notesSlide6.xml" Id="Rcf8ac574d8d342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1917f2015f49dd" /><Relationship Type="http://schemas.openxmlformats.org/officeDocument/2006/relationships/notesSlide" Target="/ppt/notesSlides/notesSlide7.xml" Id="R5d33a3a1222c4e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6ca98536f9460d" /><Relationship Type="http://schemas.openxmlformats.org/officeDocument/2006/relationships/image" Target="/ppt/media/image2.png" Id="Refcc5454d6304115" /><Relationship Type="http://schemas.openxmlformats.org/officeDocument/2006/relationships/notesSlide" Target="/ppt/notesSlides/notesSlide8.xml" Id="Rc7a9bf04b17740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2509cb1ce6411d" /><Relationship Type="http://schemas.openxmlformats.org/officeDocument/2006/relationships/notesSlide" Target="/ppt/notesSlides/notesSlide9.xml" Id="R45321900483b46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6970058cb64bb0" /><Relationship Type="http://schemas.openxmlformats.org/officeDocument/2006/relationships/notesSlide" Target="/ppt/notesSlides/notesSlide10.xml" Id="R5be4ab8c4a164b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56691a8dd24420" /><Relationship Type="http://schemas.openxmlformats.org/officeDocument/2006/relationships/image" Target="/ppt/media/image3.png" Id="R437e3dc265914cf7" /><Relationship Type="http://schemas.openxmlformats.org/officeDocument/2006/relationships/notesSlide" Target="/ppt/notesSlides/notesSlide11.xml" Id="Rf51e82c86f6243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b07d8cdaad43ae" /><Relationship Type="http://schemas.openxmlformats.org/officeDocument/2006/relationships/notesSlide" Target="/ppt/notesSlides/notesSlide12.xml" Id="Racfc1a22904742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c1c7d3433444c1" /><Relationship Type="http://schemas.openxmlformats.org/officeDocument/2006/relationships/notesSlide" Target="/ppt/notesSlides/notesSlide13.xml" Id="R3193b313c0d549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acca3ea45c4a01" /><Relationship Type="http://schemas.openxmlformats.org/officeDocument/2006/relationships/notesSlide" Target="/ppt/notesSlides/notesSlide14.xml" Id="R11c8f1b17fe942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b361f0a3734139" /><Relationship Type="http://schemas.openxmlformats.org/officeDocument/2006/relationships/image" Target="/ppt/media/image4.png" Id="Rdd7261653ab54b87" /><Relationship Type="http://schemas.openxmlformats.org/officeDocument/2006/relationships/notesSlide" Target="/ppt/notesSlides/notesSlide15.xml" Id="R05286a273b9b407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a44b277c234ddb" /><Relationship Type="http://schemas.openxmlformats.org/officeDocument/2006/relationships/image" Target="/ppt/media/image5.png" Id="R58e5d26e97824b91" /><Relationship Type="http://schemas.openxmlformats.org/officeDocument/2006/relationships/notesSlide" Target="/ppt/notesSlides/notesSlide16.xml" Id="R676360978edc477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d2d39eac7c44ec" /><Relationship Type="http://schemas.openxmlformats.org/officeDocument/2006/relationships/notesSlide" Target="/ppt/notesSlides/notesSlide17.xml" Id="Raa0ba591162347b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ddea8f9ac349c1" /><Relationship Type="http://schemas.openxmlformats.org/officeDocument/2006/relationships/notesSlide" Target="/ppt/notesSlides/notesSlide18.xml" Id="Ra0db9ad06ca9400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d83b43d3ed4939" /><Relationship Type="http://schemas.openxmlformats.org/officeDocument/2006/relationships/notesSlide" Target="/ppt/notesSlides/notesSlide19.xml" Id="Rfea3a22a22d34fe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4079" y="2031642"/>
            <a:ext cx="11063842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latin typeface="Lora"/>
                <a:ea typeface="Lora"/>
                <a:cs typeface="Lora"/>
              </a:rPr>
              <a:t>CabotageLens</a:t>
            </a:r>
          </a:p>
          <a:p xmlns:a="http://schemas.openxmlformats.org/drawingml/2006/main">
            <a:pPr algn="ctr">
              <a:buNone/>
            </a:pPr>
            <a:r>
              <a:rPr sz="7200">
                <a:latin typeface="Lora"/>
                <a:ea typeface="Lora"/>
                <a:cs typeface="Lora"/>
              </a:rPr>
              <a:t>Rodovia × cabotagem</a:t>
            </a:r>
          </a:p>
        </p:txBody>
      </p:sp>
      <p:sp>
        <p:nvSpPr>
          <p:cNvPr id="13" name="Subtitle 12">
            <a:extLst xmlns:a="http://schemas.openxmlformats.org/drawingml/2006/main">
              <a:ext uri="{FF2B5EF4-FFF2-40B4-BE49-F238E27FC236}">
                <a16:creationId xmlns:a16="http://schemas.microsoft.com/office/drawing/2014/main" id="{8063C0C5-ECDE-60AC-E3F5-DA7ED369D6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98999" y="5045149"/>
            <a:ext cx="7394002" cy="79443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Comparação porta a porta com cálculos auditáveis · Felipe de Sá Proença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352742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rgbClr val="FF4709"/>
                </a:solidFill>
                <a:latin typeface="Roboto"/>
                <a:ea typeface="Roboto"/>
                <a:cs typeface="Roboto"/>
              </a:rPr>
              <a:t>Trabalho de Formatura · 2026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CabotageLens | Trabalho de Formatura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80202" y="1553822"/>
            <a:ext cx="9031596" cy="1262107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/>
              <a:t>Comparar o mesmo serviço</a:t>
            </a:r>
            <a:br/>
            <a:r>
              <a:rPr sz="3600">
                <a:solidFill>
                  <a:srgbClr val="FF4204"/>
                </a:solidFill>
              </a:rPr>
              <a:t>com regras auditáveis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47257" y="3329711"/>
            <a:ext cx="7897486" cy="261636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O CabotageLens compara uma remessa de mesma origem, destino e massa por duas alternativas: rodovia direta e cadeia multimodal com acessos, portos e cabotagem.</a:t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/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O sistema estima distância, combustível, emissões operacionais TTW e custo modelado do combustível, mantendo identificadas fontes, aproximações e critérios.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3E4FFF9D-7D5C-DB8C-D20B-817FA574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001877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chemeClr val="bg1">
                    <a:lumMod val="65000"/>
                    <a:lumOff val="35000"/>
                  </a:schemeClr>
                </a:solidFill>
                <a:latin typeface="Roboto"/>
                <a:ea typeface="Roboto"/>
                <a:cs typeface="Roboto"/>
              </a:rPr>
              <a:t>Objetivo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CabotageLens | Trabalho de Formatura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 escopo limita o que o resultado pode afirmar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Emissões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Inclui CO₂e TTW por remessa. Exclui WTW, LCA, fabricação e inventário completo de poluentes.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Serviço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Usa sequências de portos observadas. Não garante frequência, capacidade ou oferta futura.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Custo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Inclui o combustível consumido. Exclui frete, seguro, estoque, multas e reserva de espaço.</a:t>
            </a:r>
          </a:p>
          <a:p xmlns:a="http://schemas.openxmlformats.org/drawingml/2006/main">
            <a:pPr marL="0" indent="0">
              <a:buNone/>
            </a:pP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A comparação é operacional e metodológica; não substitui uma cotação de frete nem uma avaliação de ciclo de vida.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CabotageLens | Trabalho de Formatura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As alternativas prestam exatamente o mesmo serviço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Rodovia direta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A mesma remessa segue da origem ao destino em um único percurso rodoviário.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Navegação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A perna marítima preserva escalas e corredores observados entre os portos.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Acessos e portos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A cadeia multimodal inclui first mile, dois terminais e last mile.</a:t>
            </a:r>
          </a:p>
          <a:p xmlns:a="http://schemas.openxmlformats.org/drawingml/2006/main">
            <a:pPr marL="0" indent="0">
              <a:buNone/>
            </a:pP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Uma única unidade funcional evita comparar o trecho marítimo com uma viagem rodoviária completa.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CabotageLens | Trabalho de Formatura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Cinco fontes alimentam a cadeia de cálculo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4305"/>
                </a:solidFill>
              </a:rPr>
              <a:t>Dados observados, parâmetros públicos e preços rastreáveis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ANTT — eficiência por eixos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Cada valor usado no cenário mantém sua origem registrada. A matriz marítima é preparada previamente e consultada pelo pipeline durante a execução.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ANP — preço do Diesel S10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ANTAQ — escalas e carga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EU MRV — intensidade por navio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Ship &amp; Bunker — preço do VLSFO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CabotageLens | Trabalho de Formatura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Na rodovia, distância e eficiência definem o consumo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5A7115C-83FA-26C1-A475-1108562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FF4305"/>
                </a:solidFill>
              </a:rPr>
              <a:t>3.491,431 km e 2,3 km/L no cenário de 14 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EE50BE-D82B-E1E1-5863-AFDFAD93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A massa seleciona uma carreta de cinco eixos. O volume resulta de viagens × distância ÷ eficiência.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Consumo: 1.518,014 L. Preço médio entre SP e AC: R$ 8,115/L. As emissões usam 2,68 kg CO₂e/L.</a:t>
            </a:r>
          </a:p>
        </p:txBody>
      </p:sp>
      <p:pic>
        <p:nvPicPr>
          <p:cNvPr id="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9b1a4aba04413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CabotageLens | Trabalho de Formatura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As operações portuárias entram como uma etapa própria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Movimentação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Dois movimentos por TEU com RTG: 1,4115 L por movimento.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Dois terminais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NTEU × a × (cRTG + cTI) = 5,984684 L de Diesel S10.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Transferência interna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O caminhão do terminal consome 0,084671 L por movimento.</a:t>
            </a:r>
          </a:p>
          <a:p xmlns:a="http://schemas.openxmlformats.org/drawingml/2006/main">
            <a:pPr marL="0" indent="0">
              <a:buNone/>
            </a:pP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A remessa de 14 t é representada por 1 TEU; o consumo considera os dois terminais.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CabotageLens | Trabalho de Formatura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BA58DA2A-B818-18A9-29C1-B697728D5BCE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 ANTAQ permite reconstruir a sequência real de escalas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5A7115C-83FA-26C1-A475-1108562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FF4305"/>
                </a:solidFill>
              </a:rPr>
              <a:t>Atracação ordena portos; Carga informa embarque e desembarque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EE50BE-D82B-E1E1-5863-AFDFAD93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O sistema agrupa registros por IMO e viagem, ordena as atracações e associa os movimentos de carga a cada escala.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Cada recorte preserva os portos intermediários; não há corredor obrigatório nem seleção automática do percurso mais curto.</a:t>
            </a:r>
          </a:p>
        </p:txBody>
      </p:sp>
      <p:pic>
        <p:nvPicPr>
          <p:cNvPr id="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c5454d630411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CabotageLens | Trabalho de Formatura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88657AE-30A1-5A7A-6A7F-315D84436430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31203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 carga a bordo nunca pode ficar negativa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O balanço por escala determina a menor carga inicial compatível com os movimentos observados.</a:t>
            </a: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1D2425F-989C-9570-E60C-C4CFCBC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Δk</a:t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FA8062-B7A0-A104-9AAD-F21A3F2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Massa embarcada − massa desembarcada em cada escala.</a:t>
            </a:r>
          </a:p>
        </p:txBody>
      </p:sp>
      <p:sp>
        <p:nvSpPr>
          <p:cNvPr id="1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7240227-0821-E266-E2C3-115ABA62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B₀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D91BFBF-1C92-F26C-E60C-53D2ABA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−min(Sₖ), quando o saldo acumulado provisório fica negativo.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FE3A416-C709-ABBB-9B4C-F33DBB30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68526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12.858,754 t</a:t>
            </a:r>
          </a:p>
        </p:txBody>
      </p:sp>
      <p:sp>
        <p:nvSpPr>
          <p:cNvPr id="2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9E076D-AB6A-B811-2DCD-DFF54871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Carga no primeiro subtrecho Santos–Suape da viagem voyage_9612791_00011.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CabotageLens | Trabalho de Formatura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B7BEEEC-A170-5376-2B6E-CB54687B0CB1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10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 intensidade marítima segue uma única hierarquia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4305"/>
                </a:solidFill>
              </a:rPr>
              <a:t>O IMO conecta a viagem brasileira ao desempenho anual verificado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IMO individual mais recente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A intensidade é a massa de combustível por trabalho de transporte [g/(t·nm)]. Ela representa desempenho médio anual, não o consumo exato de uma viagem.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P95 verifica o valor individual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Valor válido é mantido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Ausência ou atipicidade → tipo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Origem registrada no resultado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CabotageLens | Trabalho de Formatura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0394428-F1DC-E5F6-DB0C-7DE31F3D8A23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11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Santos–Manaus é representado por 89 recortes observados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5A7115C-83FA-26C1-A475-1108562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FF4305"/>
                </a:solidFill>
              </a:rPr>
              <a:t>22 corredores preservam viagens diretas e com escalas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EE50BE-D82B-E1E1-5863-AFDFAD93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A distância usa 87 recortes até o P95: 6.094,975 km. A intensidade usa os 89 recortes: 7,006102 g/(t·nm).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Apenas 1 dos 391 subtrechos usa aproximação por Haversine; o aviso permanece auditável.</a:t>
            </a:r>
          </a:p>
        </p:txBody>
      </p:sp>
      <p:pic>
        <p:nvPicPr>
          <p:cNvPr id="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e3dc265914cf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CabotageLens | Trabalho de Formatura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4DB16885-0D3F-A391-B669-3211DB3B26E8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12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 consumo final reúne etapas com combustíveis distintos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Diesel rodoviário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V = N × D ÷ η. Aplica-se à rodovia direta, aos acessos e aos terminais.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Totais comparáveis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Emissão = combustível × fator. Custo = combustível × preço.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VLSFO marítimo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M = I × m × Dnm ÷ 1.000. A intensidade vem da matriz observada.</a:t>
            </a:r>
          </a:p>
          <a:p xmlns:a="http://schemas.openxmlformats.org/drawingml/2006/main">
            <a:pPr marL="0" indent="0">
              <a:buNone/>
            </a:pP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Cada perna usa sua própria unidade; os totais só se encontram após a conversão em custo e CO₂e TTW.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CabotageLens | Trabalho de Formatura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DD23107-4986-8758-3A93-3D74F35908CC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13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31203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 multimodal percorre mais e ainda reduz emissões e custo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Remessa de 14 t entre São Paulo e Rio Branco, com Santos e Manaus como portos.</a:t>
            </a: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1D2425F-989C-9570-E60C-C4CFCBC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+117%</a:t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FA8062-B7A0-A104-9AAD-F21A3F2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+117,24%: 7.584,836 km versus 3.491,431 km.</a:t>
            </a:r>
          </a:p>
        </p:txBody>
      </p:sp>
      <p:sp>
        <p:nvSpPr>
          <p:cNvPr id="1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7240227-0821-E266-E2C3-115ABA62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−32%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D91BFBF-1C92-F26C-E60C-53D2ABA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−32,30%: 2.754,13 versus 4.068,28 kg CO₂e TTW.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FE3A416-C709-ABBB-9B4C-F33DBB30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−47%</a:t>
            </a:r>
          </a:p>
        </p:txBody>
      </p:sp>
      <p:sp>
        <p:nvSpPr>
          <p:cNvPr id="2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9E076D-AB6A-B811-2DCD-DFF54871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−46,69%: R$ 6.566,71 versus R$ 12.318,68.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CabotageLens | Trabalho de Formatura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27921A4-25C4-3DB4-06B1-32693CEE2241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14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 pipeline registra dados, cálculo e procedência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4305"/>
                </a:solidFill>
              </a:rPr>
              <a:t>Da entrada textual ao resultado auditável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Geocodificação e coordenadas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A aplicação separa interface, lógica de domínio, fontes externas e persistência. Caches evitam chamadas repetidas; logs preservam avisos e parâmetros.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Rotas e seleção de portos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SeaMatrix e fallbacks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Combustível, custo e emissões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Supabase, logs e Git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CabotageLens | Trabalho de Formatura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A83FA91-883A-0168-8075-96CEB9DCA3C2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15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 página Router explica uma ligação porta a porta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5A7115C-83FA-26C1-A475-1108562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FF4305"/>
                </a:solidFill>
              </a:rPr>
              <a:t>Origem, destino e carga formam um cenário reproduzível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EE50BE-D82B-E1E1-5863-AFDFAD93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O mapa apresenta as duas alternativas; cálculos, avisos e registros permanecem acessíveis.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As linhas são uma representação visual e não a geometria usada nos cálculos.</a:t>
            </a:r>
          </a:p>
        </p:txBody>
      </p:sp>
      <p:pic>
        <p:nvPicPr>
          <p:cNvPr id="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261653ab54b8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CabotageLens | Trabalho de Formatura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C9C7607-4BA3-B4DC-A00F-2E67A9FCFF7E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16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 mapa de calor amplia a análise para 608 municípios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5A7115C-83FA-26C1-A475-1108562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FF4305"/>
                </a:solidFill>
              </a:rPr>
              <a:t>Cada destino repete a mesma comparação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EE50BE-D82B-E1E1-5863-AFDFAD93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Cores e altura mostram onde a multimodal reduz custo ou emissões.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As áreas entre municípios são interpolação visual; não representam novas rotas calculadas.</a:t>
            </a:r>
          </a:p>
        </p:txBody>
      </p:sp>
      <p:pic>
        <p:nvPicPr>
          <p:cNvPr id="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5d26e97824b9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CabotageLens | Trabalho de Formatura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90F7333B-44AC-F7E9-D49D-FE92F45E0477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17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Comparações externas contextualizam, mas não validam o modelo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Aliança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No cenário de 20 t, a redução TTW é 70,9% no CabotageLens e 76,0% na calculadora.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ANTT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O custo de combustível equivale a 57,8% do piso mínimo; os valores não são cotações equivalentes.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Log-In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A distância multimodal difere 0,15% e a emissão, 5,3%; não é validação independente.</a:t>
            </a:r>
          </a:p>
          <a:p xmlns:a="http://schemas.openxmlformats.org/drawingml/2006/main">
            <a:pPr marL="0" indent="0">
              <a:buNone/>
            </a:pP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Métodos, portos, distâncias e fronteiras diferentes permanecem explícitos.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CabotageLens | Trabalho de Formatura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B1C6C81E-38B9-7560-621D-5A151A79DF9B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18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 leitura correta depende de cinco limites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4305"/>
                </a:solidFill>
              </a:rPr>
              <a:t>O resultado é comparativo, médio e condicionado ao cenário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TTW, não WTW ou LCA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O CabotageLens não demonstra superioridade universal. Ele oferece uma base comum para investigar onde a cabotagem pode ser vantajosa.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Combustível, não frete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Média, não viagem exata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Oferta observada, não futura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Resultado depende do cenário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CabotageLens | Trabalho de Formatura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CCF91274-D221-1BB4-3BF9-836E3AD31EBE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19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80202" y="1553822"/>
            <a:ext cx="9031596" cy="1262107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/>
              <a:t>A distância isolada não decide</a:t>
            </a:r>
            <a:br/>
            <a:r>
              <a:rPr sz="3600">
                <a:solidFill>
                  <a:srgbClr val="FF4204"/>
                </a:solidFill>
              </a:rPr>
              <a:t>a melhor alternativa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47257" y="3329711"/>
            <a:ext cx="7897486" cy="261636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A comparação precisa reunir acessos rodoviários, operações portuárias e navegação na mesma cadeia logística.</a:t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/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A principal contribuição do CabotageLens é tornar essa comparação reproduzível e auditável com dados observados, premissas explícitas e procedência registrada.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3E4FFF9D-7D5C-DB8C-D20B-817FA574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001877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chemeClr val="bg1">
                    <a:lumMod val="65000"/>
                    <a:lumOff val="35000"/>
                  </a:schemeClr>
                </a:solidFill>
                <a:latin typeface="Roboto"/>
                <a:ea typeface="Roboto"/>
                <a:cs typeface="Roboto"/>
              </a:rPr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2026-07-26T20:25:31.3210000Z</dcterms:created>
  <dcterms:modified xsi:type="dcterms:W3CDTF">2026-07-26T20:25:31.3210000Z</dcterms:modified>
</coreProperties>
</file>