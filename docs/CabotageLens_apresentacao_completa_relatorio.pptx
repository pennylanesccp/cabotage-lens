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slides/charts/chart1.xml" ContentType="application/vnd.openxmlformats-officedocument.drawingml.chart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slides/charts/chart2.xml" ContentType="application/vnd.openxmlformats-officedocument.drawingml.chart+xml"/>
  <Override PartName="/ppt/slides/charts/chart3.xml" ContentType="application/vnd.openxmlformats-officedocument.drawingml.chart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slides/charts/chart4.xml" ContentType="application/vnd.openxmlformats-officedocument.drawingml.chart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slides/charts/chart5.xml" ContentType="application/vnd.openxmlformats-officedocument.drawingml.chart+xml"/>
  <Override PartName="/ppt/slides/charts/chart6.xml" ContentType="application/vnd.openxmlformats-officedocument.drawingml.chart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496d35319584598" /><Relationship Type="http://schemas.openxmlformats.org/officeDocument/2006/relationships/extended-properties" Target="/docProps/app.xml" Id="Rc38a5e746f634c6a" /><Relationship Type="http://schemas.openxmlformats.org/officeDocument/2006/relationships/officeDocument" Target="/ppt/presentation.xml" Id="R615ae61b2634420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9981eee60df410f"/>
  </p:sldMasterIdLst>
  <p:notesMasterIdLst>
    <p:notesMasterId xmlns:r="http://schemas.openxmlformats.org/officeDocument/2006/relationships" r:id="R8ca85b4a6e75401b"/>
  </p:notesMasterIdLst>
  <p:sldIdLst>
    <p:sldId xmlns:r="http://schemas.openxmlformats.org/officeDocument/2006/relationships" id="256" r:id="R9288bec367e34ef9"/>
    <p:sldId xmlns:r="http://schemas.openxmlformats.org/officeDocument/2006/relationships" id="257" r:id="R143b827eb5b84f14"/>
    <p:sldId xmlns:r="http://schemas.openxmlformats.org/officeDocument/2006/relationships" id="258" r:id="Rc1e88e56d8bc454d"/>
    <p:sldId xmlns:r="http://schemas.openxmlformats.org/officeDocument/2006/relationships" id="259" r:id="R9a3a75ea28654703"/>
    <p:sldId xmlns:r="http://schemas.openxmlformats.org/officeDocument/2006/relationships" id="260" r:id="R48df091a27dd47e8"/>
    <p:sldId xmlns:r="http://schemas.openxmlformats.org/officeDocument/2006/relationships" id="261" r:id="Rc9076538c2ff41c0"/>
    <p:sldId xmlns:r="http://schemas.openxmlformats.org/officeDocument/2006/relationships" id="262" r:id="R1a94ee63a2784f9c"/>
    <p:sldId xmlns:r="http://schemas.openxmlformats.org/officeDocument/2006/relationships" id="263" r:id="R1eeeda6e7c134bad"/>
    <p:sldId xmlns:r="http://schemas.openxmlformats.org/officeDocument/2006/relationships" id="264" r:id="R71581fb76c3645e9"/>
    <p:sldId xmlns:r="http://schemas.openxmlformats.org/officeDocument/2006/relationships" id="265" r:id="R27dc14b6533944f1"/>
    <p:sldId xmlns:r="http://schemas.openxmlformats.org/officeDocument/2006/relationships" id="266" r:id="R091607c94c8f442c"/>
    <p:sldId xmlns:r="http://schemas.openxmlformats.org/officeDocument/2006/relationships" id="267" r:id="R4d2164cce6d64816"/>
    <p:sldId xmlns:r="http://schemas.openxmlformats.org/officeDocument/2006/relationships" id="268" r:id="R74434dd5989a4db7"/>
    <p:sldId xmlns:r="http://schemas.openxmlformats.org/officeDocument/2006/relationships" id="269" r:id="Ra9be90e4b59d4f00"/>
    <p:sldId xmlns:r="http://schemas.openxmlformats.org/officeDocument/2006/relationships" id="270" r:id="R2d347d91dfc34d2e"/>
    <p:sldId xmlns:r="http://schemas.openxmlformats.org/officeDocument/2006/relationships" id="271" r:id="R3341a03294834272"/>
    <p:sldId xmlns:r="http://schemas.openxmlformats.org/officeDocument/2006/relationships" id="272" r:id="R44d98c0c10e84a6b"/>
    <p:sldId xmlns:r="http://schemas.openxmlformats.org/officeDocument/2006/relationships" id="273" r:id="Rd2ff38477b184886"/>
    <p:sldId xmlns:r="http://schemas.openxmlformats.org/officeDocument/2006/relationships" id="274" r:id="R01db43d504c64ebb"/>
    <p:sldId xmlns:r="http://schemas.openxmlformats.org/officeDocument/2006/relationships" id="275" r:id="Rd92597e3b68c4210"/>
    <p:sldId xmlns:r="http://schemas.openxmlformats.org/officeDocument/2006/relationships" id="276" r:id="Refc7b9cb71284f90"/>
    <p:sldId xmlns:r="http://schemas.openxmlformats.org/officeDocument/2006/relationships" id="277" r:id="Rd12ac978f99447fc"/>
    <p:sldId xmlns:r="http://schemas.openxmlformats.org/officeDocument/2006/relationships" id="278" r:id="R765b94c01def44dd"/>
    <p:sldId xmlns:r="http://schemas.openxmlformats.org/officeDocument/2006/relationships" id="279" r:id="R0b8dbfebb3184941"/>
    <p:sldId xmlns:r="http://schemas.openxmlformats.org/officeDocument/2006/relationships" id="280" r:id="R11564c19f2194213"/>
    <p:sldId xmlns:r="http://schemas.openxmlformats.org/officeDocument/2006/relationships" id="281" r:id="R90ced59484e4433c"/>
    <p:sldId xmlns:r="http://schemas.openxmlformats.org/officeDocument/2006/relationships" id="282" r:id="R22f198f5f60e4768"/>
    <p:sldId xmlns:r="http://schemas.openxmlformats.org/officeDocument/2006/relationships" id="283" r:id="R4609d70facf448a7"/>
    <p:sldId xmlns:r="http://schemas.openxmlformats.org/officeDocument/2006/relationships" id="284" r:id="R56a0a8e9868940f8"/>
    <p:sldId xmlns:r="http://schemas.openxmlformats.org/officeDocument/2006/relationships" id="285" r:id="R054c9579161743d2"/>
    <p:sldId xmlns:r="http://schemas.openxmlformats.org/officeDocument/2006/relationships" id="286" r:id="R75e62695b19b4ed3"/>
    <p:sldId xmlns:r="http://schemas.openxmlformats.org/officeDocument/2006/relationships" id="287" r:id="Rb075ea572d18452e"/>
    <p:sldId xmlns:r="http://schemas.openxmlformats.org/officeDocument/2006/relationships" id="288" r:id="Re780c5b2a0b644f9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fb100ee204b477e" /><Relationship Type="http://schemas.openxmlformats.org/officeDocument/2006/relationships/slideMaster" Target="/ppt/slideMasters/slideMaster1.xml" Id="Ra9981eee60df410f" /><Relationship Type="http://schemas.openxmlformats.org/officeDocument/2006/relationships/notesMaster" Target="/ppt/notesMasters/notesMaster1.xml" Id="R8ca85b4a6e75401b" /><Relationship Type="http://schemas.openxmlformats.org/officeDocument/2006/relationships/presProps" Target="/ppt/presProps.xml" Id="R152cabc5c3814064" /><Relationship Type="http://schemas.openxmlformats.org/officeDocument/2006/relationships/viewProps" Target="/ppt/viewProps.xml" Id="Rf25832c48fe44ddf" /><Relationship Type="http://schemas.openxmlformats.org/officeDocument/2006/relationships/tableStyles" Target="/ppt/tableStyles.xml" Id="R2f585e1051b04a86" /><Relationship Type="http://schemas.openxmlformats.org/officeDocument/2006/relationships/slide" Target="/ppt/slides/slide1.xml" Id="R9288bec367e34ef9" /><Relationship Type="http://schemas.openxmlformats.org/officeDocument/2006/relationships/slide" Target="/ppt/slides/slide2.xml" Id="R143b827eb5b84f14" /><Relationship Type="http://schemas.openxmlformats.org/officeDocument/2006/relationships/slide" Target="/ppt/slides/slide3.xml" Id="Rc1e88e56d8bc454d" /><Relationship Type="http://schemas.openxmlformats.org/officeDocument/2006/relationships/slide" Target="/ppt/slides/slide4.xml" Id="R9a3a75ea28654703" /><Relationship Type="http://schemas.openxmlformats.org/officeDocument/2006/relationships/slide" Target="/ppt/slides/slide5.xml" Id="R48df091a27dd47e8" /><Relationship Type="http://schemas.openxmlformats.org/officeDocument/2006/relationships/slide" Target="/ppt/slides/slide6.xml" Id="Rc9076538c2ff41c0" /><Relationship Type="http://schemas.openxmlformats.org/officeDocument/2006/relationships/slide" Target="/ppt/slides/slide7.xml" Id="R1a94ee63a2784f9c" /><Relationship Type="http://schemas.openxmlformats.org/officeDocument/2006/relationships/slide" Target="/ppt/slides/slide8.xml" Id="R1eeeda6e7c134bad" /><Relationship Type="http://schemas.openxmlformats.org/officeDocument/2006/relationships/slide" Target="/ppt/slides/slide9.xml" Id="R71581fb76c3645e9" /><Relationship Type="http://schemas.openxmlformats.org/officeDocument/2006/relationships/slide" Target="/ppt/slides/slide10.xml" Id="R27dc14b6533944f1" /><Relationship Type="http://schemas.openxmlformats.org/officeDocument/2006/relationships/slide" Target="/ppt/slides/slide11.xml" Id="R091607c94c8f442c" /><Relationship Type="http://schemas.openxmlformats.org/officeDocument/2006/relationships/slide" Target="/ppt/slides/slide12.xml" Id="R4d2164cce6d64816" /><Relationship Type="http://schemas.openxmlformats.org/officeDocument/2006/relationships/slide" Target="/ppt/slides/slide13.xml" Id="R74434dd5989a4db7" /><Relationship Type="http://schemas.openxmlformats.org/officeDocument/2006/relationships/slide" Target="/ppt/slides/slide14.xml" Id="Ra9be90e4b59d4f00" /><Relationship Type="http://schemas.openxmlformats.org/officeDocument/2006/relationships/slide" Target="/ppt/slides/slide15.xml" Id="R2d347d91dfc34d2e" /><Relationship Type="http://schemas.openxmlformats.org/officeDocument/2006/relationships/slide" Target="/ppt/slides/slide16.xml" Id="R3341a03294834272" /><Relationship Type="http://schemas.openxmlformats.org/officeDocument/2006/relationships/slide" Target="/ppt/slides/slide17.xml" Id="R44d98c0c10e84a6b" /><Relationship Type="http://schemas.openxmlformats.org/officeDocument/2006/relationships/slide" Target="/ppt/slides/slide18.xml" Id="Rd2ff38477b184886" /><Relationship Type="http://schemas.openxmlformats.org/officeDocument/2006/relationships/slide" Target="/ppt/slides/slide19.xml" Id="R01db43d504c64ebb" /><Relationship Type="http://schemas.openxmlformats.org/officeDocument/2006/relationships/slide" Target="/ppt/slides/slide20.xml" Id="Rd92597e3b68c4210" /><Relationship Type="http://schemas.openxmlformats.org/officeDocument/2006/relationships/slide" Target="/ppt/slides/slide21.xml" Id="Refc7b9cb71284f90" /><Relationship Type="http://schemas.openxmlformats.org/officeDocument/2006/relationships/slide" Target="/ppt/slides/slide22.xml" Id="Rd12ac978f99447fc" /><Relationship Type="http://schemas.openxmlformats.org/officeDocument/2006/relationships/slide" Target="/ppt/slides/slide23.xml" Id="R765b94c01def44dd" /><Relationship Type="http://schemas.openxmlformats.org/officeDocument/2006/relationships/slide" Target="/ppt/slides/slide24.xml" Id="R0b8dbfebb3184941" /><Relationship Type="http://schemas.openxmlformats.org/officeDocument/2006/relationships/slide" Target="/ppt/slides/slide25.xml" Id="R11564c19f2194213" /><Relationship Type="http://schemas.openxmlformats.org/officeDocument/2006/relationships/slide" Target="/ppt/slides/slide26.xml" Id="R90ced59484e4433c" /><Relationship Type="http://schemas.openxmlformats.org/officeDocument/2006/relationships/slide" Target="/ppt/slides/slide27.xml" Id="R22f198f5f60e4768" /><Relationship Type="http://schemas.openxmlformats.org/officeDocument/2006/relationships/slide" Target="/ppt/slides/slide28.xml" Id="R4609d70facf448a7" /><Relationship Type="http://schemas.openxmlformats.org/officeDocument/2006/relationships/slide" Target="/ppt/slides/slide29.xml" Id="R56a0a8e9868940f8" /><Relationship Type="http://schemas.openxmlformats.org/officeDocument/2006/relationships/slide" Target="/ppt/slides/slide30.xml" Id="R054c9579161743d2" /><Relationship Type="http://schemas.openxmlformats.org/officeDocument/2006/relationships/slide" Target="/ppt/slides/slide31.xml" Id="R75e62695b19b4ed3" /><Relationship Type="http://schemas.openxmlformats.org/officeDocument/2006/relationships/slide" Target="/ppt/slides/slide32.xml" Id="Rb075ea572d18452e" /><Relationship Type="http://schemas.openxmlformats.org/officeDocument/2006/relationships/slide" Target="/ppt/slides/slide33.xml" Id="Re780c5b2a0b644f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1f0a3072c214e1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Default Codex Theme">
  <a:themeElements>
    <a:clrScheme name="BOT Color Palette 2026">
      <a:dk1>
        <a:srgbClr val="000000"/>
      </a:dk1>
      <a:lt1>
        <a:srgbClr val="FFFFFF"/>
      </a:lt1>
      <a:dk2>
        <a:srgbClr val="08284F"/>
      </a:dk2>
      <a:lt2>
        <a:srgbClr val="F9FCFF"/>
      </a:lt2>
      <a:accent1>
        <a:srgbClr val="175CD4"/>
      </a:accent1>
      <a:accent2>
        <a:srgbClr val="0B3668"/>
      </a:accent2>
      <a:accent3>
        <a:srgbClr val="EDF5FE"/>
      </a:accent3>
      <a:accent4>
        <a:srgbClr val="7E91A8"/>
      </a:accent4>
      <a:accent5>
        <a:srgbClr val="004142"/>
      </a:accent5>
      <a:accent6>
        <a:srgbClr val="407879"/>
      </a:accent6>
      <a:hlink>
        <a:srgbClr val="00ABFF"/>
      </a:hlink>
      <a:folHlink>
        <a:srgbClr val="430942"/>
      </a:folHlink>
    </a:clrScheme>
    <a:fontScheme name="Helvetica Neue">
      <a:majorFont>
        <a:latin typeface="Helvetica Neue"/>
        <a:ea typeface=""/>
        <a:cs typeface=""/>
      </a:majorFont>
      <a:minorFont>
        <a:latin typeface="Helvetica Neue"/>
        <a:ea typeface=""/>
        <a:cs typeface=""/>
      </a:minorFont>
    </a:fontScheme>
    <a:fmtScheme name="BOT Color Palette 2026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d56c491555e450b" /><Relationship Type="http://schemas.openxmlformats.org/officeDocument/2006/relationships/notesMaster" Target="/ppt/notesMasters/notesMaster1.xml" Id="Rb1fa1359d53c418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96f3231e87e45bc" /><Relationship Type="http://schemas.openxmlformats.org/officeDocument/2006/relationships/notesMaster" Target="/ppt/notesMasters/notesMaster1.xml" Id="Reed3125e6d324fa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756bd327156489f" /><Relationship Type="http://schemas.openxmlformats.org/officeDocument/2006/relationships/notesMaster" Target="/ppt/notesMasters/notesMaster1.xml" Id="R37e406f8410746a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f00e80976b446bd" /><Relationship Type="http://schemas.openxmlformats.org/officeDocument/2006/relationships/notesMaster" Target="/ppt/notesMasters/notesMaster1.xml" Id="R296a1b67a9bf4cf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0bd4cfa704a4ef4" /><Relationship Type="http://schemas.openxmlformats.org/officeDocument/2006/relationships/notesMaster" Target="/ppt/notesMasters/notesMaster1.xml" Id="Rcfaaea9f5abf493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bf77ea408504870" /><Relationship Type="http://schemas.openxmlformats.org/officeDocument/2006/relationships/notesMaster" Target="/ppt/notesMasters/notesMaster1.xml" Id="R4d44ffbc141b426c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4ac4cf52401f46b3" /><Relationship Type="http://schemas.openxmlformats.org/officeDocument/2006/relationships/notesMaster" Target="/ppt/notesMasters/notesMaster1.xml" Id="R7c98cf761d744a0b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cf7460b2188e4cc2" /><Relationship Type="http://schemas.openxmlformats.org/officeDocument/2006/relationships/notesMaster" Target="/ppt/notesMasters/notesMaster1.xml" Id="R4f1686ea6d394c5a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d6609eb7b98b4cb6" /><Relationship Type="http://schemas.openxmlformats.org/officeDocument/2006/relationships/notesMaster" Target="/ppt/notesMasters/notesMaster1.xml" Id="Re670eaff13614b41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86c9e8db00db433a" /><Relationship Type="http://schemas.openxmlformats.org/officeDocument/2006/relationships/notesMaster" Target="/ppt/notesMasters/notesMaster1.xml" Id="R1dd15f9fa20f447f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4af8c565117f48a7" /><Relationship Type="http://schemas.openxmlformats.org/officeDocument/2006/relationships/notesMaster" Target="/ppt/notesMasters/notesMaster1.xml" Id="Rbeadec89268e45a6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bec217387d3e4290" /><Relationship Type="http://schemas.openxmlformats.org/officeDocument/2006/relationships/notesMaster" Target="/ppt/notesMasters/notesMaster1.xml" Id="R1f7a1078043141fd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f8d40a38adf648d6" /><Relationship Type="http://schemas.openxmlformats.org/officeDocument/2006/relationships/notesMaster" Target="/ppt/notesMasters/notesMaster1.xml" Id="R41888812c3c84cab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5aedb05dd5434fcc" /><Relationship Type="http://schemas.openxmlformats.org/officeDocument/2006/relationships/notesMaster" Target="/ppt/notesMasters/notesMaster1.xml" Id="R76408da71c41448b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439f27706e3a4d5d" /><Relationship Type="http://schemas.openxmlformats.org/officeDocument/2006/relationships/notesMaster" Target="/ppt/notesMasters/notesMaster1.xml" Id="R0c4c00b7d55d4354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3f828df155f74f04" /><Relationship Type="http://schemas.openxmlformats.org/officeDocument/2006/relationships/notesMaster" Target="/ppt/notesMasters/notesMaster1.xml" Id="Rfa811a7873fb4dad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68122b6812dc49f1" /><Relationship Type="http://schemas.openxmlformats.org/officeDocument/2006/relationships/notesMaster" Target="/ppt/notesMasters/notesMaster1.xml" Id="R7f2e0dc766c0476f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2b6951429baa4918" /><Relationship Type="http://schemas.openxmlformats.org/officeDocument/2006/relationships/notesMaster" Target="/ppt/notesMasters/notesMaster1.xml" Id="R003b9c1dba58445a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61a85441e7684c50" /><Relationship Type="http://schemas.openxmlformats.org/officeDocument/2006/relationships/notesMaster" Target="/ppt/notesMasters/notesMaster1.xml" Id="R2040329ab5904a15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e73d5b33325d449b" /><Relationship Type="http://schemas.openxmlformats.org/officeDocument/2006/relationships/notesMaster" Target="/ppt/notesMasters/notesMaster1.xml" Id="R9fd6002fdf1d4b04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df28e7e968084b95" /><Relationship Type="http://schemas.openxmlformats.org/officeDocument/2006/relationships/notesMaster" Target="/ppt/notesMasters/notesMaster1.xml" Id="Rc962ea3a77ad47a8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52144797700447cf" /><Relationship Type="http://schemas.openxmlformats.org/officeDocument/2006/relationships/notesMaster" Target="/ppt/notesMasters/notesMaster1.xml" Id="R1c49da840f574589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c82c60c6f71c4fd2" /><Relationship Type="http://schemas.openxmlformats.org/officeDocument/2006/relationships/notesMaster" Target="/ppt/notesMasters/notesMaster1.xml" Id="R4ce9921d47b7416a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c323808068b84e26" /><Relationship Type="http://schemas.openxmlformats.org/officeDocument/2006/relationships/notesMaster" Target="/ppt/notesMasters/notesMaster1.xml" Id="Rc022d93459fb42df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191064a57c0c47fe" /><Relationship Type="http://schemas.openxmlformats.org/officeDocument/2006/relationships/notesMaster" Target="/ppt/notesMasters/notesMaster1.xml" Id="Rcee5c09d9c254b45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3caaa8f4b6984779" /><Relationship Type="http://schemas.openxmlformats.org/officeDocument/2006/relationships/notesMaster" Target="/ppt/notesMasters/notesMaster1.xml" Id="Rbf333c05bc1b4fec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e1202611fb67423f" /><Relationship Type="http://schemas.openxmlformats.org/officeDocument/2006/relationships/notesMaster" Target="/ppt/notesMasters/notesMaster1.xml" Id="Rd956dd6ecef14dc5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8d8e32e3adf14f39" /><Relationship Type="http://schemas.openxmlformats.org/officeDocument/2006/relationships/notesMaster" Target="/ppt/notesMasters/notesMaster1.xml" Id="R180405cd47c34015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e85abf95830046de" /><Relationship Type="http://schemas.openxmlformats.org/officeDocument/2006/relationships/notesMaster" Target="/ppt/notesMasters/notesMaster1.xml" Id="R415fce98604f4ad5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2310589d3fac4ecb" /><Relationship Type="http://schemas.openxmlformats.org/officeDocument/2006/relationships/notesMaster" Target="/ppt/notesMasters/notesMaster1.xml" Id="R6686bab81db040d7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85d6814728d64c41" /><Relationship Type="http://schemas.openxmlformats.org/officeDocument/2006/relationships/notesMaster" Target="/ppt/notesMasters/notesMaster1.xml" Id="Rc57acc0f4dad400d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f2ba782cb1354edd" /><Relationship Type="http://schemas.openxmlformats.org/officeDocument/2006/relationships/notesMaster" Target="/ppt/notesMasters/notesMaster1.xml" Id="R287c40e9720c488e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f81aa380b9a549e7" /><Relationship Type="http://schemas.openxmlformats.org/officeDocument/2006/relationships/notesMaster" Target="/ppt/notesMasters/notesMaster1.xml" Id="R45fd38b574ad431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docs/tf_technical_article_draft.md, capa, Resumo e Seção 1.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docs/tf_technical_article_draft.md, Sumário e Seções 1 a 7.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[Sources]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docs/tf_technical_article_draft.md, Seção 1.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docs/tf_technical_article_draft.md, Seção 2 e Figura 1.</a:t>
            </a:r>
          </a:p>
          <a:p xmlns:a="http://schemas.openxmlformats.org/drawingml/2006/main">
            <a:r>
              <a:t>- Plano Nacional de Logística, dados de 2015, conforme a referência do relatório.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[Sources]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docs/tf_technical_article_draft.md, Seção 2.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docs/tf_technical_article_draft.md, Seção 3.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[Sources]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docs/tf_technical_article_draft.md, Seção 3, Quadro 1 e Tabela 1.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[Sources]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docs/tf_technical_article_draft.md, Seção 3.1.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docs/tf_technical_article_draft.md, Seção 4.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[Sources]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docs/tf_technical_article_draft.md, Seção 4.1.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[Sources]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docs/tf_technical_article_draft.md, Seções 4.2, 4.3 e 5.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[Sources]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docs/tf_technical_article_draft.md, Seções 4.2.1 a 4.2.3.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docs/tf_technical_article_draft.md, Seção 4.2.4 e Tabela 3.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[Sources]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docs/tf_technical_article_draft.md, Seção 4.3.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[Sources]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docs/tf_technical_article_draft.md, Seções 4.3.1 e 4.3.2.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docs/tf_technical_article_draft.md, Seção 4.3.3.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[Sources]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docs/tf_technical_article_draft.md, Seções 4.3.4.1.1 e 4.3.4.1.2.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docs/images/antaq_2025_carga_recorte.png.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docs/images/antaq_2025_atracacao_recorte.png.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docs/tf_technical_article_draft.md, Seção 4.3.4.1.3.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[Sources]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docs/tf_technical_article_draft.md, Seções 4.3.4.1.3.1 e 4.3.4.1.3.2, Tabela 6.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[Sources]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docs/tf_technical_article_draft.md, Seção 4.3.4.2.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European Commission, Guidance Document on Monitoring and Reporting of Maritime Transport Emissions, 2025, conforme a referência do relatório.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docs/tf_technical_article_draft.md, Seções 4.3.4.2.1 a 4.3.4.2.4.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[Sources]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docs/tf_technical_article_draft.md, Seção 4.3.4.3.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docs/tf_technical_article_draft.md, Seção 4.3.4.4.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docs/tf_technical_article_draft.md, Seção 4.3.4.5.</a:t>
            </a:r>
          </a:p>
          <a:p xmlns:a="http://schemas.openxmlformats.org/drawingml/2006/main">
            <a:r>
              <a:t>- docs/images/fig07_cinco_recortes_santos_manaus.png.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[Sources]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docs/tf_technical_article_draft.md, Seções 4.3.4.6, 4.3.5, 4.3.6 e Tabela 10.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docs/tf_technical_article_draft.md, Seção 4.4, Tabela 11.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docs/tf_technical_article_draft.md, Seção 5.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[Sources]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docs/tf_technical_article_draft.md, Seções 5.1 a 5.7.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[Sources]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docs/tf_technical_article_draft.md, Seção 5.8.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docs/images/router-map.png.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docs/images/heatmap-map.png.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[Sources]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docs/tf_technical_article_draft.md, Seção 5.7 e Tabela 19.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[Sources]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docs/tf_technical_article_draft.md, Seção 6.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docs/tf_technical_article_draft.md, Seções 1, 3.1, 6 e 7.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docs/tf_technical_article_draft.md, Seção 7.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82bcddd5c074a0a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5bfe77d6d50437f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daca7abf4ca413e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582cd5b525a44fd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66d2289b6044428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050a8c8f02440e9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24a4c5d028f4e5d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05fb315e14f4e76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3b240082cb24aac" /><Relationship Type="http://schemas.openxmlformats.org/officeDocument/2006/relationships/image" Target="/ppt/media/image.png" Id="R1fa6c42f728c46f8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f6e226379514c3e" /><Relationship Type="http://schemas.openxmlformats.org/officeDocument/2006/relationships/image" Target="/ppt/media/image2.png" Id="Ra2edcf1ac0ac4db4" /></Relationships>
</file>

<file path=ppt/slideLayouts/slideLayout1.xml><?xml version="1.0" encoding="utf-8"?>
<p:sldLayout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683004A5-B645-655E-5362-4217D55892E1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393700" y="1041400"/>
            <a:ext cx="7493000" cy="2491490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6000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C57031B1-59B2-C235-9FDD-8050418A5FD8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393700" y="4356100"/>
            <a:ext cx="5537200" cy="1638300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r>
              <a:t>Click to edit Master subtitle style</a:t>
            </a:r>
          </a:p>
        </p:txBody>
      </p:sp>
    </p:spTree>
  </p:cSld>
</p:sldLayout>
</file>

<file path=ppt/slideLayouts/slideLayout2.xml><?xml version="1.0" encoding="utf-8"?>
<p:sldLayout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5E851FDE-9E0B-568C-1CBA-E72B86CC06ED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2032000"/>
            <a:ext cx="114046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9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29CCD18F-3BF6-A3EE-DAAE-66BD406D7E8D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100">
                <a:solidFill>
                  <a:schemeClr val="tx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10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5186992D-ADA6-5A23-EBD5-6BEF0A2E61BA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1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CDBB333F-FFCF-AA9E-7AC0-64DB02353FB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</p:spTree>
  </p:cSld>
</p:sldLayout>
</file>

<file path=ppt/slideLayouts/slideLayout3.xml><?xml version="1.0" encoding="utf-8"?>
<p:sldLayout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4DCC3060-FADA-4310-30F9-24EC34B5AA87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2032000"/>
            <a:ext cx="55372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10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19E7B047-08E6-29C1-F101-C084D555AACC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100">
                <a:solidFill>
                  <a:schemeClr val="tx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1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3DE564C6-8AA0-935D-A919-07AFA15B335B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1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</a:p>
        </p:txBody>
      </p:sp>
      <p:sp>
        <p:nvSpPr>
          <p:cNvPr id="12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4ABE46D3-8F05-1C7F-3EC7-20BFCC76C251}"/>
              </a:ext>
            </a:extLst>
          </p:cNvPr>
          <p:cNvSpPr>
            <a:spLocks xmlns:a="http://schemas.openxmlformats.org/drawingml/2006/main" noGrp="1"/>
          </p:cNvSpPr>
          <p:nvPr>
            <p:ph idx="10"/>
          </p:nvPr>
        </p:nvSpPr>
        <p:spPr>
          <a:xfrm xmlns:a="http://schemas.openxmlformats.org/drawingml/2006/main">
            <a:off x="6256618" y="2032000"/>
            <a:ext cx="55372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739D2C21-36BF-25E7-8E97-1D17F313F7A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</p:spTree>
  </p:cSld>
</p:sldLayout>
</file>

<file path=ppt/slideLayouts/slideLayout4.xml><?xml version="1.0" encoding="utf-8"?>
<p:sldLayout xmlns:p="http://schemas.openxmlformats.org/presentationml/2006/main" preserve="1" userDrawn="1">
  <p:cSld name="Three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6F7D12C6-B3BC-2F80-A661-00CC228193B5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2032000"/>
            <a:ext cx="35687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12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0682803B-B799-370F-B1B9-EB49CCB10A11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100">
                <a:solidFill>
                  <a:schemeClr val="tx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13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AFE26095-B1FD-5C7C-C8D6-78ABF739DCBA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1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</a:p>
        </p:txBody>
      </p:sp>
      <p:sp>
        <p:nvSpPr>
          <p:cNvPr id="14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80E090C5-E6C8-92F2-E8C2-A840B8F1807D}"/>
              </a:ext>
            </a:extLst>
          </p:cNvPr>
          <p:cNvSpPr>
            <a:spLocks xmlns:a="http://schemas.openxmlformats.org/drawingml/2006/main" noGrp="1"/>
          </p:cNvSpPr>
          <p:nvPr>
            <p:ph idx="10"/>
          </p:nvPr>
        </p:nvSpPr>
        <p:spPr>
          <a:xfrm xmlns:a="http://schemas.openxmlformats.org/drawingml/2006/main">
            <a:off x="4318000" y="2032000"/>
            <a:ext cx="35687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15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0C6D2D15-AEC2-9F99-316F-C37AF863965D}"/>
              </a:ext>
            </a:extLst>
          </p:cNvPr>
          <p:cNvSpPr>
            <a:spLocks xmlns:a="http://schemas.openxmlformats.org/drawingml/2006/main" noGrp="1"/>
          </p:cNvSpPr>
          <p:nvPr>
            <p:ph idx="11"/>
          </p:nvPr>
        </p:nvSpPr>
        <p:spPr>
          <a:xfrm xmlns:a="http://schemas.openxmlformats.org/drawingml/2006/main">
            <a:off x="8232273" y="2032000"/>
            <a:ext cx="35687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EC59174D-4FF5-0FD8-FE78-F71A39E187A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</p:spTree>
  </p:cSld>
</p:sldLayout>
</file>

<file path=ppt/slideLayouts/slideLayout5.xml><?xml version="1.0" encoding="utf-8"?>
<p:sldLayout xmlns:p="http://schemas.openxmlformats.org/presentationml/2006/main" preserve="1" userDrawn="1">
  <p:cSld name="Four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6F7D12C6-B3BC-2F80-A661-00CC228193B5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4826000"/>
            <a:ext cx="2595934" cy="1168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>
            <a:lvl1pPr>
              <a:buNone/>
              <a:defRPr sz="1600"/>
            </a:lvl1pPr>
            <a:lvl2pPr>
              <a:buNone/>
              <a:defRPr sz="1600"/>
            </a:lvl2pPr>
            <a:lvl3pPr>
              <a:buNone/>
              <a:defRPr sz="1600"/>
            </a:lvl3pPr>
            <a:lvl4pPr>
              <a:buNone/>
              <a:defRPr sz="1600"/>
            </a:lvl4pPr>
            <a:lvl5pPr>
              <a:buNone/>
              <a:defRPr sz="1600"/>
            </a:lvl5pPr>
          </a:lstStyle>
          <a:p xmlns:a="http://schemas.openxmlformats.org/drawingml/2006/main">
            <a:pPr lvl="0">
              <a:buNone/>
            </a:pPr>
            <a:r>
              <a:t>Click to edit Master</a:t>
            </a:r>
          </a:p>
        </p:txBody>
      </p:sp>
      <p:sp>
        <p:nvSpPr>
          <p:cNvPr id="12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0682803B-B799-370F-B1B9-EB49CCB10A11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100">
                <a:solidFill>
                  <a:schemeClr val="tx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13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AFE26095-B1FD-5C7C-C8D6-78ABF739DCBA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1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EC59174D-4FF5-0FD8-FE78-F71A39E187A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8" name="Text Placeholder 7">
            <a:extLst xmlns:a="http://schemas.openxmlformats.org/drawingml/2006/main">
              <a:ext uri="{FF2B5EF4-FFF2-40B4-BE49-F238E27FC236}">
                <a16:creationId xmlns:a16="http://schemas.microsoft.com/office/drawing/2014/main" id="{4F70A9DA-D783-0627-3166-E13B68C2ADAC}"/>
              </a:ext>
            </a:extLst>
          </p:cNvPr>
          <p:cNvSpPr>
            <a:spLocks xmlns:a="http://schemas.openxmlformats.org/drawingml/2006/main" noGrp="1"/>
          </p:cNvSpPr>
          <p:nvPr>
            <p:ph type="body" idx="12"/>
          </p:nvPr>
        </p:nvSpPr>
        <p:spPr>
          <a:xfrm xmlns:a="http://schemas.openxmlformats.org/drawingml/2006/main">
            <a:off x="3334966" y="4826000"/>
            <a:ext cx="2595934" cy="1168400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1800"/>
            </a:lvl1pPr>
            <a:lvl2pPr>
              <a:buNone/>
              <a:defRPr sz="1800"/>
            </a:lvl2pPr>
            <a:lvl3pPr>
              <a:buNone/>
              <a:defRPr sz="1800"/>
            </a:lvl3pPr>
            <a:lvl4pPr>
              <a:buNone/>
              <a:defRPr sz="1800"/>
            </a:lvl4pPr>
            <a:lvl5pPr>
              <a:buNone/>
              <a:defRPr sz="1800"/>
            </a:lvl5pPr>
          </a:lstStyle>
          <a:p xmlns:a="http://schemas.openxmlformats.org/drawingml/2006/main">
            <a:pPr lvl="0">
              <a:buNone/>
            </a:pPr>
            <a:r>
              <a:t>Click to edit Master</a:t>
            </a:r>
          </a:p>
        </p:txBody>
      </p:sp>
      <p:sp>
        <p:nvSpPr>
          <p:cNvPr id="9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75BF2647-8E8C-CAEE-896D-0E1567AF7E99}"/>
              </a:ext>
            </a:extLst>
          </p:cNvPr>
          <p:cNvSpPr>
            <a:spLocks xmlns:a="http://schemas.openxmlformats.org/drawingml/2006/main" noGrp="1"/>
          </p:cNvSpPr>
          <p:nvPr>
            <p:ph idx="13"/>
          </p:nvPr>
        </p:nvSpPr>
        <p:spPr>
          <a:xfrm xmlns:a="http://schemas.openxmlformats.org/drawingml/2006/main">
            <a:off x="6264413" y="4826000"/>
            <a:ext cx="2595934" cy="1168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>
            <a:lvl1pPr>
              <a:buNone/>
              <a:defRPr sz="1600"/>
            </a:lvl1pPr>
            <a:lvl2pPr>
              <a:buNone/>
              <a:defRPr sz="1600"/>
            </a:lvl2pPr>
            <a:lvl3pPr>
              <a:buNone/>
              <a:defRPr sz="1600"/>
            </a:lvl3pPr>
            <a:lvl4pPr>
              <a:buNone/>
              <a:defRPr sz="1600"/>
            </a:lvl4pPr>
            <a:lvl5pPr>
              <a:buNone/>
              <a:defRPr sz="1600"/>
            </a:lvl5pPr>
          </a:lstStyle>
          <a:p xmlns:a="http://schemas.openxmlformats.org/drawingml/2006/main">
            <a:pPr lvl="0">
              <a:buNone/>
            </a:pPr>
            <a:r>
              <a:t>Click to edit Master</a:t>
            </a:r>
          </a:p>
        </p:txBody>
      </p:sp>
      <p:sp>
        <p:nvSpPr>
          <p:cNvPr id="10" name="Text Placeholder 7">
            <a:extLst xmlns:a="http://schemas.openxmlformats.org/drawingml/2006/main">
              <a:ext uri="{FF2B5EF4-FFF2-40B4-BE49-F238E27FC236}">
                <a16:creationId xmlns:a16="http://schemas.microsoft.com/office/drawing/2014/main" id="{37C6F143-221A-9959-8FBA-B9B1DB6602D0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>
          <a:xfrm xmlns:a="http://schemas.openxmlformats.org/drawingml/2006/main">
            <a:off x="9205679" y="4826000"/>
            <a:ext cx="2595934" cy="1168400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1800"/>
            </a:lvl1pPr>
            <a:lvl2pPr>
              <a:buNone/>
              <a:defRPr sz="1800"/>
            </a:lvl2pPr>
            <a:lvl3pPr>
              <a:buNone/>
              <a:defRPr sz="1800"/>
            </a:lvl3pPr>
            <a:lvl4pPr>
              <a:buNone/>
              <a:defRPr sz="1800"/>
            </a:lvl4pPr>
            <a:lvl5pPr>
              <a:buNone/>
              <a:defRPr sz="1800"/>
            </a:lvl5pPr>
          </a:lstStyle>
          <a:p xmlns:a="http://schemas.openxmlformats.org/drawingml/2006/main">
            <a:pPr lvl="0">
              <a:buNone/>
            </a:pPr>
            <a:r>
              <a:t>Click to edit Master</a:t>
            </a:r>
          </a:p>
        </p:txBody>
      </p:sp>
    </p:spTree>
  </p:cSld>
</p:sldLayout>
</file>

<file path=ppt/slideLayouts/slideLayout6.xml><?xml version="1.0" encoding="utf-8"?>
<p:sldLayout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DB1182C5-F22B-2641-06DE-4EDACA3C1DDD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100">
                <a:solidFill>
                  <a:schemeClr val="tx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9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F97A4AD5-204B-38FD-4F33-270C2F9F5CC6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1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75CF9983-3FD7-FAE4-9F0B-B2CE806D891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</p:spTree>
  </p:cSld>
</p:sldLayout>
</file>

<file path=ppt/slideLayouts/slideLayout7.xml><?xml version="1.0" encoding="utf-8"?>
<p:sldLayout xmlns:p="http://schemas.openxmlformats.org/presentationml/2006/main" preserve="1" userDrawn="1">
  <p:cSld name="Footer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1012CBCC-C555-8C11-443D-86D6F7A45CF8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100">
                <a:solidFill>
                  <a:schemeClr val="tx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8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B69B260B-B882-BF7F-1BB1-28B9578A25A2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1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</a:p>
        </p:txBody>
      </p:sp>
    </p:spTree>
  </p:cSld>
</p:sldLayout>
</file>

<file path=ppt/slideLayouts/slideLayout8.xml><?xml version="1.0" encoding="utf-8"?>
<p:sldLayout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9.xml><?xml version="1.0" encoding="utf-8"?>
<p:sldLayout xmlns:p="http://schemas.openxmlformats.org/presentationml/2006/main" preserve="1" userDrawn="1">
  <p:cSld name="36 Field Grid">
    <p:bg>
      <p:bgPr>
        <a:blipFill xmlns:a="http://schemas.openxmlformats.org/drawingml/2006/main" rotWithShape="1">
          <a:blip xmlns:r="http://schemas.openxmlformats.org/officeDocument/2006/relationships" r:embed="R1fa6c42f728c46f8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10.xml><?xml version="1.0" encoding="utf-8"?>
<p:sldLayout xmlns:p="http://schemas.openxmlformats.org/presentationml/2006/main" preserve="1" userDrawn="1">
  <p:cSld name="48 Field Grid">
    <p:bg>
      <p:bgPr>
        <a:blipFill xmlns:a="http://schemas.openxmlformats.org/drawingml/2006/main" rotWithShape="1">
          <a:blip xmlns:r="http://schemas.openxmlformats.org/officeDocument/2006/relationships" r:embed="Ra2edcf1ac0ac4db4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97ce4824ead47c8" /><Relationship Type="http://schemas.openxmlformats.org/officeDocument/2006/relationships/slideLayout" Target="/ppt/slideLayouts/slideLayout1.xml" Id="Ra821150727db40f5" /><Relationship Type="http://schemas.openxmlformats.org/officeDocument/2006/relationships/slideLayout" Target="/ppt/slideLayouts/slideLayout2.xml" Id="R66357a4eaa124cae" /><Relationship Type="http://schemas.openxmlformats.org/officeDocument/2006/relationships/slideLayout" Target="/ppt/slideLayouts/slideLayout3.xml" Id="R6b9b7ce009484487" /><Relationship Type="http://schemas.openxmlformats.org/officeDocument/2006/relationships/slideLayout" Target="/ppt/slideLayouts/slideLayout4.xml" Id="R6cccd1bfbc334e3b" /><Relationship Type="http://schemas.openxmlformats.org/officeDocument/2006/relationships/slideLayout" Target="/ppt/slideLayouts/slideLayout5.xml" Id="R15905d3c13414b68" /><Relationship Type="http://schemas.openxmlformats.org/officeDocument/2006/relationships/slideLayout" Target="/ppt/slideLayouts/slideLayout6.xml" Id="R12951874e7894a72" /><Relationship Type="http://schemas.openxmlformats.org/officeDocument/2006/relationships/slideLayout" Target="/ppt/slideLayouts/slideLayout7.xml" Id="R2b29401f335b4937" /><Relationship Type="http://schemas.openxmlformats.org/officeDocument/2006/relationships/slideLayout" Target="/ppt/slideLayouts/slideLayout8.xml" Id="R61b79f233bed41e4" /><Relationship Type="http://schemas.openxmlformats.org/officeDocument/2006/relationships/slideLayout" Target="/ppt/slideLayouts/slideLayout9.xml" Id="R5d500f90a93b4f7b" /><Relationship Type="http://schemas.openxmlformats.org/officeDocument/2006/relationships/slideLayout" Target="/ppt/slideLayouts/slideLayout10.xml" Id="Rbf06b7866a5a4456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BB87ED2E-D8FF-5C8C-ED50-59BA3091C3E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05B0E1CB-6DCA-2E9F-2B74-4309B4084C0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93700" y="2032000"/>
            <a:ext cx="114046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3C75650C-2983-5B02-8421-FF1818435433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900">
                <a:solidFill>
                  <a:schemeClr val="tx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D872C88C-1AB3-96BA-C9E5-3435A4BD59BB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9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821150727db40f5"/>
    <p:sldLayoutId xmlns:r="http://schemas.openxmlformats.org/officeDocument/2006/relationships" id="2147483650" r:id="R66357a4eaa124cae"/>
    <p:sldLayoutId xmlns:r="http://schemas.openxmlformats.org/officeDocument/2006/relationships" id="2147483651" r:id="R6b9b7ce009484487"/>
    <p:sldLayoutId xmlns:r="http://schemas.openxmlformats.org/officeDocument/2006/relationships" id="2147483652" r:id="R6cccd1bfbc334e3b"/>
    <p:sldLayoutId xmlns:r="http://schemas.openxmlformats.org/officeDocument/2006/relationships" id="2147483653" r:id="R15905d3c13414b68"/>
    <p:sldLayoutId xmlns:r="http://schemas.openxmlformats.org/officeDocument/2006/relationships" id="2147483654" r:id="R12951874e7894a72"/>
    <p:sldLayoutId xmlns:r="http://schemas.openxmlformats.org/officeDocument/2006/relationships" id="2147483655" r:id="R2b29401f335b4937"/>
    <p:sldLayoutId xmlns:r="http://schemas.openxmlformats.org/officeDocument/2006/relationships" id="2147483656" r:id="R61b79f233bed41e4"/>
    <p:sldLayoutId xmlns:r="http://schemas.openxmlformats.org/officeDocument/2006/relationships" id="2147483657" r:id="R5d500f90a93b4f7b"/>
    <p:sldLayoutId xmlns:r="http://schemas.openxmlformats.org/officeDocument/2006/relationships" id="2147483658" r:id="Rbf06b7866a5a4456"/>
  </p:sldLayoutIdLst>
  <p:hf hdr="0" dt="0"/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26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  <p:extLst>
    <p:ext uri="{27BBF7A9-308A-43DC-89C8-2F10F3537804}">
      <p15:sldGuideLst xmlns:p15="http://schemas.microsoft.com/office/powerpoint/2012/main">
        <p15:guide id="1" userDrawn="1">
          <p15:clr>
            <a:srgbClr xmlns:a="http://schemas.openxmlformats.org/drawingml/2006/main" val="F26B43"/>
          </p15:clr>
        </p15:guide>
        <p15:guide id="2" pos="7680" userDrawn="1">
          <p15:clr>
            <a:srgbClr xmlns:a="http://schemas.openxmlformats.org/drawingml/2006/main" val="F26B43"/>
          </p15:clr>
        </p15:guide>
        <p15:guide id="3" pos="248" userDrawn="1">
          <p15:clr>
            <a:srgbClr xmlns:a="http://schemas.openxmlformats.org/drawingml/2006/main" val="F26B43"/>
          </p15:clr>
        </p15:guide>
        <p15:guide id="4" pos="1264" userDrawn="1">
          <p15:clr>
            <a:srgbClr xmlns:a="http://schemas.openxmlformats.org/drawingml/2006/main" val="F26B43"/>
          </p15:clr>
        </p15:guide>
        <p15:guide id="5" pos="1480" userDrawn="1">
          <p15:clr>
            <a:srgbClr xmlns:a="http://schemas.openxmlformats.org/drawingml/2006/main" val="F26B43"/>
          </p15:clr>
        </p15:guide>
        <p15:guide id="6" pos="2496" userDrawn="1">
          <p15:clr>
            <a:srgbClr xmlns:a="http://schemas.openxmlformats.org/drawingml/2006/main" val="F26B43"/>
          </p15:clr>
        </p15:guide>
        <p15:guide id="7" pos="2712" userDrawn="1">
          <p15:clr>
            <a:srgbClr xmlns:a="http://schemas.openxmlformats.org/drawingml/2006/main" val="F26B43"/>
          </p15:clr>
        </p15:guide>
        <p15:guide id="8" pos="3736" userDrawn="1">
          <p15:clr>
            <a:srgbClr xmlns:a="http://schemas.openxmlformats.org/drawingml/2006/main" val="F26B43"/>
          </p15:clr>
        </p15:guide>
        <p15:guide id="9" pos="3944" userDrawn="1">
          <p15:clr>
            <a:srgbClr xmlns:a="http://schemas.openxmlformats.org/drawingml/2006/main" val="F26B43"/>
          </p15:clr>
        </p15:guide>
        <p15:guide id="10" pos="4968" userDrawn="1">
          <p15:clr>
            <a:srgbClr xmlns:a="http://schemas.openxmlformats.org/drawingml/2006/main" val="F26B43"/>
          </p15:clr>
        </p15:guide>
        <p15:guide id="11" pos="5184" userDrawn="1">
          <p15:clr>
            <a:srgbClr xmlns:a="http://schemas.openxmlformats.org/drawingml/2006/main" val="F26B43"/>
          </p15:clr>
        </p15:guide>
        <p15:guide id="12" pos="6200" userDrawn="1">
          <p15:clr>
            <a:srgbClr xmlns:a="http://schemas.openxmlformats.org/drawingml/2006/main" val="F26B43"/>
          </p15:clr>
        </p15:guide>
        <p15:guide id="13" pos="6416" userDrawn="1">
          <p15:clr>
            <a:srgbClr xmlns:a="http://schemas.openxmlformats.org/drawingml/2006/main" val="F26B43"/>
          </p15:clr>
        </p15:guide>
        <p15:guide id="14" pos="7432" userDrawn="1">
          <p15:clr>
            <a:srgbClr xmlns:a="http://schemas.openxmlformats.org/drawingml/2006/main" val="F26B43"/>
          </p15:clr>
        </p15:guide>
        <p15:guide id="15" orient="horz" userDrawn="1">
          <p15:clr>
            <a:srgbClr xmlns:a="http://schemas.openxmlformats.org/drawingml/2006/main" val="F26B43"/>
          </p15:clr>
        </p15:guide>
        <p15:guide id="17" orient="horz" pos="248" userDrawn="1">
          <p15:clr>
            <a:srgbClr xmlns:a="http://schemas.openxmlformats.org/drawingml/2006/main" val="F26B43"/>
          </p15:clr>
        </p15:guide>
        <p15:guide id="18" orient="horz" pos="656" userDrawn="1">
          <p15:clr>
            <a:srgbClr xmlns:a="http://schemas.openxmlformats.org/drawingml/2006/main" val="F26B43"/>
          </p15:clr>
        </p15:guide>
        <p15:guide id="19" orient="horz" pos="872" userDrawn="1">
          <p15:clr>
            <a:srgbClr xmlns:a="http://schemas.openxmlformats.org/drawingml/2006/main" val="F26B43"/>
          </p15:clr>
        </p15:guide>
        <p15:guide id="20" orient="horz" pos="1280" userDrawn="1">
          <p15:clr>
            <a:srgbClr xmlns:a="http://schemas.openxmlformats.org/drawingml/2006/main" val="F26B43"/>
          </p15:clr>
        </p15:guide>
        <p15:guide id="21" orient="horz" pos="1496" userDrawn="1">
          <p15:clr>
            <a:srgbClr xmlns:a="http://schemas.openxmlformats.org/drawingml/2006/main" val="F26B43"/>
          </p15:clr>
        </p15:guide>
        <p15:guide id="22" orient="horz" pos="1904" userDrawn="1">
          <p15:clr>
            <a:srgbClr xmlns:a="http://schemas.openxmlformats.org/drawingml/2006/main" val="F26B43"/>
          </p15:clr>
        </p15:guide>
        <p15:guide id="23" orient="horz" pos="2120" userDrawn="1">
          <p15:clr>
            <a:srgbClr xmlns:a="http://schemas.openxmlformats.org/drawingml/2006/main" val="F26B43"/>
          </p15:clr>
        </p15:guide>
        <p15:guide id="24" orient="horz" pos="2528" userDrawn="1">
          <p15:clr>
            <a:srgbClr xmlns:a="http://schemas.openxmlformats.org/drawingml/2006/main" val="F26B43"/>
          </p15:clr>
        </p15:guide>
        <p15:guide id="25" orient="horz" pos="2744" userDrawn="1">
          <p15:clr>
            <a:srgbClr xmlns:a="http://schemas.openxmlformats.org/drawingml/2006/main" val="F26B43"/>
          </p15:clr>
        </p15:guide>
        <p15:guide id="26" orient="horz" pos="3152" userDrawn="1">
          <p15:clr>
            <a:srgbClr xmlns:a="http://schemas.openxmlformats.org/drawingml/2006/main" val="F26B43"/>
          </p15:clr>
        </p15:guide>
        <p15:guide id="27" orient="horz" pos="3368" userDrawn="1">
          <p15:clr>
            <a:srgbClr xmlns:a="http://schemas.openxmlformats.org/drawingml/2006/main" val="F26B43"/>
          </p15:clr>
        </p15:guide>
        <p15:guide id="28" orient="horz" pos="3776" userDrawn="1">
          <p15:clr>
            <a:srgbClr xmlns:a="http://schemas.openxmlformats.org/drawingml/2006/main" val="F26B43"/>
          </p15:clr>
        </p15:guide>
        <p15:guide id="29" orient="horz" pos="4088" userDrawn="1">
          <p15:clr>
            <a:srgbClr xmlns:a="http://schemas.openxmlformats.org/drawingml/2006/main" val="F26B43"/>
          </p15:clr>
        </p15:guide>
      </p15:sldGuideLst>
    </p:ext>
  </p:extLst>
</p:sldMaster>
</file>

<file path=ppt/slideMasters/theme/theme2.xml><?xml version="1.0" encoding="utf-8"?>
<a:theme xmlns:a="http://schemas.openxmlformats.org/drawingml/2006/main" name="Default Codex Theme">
  <a:themeElements>
    <a:clrScheme name="BOT Color Palette 2026">
      <a:dk1>
        <a:srgbClr val="000000"/>
      </a:dk1>
      <a:lt1>
        <a:srgbClr val="FFFFFF"/>
      </a:lt1>
      <a:dk2>
        <a:srgbClr val="08284F"/>
      </a:dk2>
      <a:lt2>
        <a:srgbClr val="F9FCFF"/>
      </a:lt2>
      <a:accent1>
        <a:srgbClr val="175CD4"/>
      </a:accent1>
      <a:accent2>
        <a:srgbClr val="0B3668"/>
      </a:accent2>
      <a:accent3>
        <a:srgbClr val="EDF5FE"/>
      </a:accent3>
      <a:accent4>
        <a:srgbClr val="7E91A8"/>
      </a:accent4>
      <a:accent5>
        <a:srgbClr val="004142"/>
      </a:accent5>
      <a:accent6>
        <a:srgbClr val="407879"/>
      </a:accent6>
      <a:hlink>
        <a:srgbClr val="00ABFF"/>
      </a:hlink>
      <a:folHlink>
        <a:srgbClr val="430942"/>
      </a:folHlink>
    </a:clrScheme>
    <a:fontScheme name="Helvetica Neue">
      <a:majorFont>
        <a:latin typeface="Helvetica Neue"/>
        <a:ea typeface=""/>
        <a:cs typeface=""/>
      </a:majorFont>
      <a:minorFont>
        <a:latin typeface="Helvetica Neue"/>
        <a:ea typeface=""/>
        <a:cs typeface=""/>
      </a:minorFont>
    </a:fontScheme>
    <a:fmtScheme name="BOT Color Palette 2026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042324706264f4c" /><Relationship Type="http://schemas.openxmlformats.org/officeDocument/2006/relationships/notesSlide" Target="/ppt/notesSlides/notesSlide1.xml" Id="Reb53f65262a740b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d27224842ca49c4" /><Relationship Type="http://schemas.openxmlformats.org/officeDocument/2006/relationships/notesSlide" Target="/ppt/notesSlides/notesSlide2.xml" Id="R2cab17414d8b4d4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c3e425306e944a9" /><Relationship Type="http://schemas.openxmlformats.org/officeDocument/2006/relationships/notesSlide" Target="/ppt/notesSlides/notesSlide3.xml" Id="R4d0712da4c2346c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bf817993bfc4344" /><Relationship Type="http://schemas.openxmlformats.org/officeDocument/2006/relationships/chart" Target="/ppt/slides/charts/chart1.xml" Id="Ra39a8149dcad485b" /><Relationship Type="http://schemas.openxmlformats.org/officeDocument/2006/relationships/notesSlide" Target="/ppt/notesSlides/notesSlide4.xml" Id="R491175d1aee84c0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abfc843da454e02" /><Relationship Type="http://schemas.openxmlformats.org/officeDocument/2006/relationships/notesSlide" Target="/ppt/notesSlides/notesSlide5.xml" Id="R346a904b6d694c8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3b9262f536e44425" /><Relationship Type="http://schemas.openxmlformats.org/officeDocument/2006/relationships/notesSlide" Target="/ppt/notesSlides/notesSlide6.xml" Id="R18db58442e2e436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d5d4cd766ae475f" /><Relationship Type="http://schemas.openxmlformats.org/officeDocument/2006/relationships/notesSlide" Target="/ppt/notesSlides/notesSlide7.xml" Id="R3768c823382d42c6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dc509e8593f45ff" /><Relationship Type="http://schemas.openxmlformats.org/officeDocument/2006/relationships/notesSlide" Target="/ppt/notesSlides/notesSlide8.xml" Id="R1bee1c7aa446496c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0c05d172a3e4532" /><Relationship Type="http://schemas.openxmlformats.org/officeDocument/2006/relationships/notesSlide" Target="/ppt/notesSlides/notesSlide9.xml" Id="R4830e3da761f4d6f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f6d0013d5644903" /><Relationship Type="http://schemas.openxmlformats.org/officeDocument/2006/relationships/notesSlide" Target="/ppt/notesSlides/notesSlide10.xml" Id="Rf342e79b57f943e5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4.xml" Id="R8b2ad27683024517" /><Relationship Type="http://schemas.openxmlformats.org/officeDocument/2006/relationships/notesSlide" Target="/ppt/notesSlides/notesSlide11.xml" Id="R9f0db41e137d4308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258a4dd728d4125" /><Relationship Type="http://schemas.openxmlformats.org/officeDocument/2006/relationships/notesSlide" Target="/ppt/notesSlides/notesSlide12.xml" Id="R58e0d4de8d464bc4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4.xml" Id="R03ccea25adb54119" /><Relationship Type="http://schemas.openxmlformats.org/officeDocument/2006/relationships/notesSlide" Target="/ppt/notesSlides/notesSlide13.xml" Id="R2bb30bdfb401420d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3427259c66f4d66" /><Relationship Type="http://schemas.openxmlformats.org/officeDocument/2006/relationships/notesSlide" Target="/ppt/notesSlides/notesSlide14.xml" Id="Rfea00925e9594126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4e85f1f6a354426" /><Relationship Type="http://schemas.openxmlformats.org/officeDocument/2006/relationships/notesSlide" Target="/ppt/notesSlides/notesSlide15.xml" Id="R61febb38340944b3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4318acfc5f4143f1" /><Relationship Type="http://schemas.openxmlformats.org/officeDocument/2006/relationships/notesSlide" Target="/ppt/notesSlides/notesSlide16.xml" Id="Rda822a18549946d2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28aae26ee0c4416" /><Relationship Type="http://schemas.openxmlformats.org/officeDocument/2006/relationships/chart" Target="/ppt/slides/charts/chart2.xml" Id="R4b7a42c89e4040c9" /><Relationship Type="http://schemas.openxmlformats.org/officeDocument/2006/relationships/chart" Target="/ppt/slides/charts/chart3.xml" Id="R92418aca890a4f8f" /><Relationship Type="http://schemas.openxmlformats.org/officeDocument/2006/relationships/image" Target="/ppt/media/image3.png" Id="R9dfe6e64300e4973" /><Relationship Type="http://schemas.openxmlformats.org/officeDocument/2006/relationships/image" Target="/ppt/media/image4.png" Id="R44fea97b85eb4829" /><Relationship Type="http://schemas.openxmlformats.org/officeDocument/2006/relationships/notesSlide" Target="/ppt/notesSlides/notesSlide17.xml" Id="R2434db87a270424f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81ee18ccf4954457" /><Relationship Type="http://schemas.openxmlformats.org/officeDocument/2006/relationships/notesSlide" Target="/ppt/notesSlides/notesSlide18.xml" Id="Rcecb12d9cca841e4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6059952443343ac" /><Relationship Type="http://schemas.openxmlformats.org/officeDocument/2006/relationships/notesSlide" Target="/ppt/notesSlides/notesSlide19.xml" Id="R3330dd3f20464f0d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ff09fff9f09447b" /><Relationship Type="http://schemas.openxmlformats.org/officeDocument/2006/relationships/notesSlide" Target="/ppt/notesSlides/notesSlide20.xml" Id="Rcce784f112664edc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72fd9d1c52f4a2c" /><Relationship Type="http://schemas.openxmlformats.org/officeDocument/2006/relationships/notesSlide" Target="/ppt/notesSlides/notesSlide21.xml" Id="R850e3365f9ae4d5c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a9e626a00274e98" /><Relationship Type="http://schemas.openxmlformats.org/officeDocument/2006/relationships/notesSlide" Target="/ppt/notesSlides/notesSlide22.xml" Id="R32207db49ce842ea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f4ad03c3c6a49dd" /><Relationship Type="http://schemas.openxmlformats.org/officeDocument/2006/relationships/notesSlide" Target="/ppt/notesSlides/notesSlide23.xml" Id="Rfd973bc315bc49b4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c9d9b02ad304efe" /><Relationship Type="http://schemas.openxmlformats.org/officeDocument/2006/relationships/chart" Target="/ppt/slides/charts/chart4.xml" Id="Ra5f882ba96224d29" /><Relationship Type="http://schemas.openxmlformats.org/officeDocument/2006/relationships/image" Target="/ppt/media/image5.png" Id="R507304955b354c4f" /><Relationship Type="http://schemas.openxmlformats.org/officeDocument/2006/relationships/notesSlide" Target="/ppt/notesSlides/notesSlide24.xml" Id="Ra3b086ed698545a5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bf9b1d649234686" /><Relationship Type="http://schemas.openxmlformats.org/officeDocument/2006/relationships/notesSlide" Target="/ppt/notesSlides/notesSlide25.xml" Id="R68accbb65dab4922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4.xml" Id="Rf59c548736714167" /><Relationship Type="http://schemas.openxmlformats.org/officeDocument/2006/relationships/notesSlide" Target="/ppt/notesSlides/notesSlide26.xml" Id="Rb3036a1c504c440e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ab0ca1907224ecc" /><Relationship Type="http://schemas.openxmlformats.org/officeDocument/2006/relationships/notesSlide" Target="/ppt/notesSlides/notesSlide27.xml" Id="Rf931856acd0346c5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4.xml" Id="R8f52eeeb3b764d57" /><Relationship Type="http://schemas.openxmlformats.org/officeDocument/2006/relationships/notesSlide" Target="/ppt/notesSlides/notesSlide28.xml" Id="R58243c7ac62640bd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24828ad7aa14601" /><Relationship Type="http://schemas.openxmlformats.org/officeDocument/2006/relationships/chart" Target="/ppt/slides/charts/chart5.xml" Id="R37979f30f728412a" /><Relationship Type="http://schemas.openxmlformats.org/officeDocument/2006/relationships/chart" Target="/ppt/slides/charts/chart6.xml" Id="Rbdbd14622ad64f0b" /><Relationship Type="http://schemas.openxmlformats.org/officeDocument/2006/relationships/image" Target="/ppt/media/image6.png" Id="R4ea75451221c4395" /><Relationship Type="http://schemas.openxmlformats.org/officeDocument/2006/relationships/image" Target="/ppt/media/image7.png" Id="Rb15203c7e6604f71" /><Relationship Type="http://schemas.openxmlformats.org/officeDocument/2006/relationships/notesSlide" Target="/ppt/notesSlides/notesSlide29.xml" Id="Rd75144d9ec0d4bf4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e9194ad823f44c6" /><Relationship Type="http://schemas.openxmlformats.org/officeDocument/2006/relationships/notesSlide" Target="/ppt/notesSlides/notesSlide30.xml" Id="R8db9a6bda7af412d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57089efb8254b41" /><Relationship Type="http://schemas.openxmlformats.org/officeDocument/2006/relationships/notesSlide" Target="/ppt/notesSlides/notesSlide31.xml" Id="R0f38a1242b024c2a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ff27a33e52d4c73" /><Relationship Type="http://schemas.openxmlformats.org/officeDocument/2006/relationships/notesSlide" Target="/ppt/notesSlides/notesSlide32.xml" Id="Rc692744e0a5a4869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cf5269e9f324679" /><Relationship Type="http://schemas.openxmlformats.org/officeDocument/2006/relationships/notesSlide" Target="/ppt/notesSlides/notesSlide33.xml" Id="R570b7a23c1f94f70" /></Relationships>
</file>

<file path=ppt/slides/charts/chart1.xml><?xml version="1.0" encoding="utf-8"?>
<c:chartSpace xmlns:mc="http://schemas.openxmlformats.org/markup-compatibility/2006" xmlns:c14="http://schemas.microsoft.com/office/drawing/2007/8/2/chart" xmlns:c="http://schemas.openxmlformats.org/drawingml/2006/chart" mc:Ignorable="c14">
  <c:lang val="en-US"/>
  <c:roundedCorners val="0"/>
  <mc:AlternateContent>
    <mc:Choice Requires="c14">
      <c14:style val="102"/>
    </mc:Choice>
    <mc:Fallback>
      <c:style val="2"/>
    </mc:Fallback>
  </mc:AlternateContent>
  <c:chart>
    <c:title>
      <c:layout>
        <c:manualLayout>
          <c:xMode val="edge"/>
          <c:yMode val="edge"/>
          <c:x val="0.013821697687269586"/>
          <c:y val="0.02527575450117403"/>
        </c:manualLayout>
      </c:layout>
      <c:txPr>
        <a:bodyPr xmlns:a="http://schemas.openxmlformats.org/drawingml/2006/main" rot="0" vert="horz" anchor="ctr" anchorCtr="1"/>
        <a:lstStyle xmlns:a="http://schemas.openxmlformats.org/drawingml/2006/main"/>
        <a:p xmlns:a="http://schemas.openxmlformats.org/drawingml/2006/main">
          <a:pPr>
            <a:defRPr sz="1800" b="0" i="0" u="none">
              <a:solidFill>
                <a:schemeClr val="tx1"/>
              </a:solidFill>
              <a:latin typeface="+mn-lt"/>
              <a:ea typeface="+mn-lt"/>
              <a:cs typeface="+mn-lt"/>
            </a:defRPr>
          </a:pPr>
        </a:p>
      </c:txPr>
    </c:title>
    <c:autoTitleDeleted val="0"/>
    <c:plotArea>
      <c:layout>
        <c:manualLayout>
          <c:layoutTarget val="inner"/>
          <c:xMode val="edge"/>
          <c:yMode val="edge"/>
          <c:x val="0.08245552360503024"/>
          <c:y val="0.16727494328876974"/>
          <c:w val="0.8907956446698214"/>
          <c:h val="0.6966469621926458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Participação no TKU</c:v>
                </c:pt>
              </c:strCache>
            </c:strRef>
          </c:tx>
          <c:spPr>
            <a:solidFill xmlns:a="http://schemas.openxmlformats.org/drawingml/2006/main">
              <a:schemeClr val="accent1"/>
            </a:solidFill>
            <a:ln xmlns:a="http://schemas.openxmlformats.org/drawingml/2006/main">
              <a:noFill/>
            </a:ln>
          </c:spPr>
          <c:dLbls>
            <c:spPr>
              <a:noFill xmlns:a="http://schemas.openxmlformats.org/drawingml/2006/main"/>
              <a:ln xmlns:a="http://schemas.openxmlformats.org/drawingml/2006/main">
                <a:noFill/>
              </a:ln>
            </c:spPr>
            <c:txPr>
              <a:bodyPr xmlns:a="http://schemas.openxmlformats.org/drawingml/2006/main" anchorCtr="1"/>
              <a:lstStyle xmlns:a="http://schemas.openxmlformats.org/drawingml/2006/main"/>
              <a:p xmlns:a="http://schemas.openxmlformats.org/drawingml/2006/main">
                <a:pPr>
                  <a:defRPr sz="1400" b="0" i="0" u="none">
                    <a:solidFill>
                      <a:schemeClr val="tx1"/>
                    </a:solidFill>
                    <a:latin typeface="+mn-lt"/>
                    <a:ea typeface="+mn-lt"/>
                    <a:cs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65</c:v>
                </c:pt>
                <c:pt idx="1">
                  <c:v>15</c:v>
                </c:pt>
                <c:pt idx="2">
                  <c:v>11</c:v>
                </c:pt>
                <c:pt idx="3">
                  <c:v>9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Referência</c:v>
                </c:pt>
              </c:strCache>
            </c:strRef>
          </c:tx>
          <c:spPr>
            <a:solidFill xmlns:a="http://schemas.openxmlformats.org/drawingml/2006/main">
              <a:schemeClr val="tx2">
                <a:lumMod val="50000"/>
                <a:lumOff val="50000"/>
              </a:schemeClr>
            </a:solidFill>
            <a:ln xmlns:a="http://schemas.openxmlformats.org/drawingml/2006/main">
              <a:solidFill>
                <a:schemeClr val="tx2">
                  <a:lumMod val="50000"/>
                  <a:lumOff val="50000"/>
                </a:schemeClr>
              </a:solidFill>
            </a:ln>
          </c:spPr>
          <c:dLbls>
            <c:spPr>
              <a:noFill xmlns:a="http://schemas.openxmlformats.org/drawingml/2006/main"/>
              <a:ln xmlns:a="http://schemas.openxmlformats.org/drawingml/2006/main">
                <a:noFill/>
              </a:ln>
            </c:spPr>
            <c:txPr>
              <a:bodyPr xmlns:a="http://schemas.openxmlformats.org/drawingml/2006/main" anchorCtr="1"/>
              <a:lstStyle xmlns:a="http://schemas.openxmlformats.org/drawingml/2006/main"/>
              <a:p xmlns:a="http://schemas.openxmlformats.org/drawingml/2006/main">
                <a:pPr>
                  <a:defRPr sz="1400" b="0" i="0" u="none">
                    <a:solidFill>
                      <a:schemeClr val="tx1"/>
                    </a:solidFill>
                    <a:latin typeface="+mn-lt"/>
                    <a:ea typeface="+mn-lt"/>
                    <a:cs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0"/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3"/>
        <c:overlap val="-16"/>
        <c:axId val="1785928255"/>
        <c:axId val="1769229823"/>
      </c:barChart>
      <c:catAx>
        <c:axId val="1785928255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xmlns:a="http://schemas.openxmlformats.org/drawingml/2006/main" w="9525" cmpd="sng">
            <a:solidFill>
              <a:schemeClr val="tx1"/>
            </a:solidFill>
          </a:ln>
        </c:spPr>
        <c:txPr>
          <a:bodyPr xmlns:a="http://schemas.openxmlformats.org/drawingml/2006/main" rot="-60000000" spcFirstLastPara="1" vert="horz" wrap="square" anchor="ctr" anchorCtr="1"/>
          <a:lstStyle xmlns:a="http://schemas.openxmlformats.org/drawingml/2006/main"/>
          <a:p xmlns:a="http://schemas.openxmlformats.org/drawingml/2006/main">
            <a:pPr>
              <a:defRPr sz="1100" b="0" i="0" u="none">
                <a:solidFill>
                  <a:schemeClr val="tx1"/>
                </a:solidFill>
                <a:latin typeface="+mn-lt"/>
                <a:ea typeface="+mn-lt"/>
                <a:cs typeface="+mn-lt"/>
              </a:defRPr>
            </a:pPr>
          </a:p>
        </c:txPr>
        <c:crossAx val="1769229823"/>
        <c:crosses val="autoZero"/>
        <c:lblAlgn val="ctr"/>
        <c:lblOffset val="100"/>
        <c:noMultiLvlLbl val="0"/>
      </c:catAx>
      <c:valAx>
        <c:axId val="1769229823"/>
        <c:scaling>
          <c:orientation val="minMax"/>
        </c:scaling>
        <c:delete val="0"/>
        <c:axPos val="l"/>
        <c:majorGridlines>
          <c:spPr>
            <a:ln xmlns:a="http://schemas.openxmlformats.org/drawingml/2006/main" w="9525" cmpd="sng">
              <a:noFill/>
            </a:ln>
          </c:spPr>
        </c:majorGridlines>
        <c:numFmt formatCode="General" sourceLinked="1"/>
        <c:majorTickMark val="none"/>
        <c:minorTickMark val="none"/>
        <c:tickLblPos val="nextTo"/>
        <c:spPr>
          <a:ln xmlns:a="http://schemas.openxmlformats.org/drawingml/2006/main">
            <a:noFill/>
          </a:ln>
        </c:spPr>
        <c:txPr>
          <a:bodyPr xmlns:a="http://schemas.openxmlformats.org/drawingml/2006/main" rot="-60000000" vert="horz" anchor="ctr" anchorCtr="1"/>
          <a:lstStyle xmlns:a="http://schemas.openxmlformats.org/drawingml/2006/main"/>
          <a:p xmlns:a="http://schemas.openxmlformats.org/drawingml/2006/main">
            <a:pPr>
              <a:defRPr sz="1100" b="0" i="0" u="none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</a:defRPr>
            </a:pPr>
          </a:p>
        </c:txPr>
        <c:crossAx val="1785928255"/>
        <c:crosses val="autoZero"/>
        <c:crossBetween val="between"/>
      </c:valAx>
      <c:spPr>
        <a:noFill xmlns:a="http://schemas.openxmlformats.org/drawingml/2006/main"/>
        <a:ln xmlns:a="http://schemas.openxmlformats.org/drawingml/2006/main">
          <a:noFill/>
        </a:ln>
      </c:spPr>
    </c:plotArea>
    <c:plotVisOnly val="1"/>
  </c:chart>
  <c:spPr>
    <a:noFill xmlns:a="http://schemas.openxmlformats.org/drawingml/2006/main"/>
    <a:ln xmlns:a="http://schemas.openxmlformats.org/drawingml/2006/main">
      <a:noFill/>
    </a:ln>
  </c:spPr>
</c:chartSpace>
</file>

<file path=ppt/slides/charts/chart2.xml><?xml version="1.0" encoding="utf-8"?>
<c:chartSpace xmlns:mc="http://schemas.openxmlformats.org/markup-compatibility/2006" xmlns:c14="http://schemas.microsoft.com/office/drawing/2007/8/2/chart" xmlns:c="http://schemas.openxmlformats.org/drawingml/2006/chart" mc:Ignorable="c14">
  <c:lang val="en-US"/>
  <c:roundedCorners val="0"/>
  <mc:AlternateContent>
    <mc:Choice Requires="c14">
      <c14:style val="102"/>
    </mc:Choice>
    <mc:Fallback>
      <c:style val="2"/>
    </mc:Fallback>
  </mc:AlternateContent>
  <c:chart>
    <c:title>
      <c:layout>
        <c:manualLayout>
          <c:xMode val="edge"/>
          <c:yMode val="edge"/>
          <c:x val="0.013821697687269586"/>
          <c:y val="0.02527575450117403"/>
        </c:manualLayout>
      </c:layout>
      <c:txPr>
        <a:bodyPr xmlns:a="http://schemas.openxmlformats.org/drawingml/2006/main" rot="0" vert="horz" anchor="ctr" anchorCtr="1"/>
        <a:lstStyle xmlns:a="http://schemas.openxmlformats.org/drawingml/2006/main"/>
        <a:p xmlns:a="http://schemas.openxmlformats.org/drawingml/2006/main">
          <a:pPr>
            <a:defRPr sz="1800" b="0" i="0" u="none">
              <a:solidFill>
                <a:schemeClr val="tx1"/>
              </a:solidFill>
              <a:latin typeface="+mn-lt"/>
              <a:ea typeface="+mn-lt"/>
              <a:cs typeface="+mn-lt"/>
            </a:defRPr>
          </a:pPr>
        </a:p>
      </c:txPr>
    </c:title>
    <c:autoTitleDeleted val="0"/>
    <c:plotArea>
      <c:layout>
        <c:manualLayout>
          <c:layoutTarget val="inner"/>
          <c:xMode val="edge"/>
          <c:yMode val="edge"/>
          <c:x val="0.08245552360503024"/>
          <c:y val="0.16727494328876974"/>
          <c:w val="0.8907956446698214"/>
          <c:h val="0.6966469621926458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 xmlns:a="http://schemas.openxmlformats.org/drawingml/2006/main">
              <a:schemeClr val="accent1"/>
            </a:solidFill>
            <a:ln xmlns:a="http://schemas.openxmlformats.org/drawingml/2006/main">
              <a:noFill/>
            </a:ln>
          </c:spPr>
          <c:invertIfNegative val="0"/>
          <c:dLbls>
            <c:spPr>
              <a:noFill xmlns:a="http://schemas.openxmlformats.org/drawingml/2006/main"/>
              <a:ln xmlns:a="http://schemas.openxmlformats.org/drawingml/2006/main">
                <a:noFill/>
              </a:ln>
            </c:spPr>
            <c:txPr>
              <a:bodyPr xmlns:a="http://schemas.openxmlformats.org/drawingml/2006/main" anchorCtr="1"/>
              <a:lstStyle xmlns:a="http://schemas.openxmlformats.org/drawingml/2006/main"/>
              <a:p xmlns:a="http://schemas.openxmlformats.org/drawingml/2006/main">
                <a:pPr>
                  <a:defRPr sz="1400" b="1" i="0" u="none" kern="1200" baseline="0">
                    <a:solidFill>
                      <a:schemeClr val="bg1"/>
                    </a:solidFill>
                    <a:latin typeface="+mn-lt"/>
                    <a:ea typeface="+mn-lt"/>
                    <a:cs typeface="+mn-lt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leaderLines>
              <c:spPr>
                <a:ln xmlns:a="http://schemas.openxmlformats.org/drawingml/2006/main" w="9525" cmpd="sng">
                  <a:solidFill>
                    <a:schemeClr val="tx1">
                      <a:lumMod val="35000"/>
                      <a:lumOff val="65000"/>
                    </a:schemeClr>
                  </a:solidFill>
                </a:ln>
              </c:spPr>
            </c:leaderLines>
          </c:dLbls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1.6</c:v>
                </c:pt>
                <c:pt idx="1">
                  <c:v>2.2</c:v>
                </c:pt>
                <c:pt idx="2">
                  <c:v>3.5</c:v>
                </c:pt>
                <c:pt idx="3">
                  <c:v>5.8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3"/>
        <c:axId val="1785928255"/>
        <c:axId val="1769229823"/>
      </c:barChart>
      <c:lineChart>
        <c:grouping val="standard"/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Series 2</c:v>
                </c:pt>
              </c:strCache>
            </c:strRef>
          </c:tx>
          <c:spPr>
            <a:ln xmlns:a="http://schemas.openxmlformats.org/drawingml/2006/main" w="28575">
              <a:solidFill>
                <a:schemeClr val="tx2">
                  <a:lumMod val="50000"/>
                  <a:lumOff val="50000"/>
                </a:schemeClr>
              </a:solidFill>
            </a:ln>
          </c:spPr>
          <c:marker>
            <c:symbol val="circle"/>
            <c:size val="6"/>
            <c:spPr>
              <a:solidFill xmlns:a="http://schemas.openxmlformats.org/drawingml/2006/main">
                <a:schemeClr val="tx2">
                  <a:lumMod val="50000"/>
                  <a:lumOff val="50000"/>
                </a:schemeClr>
              </a:solidFill>
              <a:ln xmlns:a="http://schemas.openxmlformats.org/drawingml/2006/main" w="9525">
                <a:solidFill>
                  <a:schemeClr val="tx2">
                    <a:lumMod val="50000"/>
                    <a:lumOff val="50000"/>
                  </a:schemeClr>
                </a:solidFill>
              </a:ln>
            </c:spPr>
          </c:marker>
          <c:dLbls>
            <c:spPr>
              <a:noFill xmlns:a="http://schemas.openxmlformats.org/drawingml/2006/main"/>
              <a:ln xmlns:a="http://schemas.openxmlformats.org/drawingml/2006/main">
                <a:noFill/>
              </a:ln>
            </c:spPr>
            <c:txPr>
              <a:bodyPr xmlns:a="http://schemas.openxmlformats.org/drawingml/2006/main" anchorCtr="1"/>
              <a:lstStyle xmlns:a="http://schemas.openxmlformats.org/drawingml/2006/main"/>
              <a:p xmlns:a="http://schemas.openxmlformats.org/drawingml/2006/main">
                <a:pPr>
                  <a:defRPr sz="1400" b="1" i="0" u="none" kern="1200" baseline="0">
                    <a:solidFill>
                      <a:schemeClr val="tx1"/>
                    </a:solidFill>
                    <a:latin typeface="+mn-lt"/>
                    <a:ea typeface="+mn-lt"/>
                    <a:cs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leaderLines>
              <c:spPr>
                <a:ln xmlns:a="http://schemas.openxmlformats.org/drawingml/2006/main" w="9525" cmpd="sng">
                  <a:solidFill>
                    <a:schemeClr val="tx1">
                      <a:lumMod val="35000"/>
                      <a:lumOff val="65000"/>
                    </a:schemeClr>
                  </a:solidFill>
                </a:ln>
              </c:spPr>
            </c:leaderLines>
          </c:dLbls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1.7</c:v>
                </c:pt>
                <c:pt idx="1">
                  <c:v>2.4</c:v>
                </c:pt>
                <c:pt idx="2">
                  <c:v>5</c:v>
                </c:pt>
                <c:pt idx="3">
                  <c:v>8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785928255"/>
        <c:axId val="1769229823"/>
      </c:lineChart>
      <c:catAx>
        <c:axId val="1785928255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xmlns:a="http://schemas.openxmlformats.org/drawingml/2006/main" w="9525" cmpd="sng">
            <a:solidFill>
              <a:schemeClr val="tx1"/>
            </a:solidFill>
          </a:ln>
        </c:spPr>
        <c:txPr>
          <a:bodyPr xmlns:a="http://schemas.openxmlformats.org/drawingml/2006/main" rot="-60000000" spcFirstLastPara="1" vert="horz" wrap="square" anchor="ctr" anchorCtr="1"/>
          <a:lstStyle xmlns:a="http://schemas.openxmlformats.org/drawingml/2006/main"/>
          <a:p xmlns:a="http://schemas.openxmlformats.org/drawingml/2006/main">
            <a:pPr>
              <a:defRPr sz="1100" b="0" i="0" u="none" kern="1200" baseline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pPr>
          </a:p>
        </c:txPr>
        <c:crossAx val="1769229823"/>
        <c:crosses val="autoZero"/>
        <c:lblAlgn val="ctr"/>
        <c:lblOffset val="100"/>
        <c:noMultiLvlLbl val="0"/>
      </c:catAx>
      <c:valAx>
        <c:axId val="1769229823"/>
        <c:scaling>
          <c:orientation val="minMax"/>
        </c:scaling>
        <c:delete val="0"/>
        <c:axPos val="l"/>
        <c:majorGridlines>
          <c:spPr>
            <a:ln xmlns:a="http://schemas.openxmlformats.org/drawingml/2006/main" w="9525" cmpd="sng">
              <a:noFill/>
            </a:ln>
          </c:spPr>
        </c:majorGridlines>
        <c:numFmt formatCode="General" sourceLinked="1"/>
        <c:majorTickMark val="none"/>
        <c:minorTickMark val="none"/>
        <c:tickLblPos val="nextTo"/>
        <c:spPr>
          <a:ln xmlns:a="http://schemas.openxmlformats.org/drawingml/2006/main">
            <a:noFill/>
          </a:ln>
        </c:spPr>
        <c:txPr>
          <a:bodyPr xmlns:a="http://schemas.openxmlformats.org/drawingml/2006/main" rot="-60000000" vert="horz" anchor="ctr" anchorCtr="1"/>
          <a:lstStyle xmlns:a="http://schemas.openxmlformats.org/drawingml/2006/main"/>
          <a:p xmlns:a="http://schemas.openxmlformats.org/drawingml/2006/main">
            <a:pPr>
              <a:defRPr sz="1100" b="0" i="0" u="none" kern="1200" baseline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</a:defRPr>
            </a:pPr>
          </a:p>
        </c:txPr>
        <c:crossAx val="1785928255"/>
        <c:crosses val="autoZero"/>
        <c:crossBetween val="between"/>
      </c:valAx>
      <c:spPr>
        <a:noFill xmlns:a="http://schemas.openxmlformats.org/drawingml/2006/main"/>
        <a:ln xmlns:a="http://schemas.openxmlformats.org/drawingml/2006/main">
          <a:noFill/>
        </a:ln>
      </c:spPr>
    </c:plotArea>
    <c:legend>
      <c:legendPos val="b"/>
      <c:layout>
        <c:manualLayout>
          <c:xMode val="edge"/>
          <c:yMode val="edge"/>
          <c:x val="0.5806745349794367"/>
          <c:y val="0.02738737462131148"/>
          <c:w val="0.3998733846690067"/>
          <c:h val="0.046123948895864915"/>
        </c:manualLayout>
      </c:layout>
      <c:overlay val="0"/>
      <c:spPr>
        <a:noFill xmlns:a="http://schemas.openxmlformats.org/drawingml/2006/main"/>
      </c:spPr>
      <c:txPr>
        <a:bodyPr xmlns:a="http://schemas.openxmlformats.org/drawingml/2006/main" rot="0" vert="horz" anchor="ctr" anchorCtr="1"/>
        <a:lstStyle xmlns:a="http://schemas.openxmlformats.org/drawingml/2006/main"/>
        <a:p xmlns:a="http://schemas.openxmlformats.org/drawingml/2006/main">
          <a:pPr>
            <a:defRPr sz="1197" b="0" i="0" u="none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lt"/>
              <a:cs typeface="+mn-lt"/>
            </a:defRPr>
          </a:pPr>
        </a:p>
      </c:txPr>
    </c:legend>
    <c:plotVisOnly val="1"/>
  </c:chart>
  <c:spPr>
    <a:noFill xmlns:a="http://schemas.openxmlformats.org/drawingml/2006/main"/>
    <a:ln xmlns:a="http://schemas.openxmlformats.org/drawingml/2006/main">
      <a:noFill/>
    </a:ln>
  </c:spPr>
</c:chartSpace>
</file>

<file path=ppt/slides/charts/chart3.xml><?xml version="1.0" encoding="utf-8"?>
<c:chartSpace xmlns:mc="http://schemas.openxmlformats.org/markup-compatibility/2006" xmlns:c14="http://schemas.microsoft.com/office/drawing/2007/8/2/chart" xmlns:c="http://schemas.openxmlformats.org/drawingml/2006/chart" mc:Ignorable="c14">
  <c:lang val="en-US"/>
  <c:roundedCorners val="0"/>
  <mc:AlternateContent>
    <mc:Choice Requires="c14">
      <c14:style val="102"/>
    </mc:Choice>
    <mc:Fallback>
      <c:style val="2"/>
    </mc:Fallback>
  </mc:AlternateContent>
  <c:chart>
    <c:title>
      <c:layout>
        <c:manualLayout>
          <c:xMode val="edge"/>
          <c:yMode val="edge"/>
          <c:x val="0.013821697687269586"/>
          <c:y val="0.02527575450117403"/>
        </c:manualLayout>
      </c:layout>
      <c:txPr>
        <a:bodyPr xmlns:a="http://schemas.openxmlformats.org/drawingml/2006/main" rot="0" vert="horz" anchor="ctr" anchorCtr="1"/>
        <a:lstStyle xmlns:a="http://schemas.openxmlformats.org/drawingml/2006/main"/>
        <a:p xmlns:a="http://schemas.openxmlformats.org/drawingml/2006/main">
          <a:pPr>
            <a:defRPr sz="1800" b="0" i="0" u="none">
              <a:solidFill>
                <a:schemeClr val="tx1"/>
              </a:solidFill>
              <a:latin typeface="+mn-lt"/>
              <a:ea typeface="+mn-lt"/>
              <a:cs typeface="+mn-lt"/>
            </a:defRPr>
          </a:pPr>
        </a:p>
      </c:txPr>
    </c:title>
    <c:autoTitleDeleted val="0"/>
    <c:plotArea>
      <c:layout>
        <c:manualLayout>
          <c:layoutTarget val="inner"/>
          <c:xMode val="edge"/>
          <c:yMode val="edge"/>
          <c:x val="0.08245552360503024"/>
          <c:y val="0.16727494328876974"/>
          <c:w val="0.8907956446698214"/>
          <c:h val="0.6966469621926458"/>
        </c:manualLayout>
      </c:layou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ln xmlns:a="http://schemas.openxmlformats.org/drawingml/2006/main" w="28575">
              <a:solidFill>
                <a:schemeClr val="accent1"/>
              </a:solidFill>
            </a:ln>
          </c:spPr>
          <c:marker>
            <c:symbol val="circle"/>
            <c:size val="6"/>
            <c:spPr>
              <a:solidFill xmlns:a="http://schemas.openxmlformats.org/drawingml/2006/main">
                <a:schemeClr val="accent1"/>
              </a:solidFill>
              <a:ln xmlns:a="http://schemas.openxmlformats.org/drawingml/2006/main" w="9525">
                <a:solidFill>
                  <a:schemeClr val="accent1"/>
                </a:solidFill>
              </a:ln>
            </c:spPr>
          </c:marker>
          <c:dLbls>
            <c:spPr>
              <a:noFill xmlns:a="http://schemas.openxmlformats.org/drawingml/2006/main"/>
              <a:ln xmlns:a="http://schemas.openxmlformats.org/drawingml/2006/main">
                <a:noFill/>
              </a:ln>
            </c:spPr>
            <c:txPr>
              <a:bodyPr xmlns:a="http://schemas.openxmlformats.org/drawingml/2006/main" anchorCtr="1"/>
              <a:lstStyle xmlns:a="http://schemas.openxmlformats.org/drawingml/2006/main"/>
              <a:p xmlns:a="http://schemas.openxmlformats.org/drawingml/2006/main">
                <a:pPr>
                  <a:defRPr sz="1400" b="1" i="0" u="none">
                    <a:solidFill>
                      <a:schemeClr val="tx1"/>
                    </a:solidFill>
                    <a:latin typeface="+mn-lt"/>
                    <a:ea typeface="+mn-lt"/>
                    <a:cs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1.6</c:v>
                </c:pt>
                <c:pt idx="1">
                  <c:v>2.2</c:v>
                </c:pt>
                <c:pt idx="2">
                  <c:v>3.5</c:v>
                </c:pt>
                <c:pt idx="3">
                  <c:v>5.8</c:v>
                </c:pt>
              </c:numCache>
            </c:numRef>
          </c:val>
          <c:smooth val="1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Series 2</c:v>
                </c:pt>
              </c:strCache>
            </c:strRef>
          </c:tx>
          <c:spPr>
            <a:ln xmlns:a="http://schemas.openxmlformats.org/drawingml/2006/main" w="28575">
              <a:solidFill>
                <a:schemeClr val="tx2">
                  <a:lumMod val="50000"/>
                  <a:lumOff val="50000"/>
                </a:schemeClr>
              </a:solidFill>
            </a:ln>
          </c:spPr>
          <c:marker>
            <c:symbol val="circle"/>
            <c:size val="6"/>
            <c:spPr>
              <a:solidFill xmlns:a="http://schemas.openxmlformats.org/drawingml/2006/main">
                <a:schemeClr val="tx2">
                  <a:lumMod val="50000"/>
                  <a:lumOff val="50000"/>
                </a:schemeClr>
              </a:solidFill>
              <a:ln xmlns:a="http://schemas.openxmlformats.org/drawingml/2006/main" w="9525">
                <a:noFill/>
              </a:ln>
            </c:spPr>
          </c:marker>
          <c:dLbls>
            <c:spPr>
              <a:noFill xmlns:a="http://schemas.openxmlformats.org/drawingml/2006/main"/>
              <a:ln xmlns:a="http://schemas.openxmlformats.org/drawingml/2006/main">
                <a:noFill/>
              </a:ln>
            </c:spPr>
            <c:txPr>
              <a:bodyPr xmlns:a="http://schemas.openxmlformats.org/drawingml/2006/main" anchorCtr="1"/>
              <a:lstStyle xmlns:a="http://schemas.openxmlformats.org/drawingml/2006/main"/>
              <a:p xmlns:a="http://schemas.openxmlformats.org/drawingml/2006/main">
                <a:pPr>
                  <a:defRPr sz="1400" b="1" i="0" u="none">
                    <a:solidFill>
                      <a:schemeClr val="tx1"/>
                    </a:solidFill>
                    <a:latin typeface="+mn-lt"/>
                    <a:ea typeface="+mn-lt"/>
                    <a:cs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1.7</c:v>
                </c:pt>
                <c:pt idx="1">
                  <c:v>2.4</c:v>
                </c:pt>
                <c:pt idx="2">
                  <c:v>5</c:v>
                </c:pt>
                <c:pt idx="3">
                  <c:v>8</c:v>
                </c:pt>
              </c:numCache>
            </c:numRef>
          </c:val>
          <c:smooth val="1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785928255"/>
        <c:axId val="1769229823"/>
      </c:lineChart>
      <c:catAx>
        <c:axId val="1785928255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xmlns:a="http://schemas.openxmlformats.org/drawingml/2006/main" w="9525" cmpd="sng">
            <a:solidFill>
              <a:schemeClr val="tx1"/>
            </a:solidFill>
          </a:ln>
        </c:spPr>
        <c:txPr>
          <a:bodyPr xmlns:a="http://schemas.openxmlformats.org/drawingml/2006/main" rot="-60000000" spcFirstLastPara="1" vert="horz" wrap="square" anchor="ctr" anchorCtr="1"/>
          <a:lstStyle xmlns:a="http://schemas.openxmlformats.org/drawingml/2006/main"/>
          <a:p xmlns:a="http://schemas.openxmlformats.org/drawingml/2006/main">
            <a:pPr>
              <a:defRPr sz="1100" b="0" i="0" u="none">
                <a:solidFill>
                  <a:schemeClr val="tx1"/>
                </a:solidFill>
                <a:latin typeface="+mn-lt"/>
                <a:ea typeface="+mn-lt"/>
                <a:cs typeface="+mn-lt"/>
              </a:defRPr>
            </a:pPr>
          </a:p>
        </c:txPr>
        <c:crossAx val="1769229823"/>
        <c:crosses val="autoZero"/>
        <c:lblAlgn val="ctr"/>
        <c:lblOffset val="100"/>
        <c:noMultiLvlLbl val="0"/>
      </c:catAx>
      <c:valAx>
        <c:axId val="1769229823"/>
        <c:scaling>
          <c:orientation val="minMax"/>
        </c:scaling>
        <c:delete val="0"/>
        <c:axPos val="l"/>
        <c:majorGridlines>
          <c:spPr>
            <a:ln xmlns:a="http://schemas.openxmlformats.org/drawingml/2006/main" w="9525" cmpd="sng">
              <a:noFill/>
            </a:ln>
          </c:spPr>
        </c:majorGridlines>
        <c:numFmt formatCode="General" sourceLinked="1"/>
        <c:majorTickMark val="none"/>
        <c:minorTickMark val="none"/>
        <c:tickLblPos val="nextTo"/>
        <c:spPr>
          <a:ln xmlns:a="http://schemas.openxmlformats.org/drawingml/2006/main">
            <a:noFill/>
          </a:ln>
        </c:spPr>
        <c:txPr>
          <a:bodyPr xmlns:a="http://schemas.openxmlformats.org/drawingml/2006/main" rot="-60000000" vert="horz" anchor="ctr" anchorCtr="1"/>
          <a:lstStyle xmlns:a="http://schemas.openxmlformats.org/drawingml/2006/main"/>
          <a:p xmlns:a="http://schemas.openxmlformats.org/drawingml/2006/main">
            <a:pPr>
              <a:defRPr sz="1100" b="0" i="0" u="none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</a:defRPr>
            </a:pPr>
          </a:p>
        </c:txPr>
        <c:crossAx val="1785928255"/>
        <c:crosses val="autoZero"/>
        <c:crossBetween val="between"/>
      </c:valAx>
      <c:spPr>
        <a:noFill xmlns:a="http://schemas.openxmlformats.org/drawingml/2006/main"/>
        <a:ln xmlns:a="http://schemas.openxmlformats.org/drawingml/2006/main">
          <a:noFill/>
        </a:ln>
      </c:spPr>
    </c:plotArea>
    <c:legend>
      <c:legendPos val="b"/>
      <c:layout>
        <c:manualLayout>
          <c:xMode val="edge"/>
          <c:yMode val="edge"/>
          <c:x val="0.5806745349794367"/>
          <c:y val="0.02738737462131148"/>
          <c:w val="0.3998733846690067"/>
          <c:h val="0.05004758608583646"/>
        </c:manualLayout>
      </c:layout>
      <c:overlay val="0"/>
      <c:spPr>
        <a:noFill xmlns:a="http://schemas.openxmlformats.org/drawingml/2006/main"/>
      </c:spPr>
      <c:txPr>
        <a:bodyPr xmlns:a="http://schemas.openxmlformats.org/drawingml/2006/main" rot="0" vert="horz" anchor="ctr" anchorCtr="1"/>
        <a:lstStyle xmlns:a="http://schemas.openxmlformats.org/drawingml/2006/main"/>
        <a:p xmlns:a="http://schemas.openxmlformats.org/drawingml/2006/main">
          <a:pPr>
            <a:defRPr sz="1197" b="0" i="0" u="none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lt"/>
              <a:cs typeface="+mn-lt"/>
            </a:defRPr>
          </a:pPr>
        </a:p>
      </c:txPr>
    </c:legend>
    <c:plotVisOnly val="1"/>
  </c:chart>
  <c:spPr>
    <a:noFill xmlns:a="http://schemas.openxmlformats.org/drawingml/2006/main"/>
    <a:ln xmlns:a="http://schemas.openxmlformats.org/drawingml/2006/main">
      <a:noFill/>
    </a:ln>
  </c:spPr>
</c:chartSpace>
</file>

<file path=ppt/slides/charts/chart4.xml><?xml version="1.0" encoding="utf-8"?>
<c:chartSpace xmlns:mc="http://schemas.openxmlformats.org/markup-compatibility/2006" xmlns:c14="http://schemas.microsoft.com/office/drawing/2007/8/2/chart" xmlns:c="http://schemas.openxmlformats.org/drawingml/2006/chart" mc:Ignorable="c14">
  <c:lang val="en-US"/>
  <c:roundedCorners val="0"/>
  <mc:AlternateContent>
    <mc:Choice Requires="c14">
      <c14:style val="102"/>
    </mc:Choice>
    <mc:Fallback>
      <c:style val="2"/>
    </mc:Fallback>
  </mc:AlternateContent>
  <c:chart>
    <c:title>
      <c:layout>
        <c:manualLayout>
          <c:xMode val="edge"/>
          <c:yMode val="edge"/>
          <c:x val="0.013821697687269586"/>
          <c:y val="0.02527575450117403"/>
        </c:manualLayout>
      </c:layout>
      <c:txPr>
        <a:bodyPr xmlns:a="http://schemas.openxmlformats.org/drawingml/2006/main" rot="0" vert="horz" anchor="ctr" anchorCtr="1"/>
        <a:lstStyle xmlns:a="http://schemas.openxmlformats.org/drawingml/2006/main"/>
        <a:p xmlns:a="http://schemas.openxmlformats.org/drawingml/2006/main">
          <a:pPr>
            <a:defRPr sz="1800" b="0" i="0" u="none">
              <a:solidFill>
                <a:schemeClr val="tx1"/>
              </a:solidFill>
              <a:latin typeface="+mn-lt"/>
              <a:ea typeface="+mn-lt"/>
              <a:cs typeface="+mn-lt"/>
            </a:defRPr>
          </a:pPr>
        </a:p>
      </c:txPr>
    </c:title>
    <c:autoTitleDeleted val="0"/>
    <c:plotArea>
      <c:layout>
        <c:manualLayout>
          <c:layoutTarget val="inner"/>
          <c:xMode val="edge"/>
          <c:yMode val="edge"/>
          <c:x val="0.08245552360503024"/>
          <c:y val="0.16727494328876974"/>
          <c:w val="0.8907956446698214"/>
          <c:h val="0.6966469621926458"/>
        </c:manualLayout>
      </c:layou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ln xmlns:a="http://schemas.openxmlformats.org/drawingml/2006/main" w="28575">
              <a:solidFill>
                <a:schemeClr val="accent1"/>
              </a:solidFill>
            </a:ln>
          </c:spPr>
          <c:marker>
            <c:symbol val="circle"/>
            <c:size val="6"/>
            <c:spPr>
              <a:solidFill xmlns:a="http://schemas.openxmlformats.org/drawingml/2006/main">
                <a:schemeClr val="accent1"/>
              </a:solidFill>
              <a:ln xmlns:a="http://schemas.openxmlformats.org/drawingml/2006/main" w="9525">
                <a:solidFill>
                  <a:schemeClr val="accent1"/>
                </a:solidFill>
              </a:ln>
            </c:spPr>
          </c:marker>
          <c:dLbls>
            <c:spPr>
              <a:noFill xmlns:a="http://schemas.openxmlformats.org/drawingml/2006/main"/>
              <a:ln xmlns:a="http://schemas.openxmlformats.org/drawingml/2006/main">
                <a:noFill/>
              </a:ln>
            </c:spPr>
            <c:txPr>
              <a:bodyPr xmlns:a="http://schemas.openxmlformats.org/drawingml/2006/main" anchorCtr="1"/>
              <a:lstStyle xmlns:a="http://schemas.openxmlformats.org/drawingml/2006/main"/>
              <a:p xmlns:a="http://schemas.openxmlformats.org/drawingml/2006/main">
                <a:pPr>
                  <a:defRPr sz="1400" b="1" i="0" u="none">
                    <a:solidFill>
                      <a:schemeClr val="tx1"/>
                    </a:solidFill>
                    <a:latin typeface="+mn-lt"/>
                    <a:ea typeface="+mn-lt"/>
                    <a:cs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1.6</c:v>
                </c:pt>
                <c:pt idx="1">
                  <c:v>2.2</c:v>
                </c:pt>
                <c:pt idx="2">
                  <c:v>3.5</c:v>
                </c:pt>
                <c:pt idx="3">
                  <c:v>5.8</c:v>
                </c:pt>
              </c:numCache>
            </c:numRef>
          </c:val>
          <c:smooth val="1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Series 2</c:v>
                </c:pt>
              </c:strCache>
            </c:strRef>
          </c:tx>
          <c:spPr>
            <a:ln xmlns:a="http://schemas.openxmlformats.org/drawingml/2006/main" w="28575">
              <a:solidFill>
                <a:schemeClr val="tx2">
                  <a:lumMod val="50000"/>
                  <a:lumOff val="50000"/>
                </a:schemeClr>
              </a:solidFill>
            </a:ln>
          </c:spPr>
          <c:marker>
            <c:symbol val="circle"/>
            <c:size val="6"/>
            <c:spPr>
              <a:solidFill xmlns:a="http://schemas.openxmlformats.org/drawingml/2006/main">
                <a:schemeClr val="tx2">
                  <a:lumMod val="50000"/>
                  <a:lumOff val="50000"/>
                </a:schemeClr>
              </a:solidFill>
              <a:ln xmlns:a="http://schemas.openxmlformats.org/drawingml/2006/main" w="9525">
                <a:noFill/>
              </a:ln>
            </c:spPr>
          </c:marker>
          <c:dLbls>
            <c:spPr>
              <a:noFill xmlns:a="http://schemas.openxmlformats.org/drawingml/2006/main"/>
              <a:ln xmlns:a="http://schemas.openxmlformats.org/drawingml/2006/main">
                <a:noFill/>
              </a:ln>
            </c:spPr>
            <c:txPr>
              <a:bodyPr xmlns:a="http://schemas.openxmlformats.org/drawingml/2006/main" anchorCtr="1"/>
              <a:lstStyle xmlns:a="http://schemas.openxmlformats.org/drawingml/2006/main"/>
              <a:p xmlns:a="http://schemas.openxmlformats.org/drawingml/2006/main">
                <a:pPr>
                  <a:defRPr sz="1400" b="1" i="0" u="none">
                    <a:solidFill>
                      <a:schemeClr val="tx1"/>
                    </a:solidFill>
                    <a:latin typeface="+mn-lt"/>
                    <a:ea typeface="+mn-lt"/>
                    <a:cs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1.7</c:v>
                </c:pt>
                <c:pt idx="1">
                  <c:v>2.4</c:v>
                </c:pt>
                <c:pt idx="2">
                  <c:v>5</c:v>
                </c:pt>
                <c:pt idx="3">
                  <c:v>8</c:v>
                </c:pt>
              </c:numCache>
            </c:numRef>
          </c:val>
          <c:smooth val="1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785928255"/>
        <c:axId val="1769229823"/>
      </c:lineChart>
      <c:catAx>
        <c:axId val="1785928255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xmlns:a="http://schemas.openxmlformats.org/drawingml/2006/main" w="9525" cmpd="sng">
            <a:solidFill>
              <a:schemeClr val="tx1"/>
            </a:solidFill>
          </a:ln>
        </c:spPr>
        <c:txPr>
          <a:bodyPr xmlns:a="http://schemas.openxmlformats.org/drawingml/2006/main" rot="-60000000" spcFirstLastPara="1" vert="horz" wrap="square" anchor="ctr" anchorCtr="1"/>
          <a:lstStyle xmlns:a="http://schemas.openxmlformats.org/drawingml/2006/main"/>
          <a:p xmlns:a="http://schemas.openxmlformats.org/drawingml/2006/main">
            <a:pPr>
              <a:defRPr sz="1100" b="0" i="0" u="none">
                <a:solidFill>
                  <a:schemeClr val="tx1"/>
                </a:solidFill>
                <a:latin typeface="+mn-lt"/>
                <a:ea typeface="+mn-lt"/>
                <a:cs typeface="+mn-lt"/>
              </a:defRPr>
            </a:pPr>
          </a:p>
        </c:txPr>
        <c:crossAx val="1769229823"/>
        <c:crosses val="autoZero"/>
        <c:lblAlgn val="ctr"/>
        <c:lblOffset val="100"/>
        <c:noMultiLvlLbl val="0"/>
      </c:catAx>
      <c:valAx>
        <c:axId val="1769229823"/>
        <c:scaling>
          <c:orientation val="minMax"/>
        </c:scaling>
        <c:delete val="0"/>
        <c:axPos val="l"/>
        <c:majorGridlines>
          <c:spPr>
            <a:ln xmlns:a="http://schemas.openxmlformats.org/drawingml/2006/main" w="9525" cmpd="sng">
              <a:noFill/>
            </a:ln>
          </c:spPr>
        </c:majorGridlines>
        <c:numFmt formatCode="General" sourceLinked="1"/>
        <c:majorTickMark val="none"/>
        <c:minorTickMark val="none"/>
        <c:tickLblPos val="nextTo"/>
        <c:spPr>
          <a:ln xmlns:a="http://schemas.openxmlformats.org/drawingml/2006/main">
            <a:noFill/>
          </a:ln>
        </c:spPr>
        <c:txPr>
          <a:bodyPr xmlns:a="http://schemas.openxmlformats.org/drawingml/2006/main" rot="-60000000" vert="horz" anchor="ctr" anchorCtr="1"/>
          <a:lstStyle xmlns:a="http://schemas.openxmlformats.org/drawingml/2006/main"/>
          <a:p xmlns:a="http://schemas.openxmlformats.org/drawingml/2006/main">
            <a:pPr>
              <a:defRPr sz="1100" b="0" i="0" u="none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</a:defRPr>
            </a:pPr>
          </a:p>
        </c:txPr>
        <c:crossAx val="1785928255"/>
        <c:crosses val="autoZero"/>
        <c:crossBetween val="between"/>
      </c:valAx>
      <c:spPr>
        <a:noFill xmlns:a="http://schemas.openxmlformats.org/drawingml/2006/main"/>
        <a:ln xmlns:a="http://schemas.openxmlformats.org/drawingml/2006/main">
          <a:noFill/>
        </a:ln>
      </c:spPr>
    </c:plotArea>
    <c:legend>
      <c:legendPos val="b"/>
      <c:layout>
        <c:manualLayout>
          <c:xMode val="edge"/>
          <c:yMode val="edge"/>
          <c:x val="0.5806745349794367"/>
          <c:y val="0.02738737462131148"/>
          <c:w val="0.3998733846690067"/>
          <c:h val="0.05004758608583646"/>
        </c:manualLayout>
      </c:layout>
      <c:overlay val="0"/>
      <c:spPr>
        <a:noFill xmlns:a="http://schemas.openxmlformats.org/drawingml/2006/main"/>
      </c:spPr>
      <c:txPr>
        <a:bodyPr xmlns:a="http://schemas.openxmlformats.org/drawingml/2006/main" rot="0" vert="horz" anchor="ctr" anchorCtr="1"/>
        <a:lstStyle xmlns:a="http://schemas.openxmlformats.org/drawingml/2006/main"/>
        <a:p xmlns:a="http://schemas.openxmlformats.org/drawingml/2006/main">
          <a:pPr>
            <a:defRPr sz="1197" b="0" i="0" u="none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lt"/>
              <a:cs typeface="+mn-lt"/>
            </a:defRPr>
          </a:pPr>
        </a:p>
      </c:txPr>
    </c:legend>
    <c:plotVisOnly val="1"/>
  </c:chart>
  <c:spPr>
    <a:noFill xmlns:a="http://schemas.openxmlformats.org/drawingml/2006/main"/>
    <a:ln xmlns:a="http://schemas.openxmlformats.org/drawingml/2006/main">
      <a:noFill/>
    </a:ln>
  </c:spPr>
</c:chartSpace>
</file>

<file path=ppt/slides/charts/chart5.xml><?xml version="1.0" encoding="utf-8"?>
<c:chartSpace xmlns:mc="http://schemas.openxmlformats.org/markup-compatibility/2006" xmlns:c14="http://schemas.microsoft.com/office/drawing/2007/8/2/chart" xmlns:c="http://schemas.openxmlformats.org/drawingml/2006/chart" mc:Ignorable="c14">
  <c:lang val="en-US"/>
  <c:roundedCorners val="0"/>
  <mc:AlternateContent>
    <mc:Choice Requires="c14">
      <c14:style val="102"/>
    </mc:Choice>
    <mc:Fallback>
      <c:style val="2"/>
    </mc:Fallback>
  </mc:AlternateContent>
  <c:chart>
    <c:title>
      <c:layout>
        <c:manualLayout>
          <c:xMode val="edge"/>
          <c:yMode val="edge"/>
          <c:x val="0.013821697687269586"/>
          <c:y val="0.02527575450117403"/>
        </c:manualLayout>
      </c:layout>
      <c:txPr>
        <a:bodyPr xmlns:a="http://schemas.openxmlformats.org/drawingml/2006/main" rot="0" vert="horz" anchor="ctr" anchorCtr="1"/>
        <a:lstStyle xmlns:a="http://schemas.openxmlformats.org/drawingml/2006/main"/>
        <a:p xmlns:a="http://schemas.openxmlformats.org/drawingml/2006/main">
          <a:pPr>
            <a:defRPr sz="1800" b="0" i="0" u="none">
              <a:solidFill>
                <a:schemeClr val="tx1"/>
              </a:solidFill>
              <a:latin typeface="+mn-lt"/>
              <a:ea typeface="+mn-lt"/>
              <a:cs typeface="+mn-lt"/>
            </a:defRPr>
          </a:pPr>
        </a:p>
      </c:txPr>
    </c:title>
    <c:autoTitleDeleted val="0"/>
    <c:plotArea>
      <c:layout>
        <c:manualLayout>
          <c:layoutTarget val="inner"/>
          <c:xMode val="edge"/>
          <c:yMode val="edge"/>
          <c:x val="0.08245552360503024"/>
          <c:y val="0.16727494328876974"/>
          <c:w val="0.8907956446698214"/>
          <c:h val="0.6966469621926458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 xmlns:a="http://schemas.openxmlformats.org/drawingml/2006/main">
              <a:schemeClr val="accent1"/>
            </a:solidFill>
            <a:ln xmlns:a="http://schemas.openxmlformats.org/drawingml/2006/main">
              <a:noFill/>
            </a:ln>
          </c:spPr>
          <c:invertIfNegative val="0"/>
          <c:dLbls>
            <c:spPr>
              <a:noFill xmlns:a="http://schemas.openxmlformats.org/drawingml/2006/main"/>
              <a:ln xmlns:a="http://schemas.openxmlformats.org/drawingml/2006/main">
                <a:noFill/>
              </a:ln>
            </c:spPr>
            <c:txPr>
              <a:bodyPr xmlns:a="http://schemas.openxmlformats.org/drawingml/2006/main" anchorCtr="1"/>
              <a:lstStyle xmlns:a="http://schemas.openxmlformats.org/drawingml/2006/main"/>
              <a:p xmlns:a="http://schemas.openxmlformats.org/drawingml/2006/main">
                <a:pPr>
                  <a:defRPr sz="1400" b="1" i="0" u="none" kern="1200" baseline="0">
                    <a:solidFill>
                      <a:schemeClr val="bg1"/>
                    </a:solidFill>
                    <a:latin typeface="+mn-lt"/>
                    <a:ea typeface="+mn-lt"/>
                    <a:cs typeface="+mn-lt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leaderLines>
              <c:spPr>
                <a:ln xmlns:a="http://schemas.openxmlformats.org/drawingml/2006/main" w="9525" cmpd="sng">
                  <a:solidFill>
                    <a:schemeClr val="tx1">
                      <a:lumMod val="35000"/>
                      <a:lumOff val="65000"/>
                    </a:schemeClr>
                  </a:solidFill>
                </a:ln>
              </c:spPr>
            </c:leaderLines>
          </c:dLbls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1.6</c:v>
                </c:pt>
                <c:pt idx="1">
                  <c:v>2.2</c:v>
                </c:pt>
                <c:pt idx="2">
                  <c:v>3.5</c:v>
                </c:pt>
                <c:pt idx="3">
                  <c:v>5.8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3"/>
        <c:axId val="1785928255"/>
        <c:axId val="1769229823"/>
      </c:barChart>
      <c:lineChart>
        <c:grouping val="standard"/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Series 2</c:v>
                </c:pt>
              </c:strCache>
            </c:strRef>
          </c:tx>
          <c:spPr>
            <a:ln xmlns:a="http://schemas.openxmlformats.org/drawingml/2006/main" w="28575">
              <a:solidFill>
                <a:schemeClr val="tx2">
                  <a:lumMod val="50000"/>
                  <a:lumOff val="50000"/>
                </a:schemeClr>
              </a:solidFill>
            </a:ln>
          </c:spPr>
          <c:marker>
            <c:symbol val="circle"/>
            <c:size val="6"/>
            <c:spPr>
              <a:solidFill xmlns:a="http://schemas.openxmlformats.org/drawingml/2006/main">
                <a:schemeClr val="tx2">
                  <a:lumMod val="50000"/>
                  <a:lumOff val="50000"/>
                </a:schemeClr>
              </a:solidFill>
              <a:ln xmlns:a="http://schemas.openxmlformats.org/drawingml/2006/main" w="9525">
                <a:solidFill>
                  <a:schemeClr val="tx2">
                    <a:lumMod val="50000"/>
                    <a:lumOff val="50000"/>
                  </a:schemeClr>
                </a:solidFill>
              </a:ln>
            </c:spPr>
          </c:marker>
          <c:dLbls>
            <c:spPr>
              <a:noFill xmlns:a="http://schemas.openxmlformats.org/drawingml/2006/main"/>
              <a:ln xmlns:a="http://schemas.openxmlformats.org/drawingml/2006/main">
                <a:noFill/>
              </a:ln>
            </c:spPr>
            <c:txPr>
              <a:bodyPr xmlns:a="http://schemas.openxmlformats.org/drawingml/2006/main" anchorCtr="1"/>
              <a:lstStyle xmlns:a="http://schemas.openxmlformats.org/drawingml/2006/main"/>
              <a:p xmlns:a="http://schemas.openxmlformats.org/drawingml/2006/main">
                <a:pPr>
                  <a:defRPr sz="1400" b="1" i="0" u="none" kern="1200" baseline="0">
                    <a:solidFill>
                      <a:schemeClr val="tx1"/>
                    </a:solidFill>
                    <a:latin typeface="+mn-lt"/>
                    <a:ea typeface="+mn-lt"/>
                    <a:cs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leaderLines>
              <c:spPr>
                <a:ln xmlns:a="http://schemas.openxmlformats.org/drawingml/2006/main" w="9525" cmpd="sng">
                  <a:solidFill>
                    <a:schemeClr val="tx1">
                      <a:lumMod val="35000"/>
                      <a:lumOff val="65000"/>
                    </a:schemeClr>
                  </a:solidFill>
                </a:ln>
              </c:spPr>
            </c:leaderLines>
          </c:dLbls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1.7</c:v>
                </c:pt>
                <c:pt idx="1">
                  <c:v>2.4</c:v>
                </c:pt>
                <c:pt idx="2">
                  <c:v>5</c:v>
                </c:pt>
                <c:pt idx="3">
                  <c:v>8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785928255"/>
        <c:axId val="1769229823"/>
      </c:lineChart>
      <c:catAx>
        <c:axId val="1785928255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xmlns:a="http://schemas.openxmlformats.org/drawingml/2006/main" w="9525" cmpd="sng">
            <a:solidFill>
              <a:schemeClr val="tx1"/>
            </a:solidFill>
          </a:ln>
        </c:spPr>
        <c:txPr>
          <a:bodyPr xmlns:a="http://schemas.openxmlformats.org/drawingml/2006/main" rot="-60000000" spcFirstLastPara="1" vert="horz" wrap="square" anchor="ctr" anchorCtr="1"/>
          <a:lstStyle xmlns:a="http://schemas.openxmlformats.org/drawingml/2006/main"/>
          <a:p xmlns:a="http://schemas.openxmlformats.org/drawingml/2006/main">
            <a:pPr>
              <a:defRPr sz="1100" b="0" i="0" u="none" kern="1200" baseline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pPr>
          </a:p>
        </c:txPr>
        <c:crossAx val="1769229823"/>
        <c:crosses val="autoZero"/>
        <c:lblAlgn val="ctr"/>
        <c:lblOffset val="100"/>
        <c:noMultiLvlLbl val="0"/>
      </c:catAx>
      <c:valAx>
        <c:axId val="1769229823"/>
        <c:scaling>
          <c:orientation val="minMax"/>
        </c:scaling>
        <c:delete val="0"/>
        <c:axPos val="l"/>
        <c:majorGridlines>
          <c:spPr>
            <a:ln xmlns:a="http://schemas.openxmlformats.org/drawingml/2006/main" w="9525" cmpd="sng">
              <a:noFill/>
            </a:ln>
          </c:spPr>
        </c:majorGridlines>
        <c:numFmt formatCode="General" sourceLinked="1"/>
        <c:majorTickMark val="none"/>
        <c:minorTickMark val="none"/>
        <c:tickLblPos val="nextTo"/>
        <c:spPr>
          <a:ln xmlns:a="http://schemas.openxmlformats.org/drawingml/2006/main">
            <a:noFill/>
          </a:ln>
        </c:spPr>
        <c:txPr>
          <a:bodyPr xmlns:a="http://schemas.openxmlformats.org/drawingml/2006/main" rot="-60000000" vert="horz" anchor="ctr" anchorCtr="1"/>
          <a:lstStyle xmlns:a="http://schemas.openxmlformats.org/drawingml/2006/main"/>
          <a:p xmlns:a="http://schemas.openxmlformats.org/drawingml/2006/main">
            <a:pPr>
              <a:defRPr sz="1100" b="0" i="0" u="none" kern="1200" baseline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</a:defRPr>
            </a:pPr>
          </a:p>
        </c:txPr>
        <c:crossAx val="1785928255"/>
        <c:crosses val="autoZero"/>
        <c:crossBetween val="between"/>
      </c:valAx>
      <c:spPr>
        <a:noFill xmlns:a="http://schemas.openxmlformats.org/drawingml/2006/main"/>
        <a:ln xmlns:a="http://schemas.openxmlformats.org/drawingml/2006/main">
          <a:noFill/>
        </a:ln>
      </c:spPr>
    </c:plotArea>
    <c:legend>
      <c:legendPos val="b"/>
      <c:layout>
        <c:manualLayout>
          <c:xMode val="edge"/>
          <c:yMode val="edge"/>
          <c:x val="0.5806745349794367"/>
          <c:y val="0.02738737462131148"/>
          <c:w val="0.3998733846690067"/>
          <c:h val="0.046123948895864915"/>
        </c:manualLayout>
      </c:layout>
      <c:overlay val="0"/>
      <c:spPr>
        <a:noFill xmlns:a="http://schemas.openxmlformats.org/drawingml/2006/main"/>
      </c:spPr>
      <c:txPr>
        <a:bodyPr xmlns:a="http://schemas.openxmlformats.org/drawingml/2006/main" rot="0" vert="horz" anchor="ctr" anchorCtr="1"/>
        <a:lstStyle xmlns:a="http://schemas.openxmlformats.org/drawingml/2006/main"/>
        <a:p xmlns:a="http://schemas.openxmlformats.org/drawingml/2006/main">
          <a:pPr>
            <a:defRPr sz="1197" b="0" i="0" u="none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lt"/>
              <a:cs typeface="+mn-lt"/>
            </a:defRPr>
          </a:pPr>
        </a:p>
      </c:txPr>
    </c:legend>
    <c:plotVisOnly val="1"/>
  </c:chart>
  <c:spPr>
    <a:noFill xmlns:a="http://schemas.openxmlformats.org/drawingml/2006/main"/>
    <a:ln xmlns:a="http://schemas.openxmlformats.org/drawingml/2006/main">
      <a:noFill/>
    </a:ln>
  </c:spPr>
</c:chartSpace>
</file>

<file path=ppt/slides/charts/chart6.xml><?xml version="1.0" encoding="utf-8"?>
<c:chartSpace xmlns:mc="http://schemas.openxmlformats.org/markup-compatibility/2006" xmlns:c14="http://schemas.microsoft.com/office/drawing/2007/8/2/chart" xmlns:c="http://schemas.openxmlformats.org/drawingml/2006/chart" mc:Ignorable="c14">
  <c:lang val="en-US"/>
  <c:roundedCorners val="0"/>
  <mc:AlternateContent>
    <mc:Choice Requires="c14">
      <c14:style val="102"/>
    </mc:Choice>
    <mc:Fallback>
      <c:style val="2"/>
    </mc:Fallback>
  </mc:AlternateContent>
  <c:chart>
    <c:title>
      <c:layout>
        <c:manualLayout>
          <c:xMode val="edge"/>
          <c:yMode val="edge"/>
          <c:x val="0.013821697687269586"/>
          <c:y val="0.02527575450117403"/>
        </c:manualLayout>
      </c:layout>
      <c:txPr>
        <a:bodyPr xmlns:a="http://schemas.openxmlformats.org/drawingml/2006/main" rot="0" vert="horz" anchor="ctr" anchorCtr="1"/>
        <a:lstStyle xmlns:a="http://schemas.openxmlformats.org/drawingml/2006/main"/>
        <a:p xmlns:a="http://schemas.openxmlformats.org/drawingml/2006/main">
          <a:pPr>
            <a:defRPr sz="1800" b="0" i="0" u="none">
              <a:solidFill>
                <a:schemeClr val="tx1"/>
              </a:solidFill>
              <a:latin typeface="+mn-lt"/>
              <a:ea typeface="+mn-lt"/>
              <a:cs typeface="+mn-lt"/>
            </a:defRPr>
          </a:pPr>
        </a:p>
      </c:txPr>
    </c:title>
    <c:autoTitleDeleted val="0"/>
    <c:plotArea>
      <c:layout>
        <c:manualLayout>
          <c:layoutTarget val="inner"/>
          <c:xMode val="edge"/>
          <c:yMode val="edge"/>
          <c:x val="0.08245552360503024"/>
          <c:y val="0.16727494328876974"/>
          <c:w val="0.8907956446698214"/>
          <c:h val="0.6966469621926458"/>
        </c:manualLayout>
      </c:layou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ln xmlns:a="http://schemas.openxmlformats.org/drawingml/2006/main" w="28575">
              <a:solidFill>
                <a:schemeClr val="accent1"/>
              </a:solidFill>
            </a:ln>
          </c:spPr>
          <c:marker>
            <c:symbol val="circle"/>
            <c:size val="6"/>
            <c:spPr>
              <a:solidFill xmlns:a="http://schemas.openxmlformats.org/drawingml/2006/main">
                <a:schemeClr val="accent1"/>
              </a:solidFill>
              <a:ln xmlns:a="http://schemas.openxmlformats.org/drawingml/2006/main" w="9525">
                <a:solidFill>
                  <a:schemeClr val="accent1"/>
                </a:solidFill>
              </a:ln>
            </c:spPr>
          </c:marker>
          <c:dLbls>
            <c:spPr>
              <a:noFill xmlns:a="http://schemas.openxmlformats.org/drawingml/2006/main"/>
              <a:ln xmlns:a="http://schemas.openxmlformats.org/drawingml/2006/main">
                <a:noFill/>
              </a:ln>
            </c:spPr>
            <c:txPr>
              <a:bodyPr xmlns:a="http://schemas.openxmlformats.org/drawingml/2006/main" anchorCtr="1"/>
              <a:lstStyle xmlns:a="http://schemas.openxmlformats.org/drawingml/2006/main"/>
              <a:p xmlns:a="http://schemas.openxmlformats.org/drawingml/2006/main">
                <a:pPr>
                  <a:defRPr sz="1400" b="1" i="0" u="none">
                    <a:solidFill>
                      <a:schemeClr val="tx1"/>
                    </a:solidFill>
                    <a:latin typeface="+mn-lt"/>
                    <a:ea typeface="+mn-lt"/>
                    <a:cs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1.6</c:v>
                </c:pt>
                <c:pt idx="1">
                  <c:v>2.2</c:v>
                </c:pt>
                <c:pt idx="2">
                  <c:v>3.5</c:v>
                </c:pt>
                <c:pt idx="3">
                  <c:v>5.8</c:v>
                </c:pt>
              </c:numCache>
            </c:numRef>
          </c:val>
          <c:smooth val="1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Series 2</c:v>
                </c:pt>
              </c:strCache>
            </c:strRef>
          </c:tx>
          <c:spPr>
            <a:ln xmlns:a="http://schemas.openxmlformats.org/drawingml/2006/main" w="28575">
              <a:solidFill>
                <a:schemeClr val="tx2">
                  <a:lumMod val="50000"/>
                  <a:lumOff val="50000"/>
                </a:schemeClr>
              </a:solidFill>
            </a:ln>
          </c:spPr>
          <c:marker>
            <c:symbol val="circle"/>
            <c:size val="6"/>
            <c:spPr>
              <a:solidFill xmlns:a="http://schemas.openxmlformats.org/drawingml/2006/main">
                <a:schemeClr val="tx2">
                  <a:lumMod val="50000"/>
                  <a:lumOff val="50000"/>
                </a:schemeClr>
              </a:solidFill>
              <a:ln xmlns:a="http://schemas.openxmlformats.org/drawingml/2006/main" w="9525">
                <a:noFill/>
              </a:ln>
            </c:spPr>
          </c:marker>
          <c:dLbls>
            <c:spPr>
              <a:noFill xmlns:a="http://schemas.openxmlformats.org/drawingml/2006/main"/>
              <a:ln xmlns:a="http://schemas.openxmlformats.org/drawingml/2006/main">
                <a:noFill/>
              </a:ln>
            </c:spPr>
            <c:txPr>
              <a:bodyPr xmlns:a="http://schemas.openxmlformats.org/drawingml/2006/main" anchorCtr="1"/>
              <a:lstStyle xmlns:a="http://schemas.openxmlformats.org/drawingml/2006/main"/>
              <a:p xmlns:a="http://schemas.openxmlformats.org/drawingml/2006/main">
                <a:pPr>
                  <a:defRPr sz="1400" b="1" i="0" u="none">
                    <a:solidFill>
                      <a:schemeClr val="tx1"/>
                    </a:solidFill>
                    <a:latin typeface="+mn-lt"/>
                    <a:ea typeface="+mn-lt"/>
                    <a:cs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1.7</c:v>
                </c:pt>
                <c:pt idx="1">
                  <c:v>2.4</c:v>
                </c:pt>
                <c:pt idx="2">
                  <c:v>5</c:v>
                </c:pt>
                <c:pt idx="3">
                  <c:v>8</c:v>
                </c:pt>
              </c:numCache>
            </c:numRef>
          </c:val>
          <c:smooth val="1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785928255"/>
        <c:axId val="1769229823"/>
      </c:lineChart>
      <c:catAx>
        <c:axId val="1785928255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xmlns:a="http://schemas.openxmlformats.org/drawingml/2006/main" w="9525" cmpd="sng">
            <a:solidFill>
              <a:schemeClr val="tx1"/>
            </a:solidFill>
          </a:ln>
        </c:spPr>
        <c:txPr>
          <a:bodyPr xmlns:a="http://schemas.openxmlformats.org/drawingml/2006/main" rot="-60000000" spcFirstLastPara="1" vert="horz" wrap="square" anchor="ctr" anchorCtr="1"/>
          <a:lstStyle xmlns:a="http://schemas.openxmlformats.org/drawingml/2006/main"/>
          <a:p xmlns:a="http://schemas.openxmlformats.org/drawingml/2006/main">
            <a:pPr>
              <a:defRPr sz="1100" b="0" i="0" u="none">
                <a:solidFill>
                  <a:schemeClr val="tx1"/>
                </a:solidFill>
                <a:latin typeface="+mn-lt"/>
                <a:ea typeface="+mn-lt"/>
                <a:cs typeface="+mn-lt"/>
              </a:defRPr>
            </a:pPr>
          </a:p>
        </c:txPr>
        <c:crossAx val="1769229823"/>
        <c:crosses val="autoZero"/>
        <c:lblAlgn val="ctr"/>
        <c:lblOffset val="100"/>
        <c:noMultiLvlLbl val="0"/>
      </c:catAx>
      <c:valAx>
        <c:axId val="1769229823"/>
        <c:scaling>
          <c:orientation val="minMax"/>
        </c:scaling>
        <c:delete val="0"/>
        <c:axPos val="l"/>
        <c:majorGridlines>
          <c:spPr>
            <a:ln xmlns:a="http://schemas.openxmlformats.org/drawingml/2006/main" w="9525" cmpd="sng">
              <a:noFill/>
            </a:ln>
          </c:spPr>
        </c:majorGridlines>
        <c:numFmt formatCode="General" sourceLinked="1"/>
        <c:majorTickMark val="none"/>
        <c:minorTickMark val="none"/>
        <c:tickLblPos val="nextTo"/>
        <c:spPr>
          <a:ln xmlns:a="http://schemas.openxmlformats.org/drawingml/2006/main">
            <a:noFill/>
          </a:ln>
        </c:spPr>
        <c:txPr>
          <a:bodyPr xmlns:a="http://schemas.openxmlformats.org/drawingml/2006/main" rot="-60000000" vert="horz" anchor="ctr" anchorCtr="1"/>
          <a:lstStyle xmlns:a="http://schemas.openxmlformats.org/drawingml/2006/main"/>
          <a:p xmlns:a="http://schemas.openxmlformats.org/drawingml/2006/main">
            <a:pPr>
              <a:defRPr sz="1100" b="0" i="0" u="none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</a:defRPr>
            </a:pPr>
          </a:p>
        </c:txPr>
        <c:crossAx val="1785928255"/>
        <c:crosses val="autoZero"/>
        <c:crossBetween val="between"/>
      </c:valAx>
      <c:spPr>
        <a:noFill xmlns:a="http://schemas.openxmlformats.org/drawingml/2006/main"/>
        <a:ln xmlns:a="http://schemas.openxmlformats.org/drawingml/2006/main">
          <a:noFill/>
        </a:ln>
      </c:spPr>
    </c:plotArea>
    <c:legend>
      <c:legendPos val="b"/>
      <c:layout>
        <c:manualLayout>
          <c:xMode val="edge"/>
          <c:yMode val="edge"/>
          <c:x val="0.5806745349794367"/>
          <c:y val="0.02738737462131148"/>
          <c:w val="0.3998733846690067"/>
          <c:h val="0.05004758608583646"/>
        </c:manualLayout>
      </c:layout>
      <c:overlay val="0"/>
      <c:spPr>
        <a:noFill xmlns:a="http://schemas.openxmlformats.org/drawingml/2006/main"/>
      </c:spPr>
      <c:txPr>
        <a:bodyPr xmlns:a="http://schemas.openxmlformats.org/drawingml/2006/main" rot="0" vert="horz" anchor="ctr" anchorCtr="1"/>
        <a:lstStyle xmlns:a="http://schemas.openxmlformats.org/drawingml/2006/main"/>
        <a:p xmlns:a="http://schemas.openxmlformats.org/drawingml/2006/main">
          <a:pPr>
            <a:defRPr sz="1197" b="0" i="0" u="none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lt"/>
              <a:cs typeface="+mn-lt"/>
            </a:defRPr>
          </a:pPr>
        </a:p>
      </c:txPr>
    </c:legend>
    <c:plotVisOnly val="1"/>
  </c:chart>
  <c:spPr>
    <a:noFill xmlns:a="http://schemas.openxmlformats.org/drawingml/2006/main"/>
    <a:ln xmlns:a="http://schemas.openxmlformats.org/drawingml/2006/main">
      <a:noFill/>
    </a:ln>
  </c:spPr>
</c:chartSpace>
</file>

<file path=ppt/slides/slide1.xml><?xml version="1.0" encoding="utf-8"?>
<p:sld xmlns:p="http://schemas.openxmlformats.org/presentationml/2006/main">
  <p:cSld>
    <p:bg>
      <p:bgPr>
        <a:gradFill xmlns:a="http://schemas.openxmlformats.org/drawingml/2006/main" rotWithShape="1">
          <a:gsLst>
            <a:gs pos="0">
              <a:srgbClr val="0C3666"/>
            </a:gs>
            <a:gs pos="100000">
              <a:srgbClr val="061C39"/>
            </a:gs>
          </a:gsLst>
          <a:lin ang="13500000" scaled="1"/>
          <a:tileRect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 3">
            <a:extLst xmlns:a="http://schemas.openxmlformats.org/drawingml/2006/main">
              <a:ext uri="{FF2B5EF4-FFF2-40B4-BE49-F238E27FC236}">
                <a16:creationId xmlns:a16="http://schemas.microsoft.com/office/drawing/2014/main" id="{0F24658D-7578-8E1B-095D-2634178665BE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384537" y="1850746"/>
            <a:ext cx="9448800" cy="2491490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r>
              <a:rPr sz="6500">
                <a:solidFill>
                  <a:schemeClr val="accent3"/>
                </a:solidFill>
              </a:rPr>
              <a:t>CabotageLens</a:t>
            </a:r>
          </a:p>
          <a:p xmlns:a="http://schemas.openxmlformats.org/drawingml/2006/main">
            <a:r>
              <a:rPr sz="6500">
                <a:solidFill>
                  <a:schemeClr val="accent3"/>
                </a:solidFill>
              </a:rPr>
              <a:t>Comparação porta a porta</a:t>
            </a:r>
          </a:p>
        </p:txBody>
      </p:sp>
      <p:sp>
        <p:nvSpPr>
          <p:cNvPr id="5" name="Subtitle 4">
            <a:extLst xmlns:a="http://schemas.openxmlformats.org/drawingml/2006/main">
              <a:ext uri="{FF2B5EF4-FFF2-40B4-BE49-F238E27FC236}">
                <a16:creationId xmlns:a16="http://schemas.microsoft.com/office/drawing/2014/main" id="{9CFCDDD1-6B62-D648-FCD8-F519A8EBFE03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393700" y="5170707"/>
            <a:ext cx="3568700" cy="647700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r>
              <a:rPr sz="1800">
                <a:solidFill>
                  <a:schemeClr val="bg2">
                    <a:lumMod val="75000"/>
                  </a:schemeClr>
                </a:solidFill>
              </a:rPr>
              <a:t>Trabalho de Formatura</a:t>
            </a:r>
          </a:p>
          <a:p xmlns:a="http://schemas.openxmlformats.org/drawingml/2006/main">
            <a:r>
              <a:rPr sz="1800">
                <a:solidFill>
                  <a:schemeClr val="accent3"/>
                </a:solidFill>
              </a:rPr>
              <a:t>Engenharia Naval</a:t>
            </a:r>
          </a:p>
        </p:txBody>
      </p:sp>
      <p:sp>
        <p:nvSpPr>
          <p:cNvPr id="2" name="Subtitle 4">
            <a:extLst xmlns:a="http://schemas.openxmlformats.org/drawingml/2006/main">
              <a:ext uri="{FF2B5EF4-FFF2-40B4-BE49-F238E27FC236}">
                <a16:creationId xmlns:a16="http://schemas.microsoft.com/office/drawing/2014/main" id="{7DE36FE5-F5E6-DBA2-7BCD-BDE05B2A1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0789" y="5170707"/>
            <a:ext cx="35687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0" indent="0" algn="l" defTabSz="914400">
              <a:lnSpc>
                <a:spcPct val="90000"/>
              </a:lnSpc>
              <a:spcBef>
                <a:spcPts val="1000"/>
              </a:spcBef>
              <a:buFont typeface="Arial"/>
              <a:buNone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r>
              <a:rPr sz="1800">
                <a:solidFill>
                  <a:schemeClr val="bg2">
                    <a:lumMod val="75000"/>
                  </a:schemeClr>
                </a:solidFill>
              </a:rPr>
              <a:t>Felipe de Sá Proença</a:t>
            </a:r>
          </a:p>
          <a:p xmlns:a="http://schemas.openxmlformats.org/drawingml/2006/main">
            <a:r>
              <a:rPr sz="1800">
                <a:solidFill>
                  <a:schemeClr val="accent3"/>
                </a:solidFill>
              </a:rPr>
              <a:t>Prof. Dr. Marcos M. O. Pinto</a:t>
            </a:r>
          </a:p>
        </p:txBody>
      </p:sp>
      <p:sp>
        <p:nvSpPr>
          <p:cNvPr id="3" name="Subtitle 4">
            <a:extLst xmlns:a="http://schemas.openxmlformats.org/drawingml/2006/main">
              <a:ext uri="{FF2B5EF4-FFF2-40B4-BE49-F238E27FC236}">
                <a16:creationId xmlns:a16="http://schemas.microsoft.com/office/drawing/2014/main" id="{1855E0C5-A5E4-590B-0D77-15A6F24D0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08228" y="623595"/>
            <a:ext cx="3199235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0" indent="0" algn="l" defTabSz="914400">
              <a:lnSpc>
                <a:spcPct val="90000"/>
              </a:lnSpc>
              <a:spcBef>
                <a:spcPts val="1000"/>
              </a:spcBef>
              <a:buFont typeface="Arial"/>
              <a:buNone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algn="r">
              <a:buNone/>
            </a:pPr>
            <a:r>
              <a:rPr sz="1800">
                <a:solidFill>
                  <a:srgbClr val="EDF5FE">
                    <a:alpha val="50000"/>
                  </a:srgbClr>
                </a:solidFill>
                <a:latin typeface="Helvetica Neue"/>
                <a:ea typeface="Helvetica Neue"/>
                <a:cs typeface="Helvetica Neue"/>
              </a:rPr>
              <a:t>2026</a:t>
            </a:r>
          </a:p>
        </p:txBody>
      </p:sp>
      <p:sp>
        <p:nvSpPr>
          <p:cNvPr id="7" name="Subtitle 4">
            <a:extLst xmlns:a="http://schemas.openxmlformats.org/drawingml/2006/main">
              <a:ext uri="{FF2B5EF4-FFF2-40B4-BE49-F238E27FC236}">
                <a16:creationId xmlns:a16="http://schemas.microsoft.com/office/drawing/2014/main" id="{5794C0B2-4912-64A0-21CF-60B66252E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623595"/>
            <a:ext cx="5537200" cy="64915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0" indent="0" algn="l" defTabSz="914400">
              <a:lnSpc>
                <a:spcPct val="90000"/>
              </a:lnSpc>
              <a:spcBef>
                <a:spcPts val="1000"/>
              </a:spcBef>
              <a:buFont typeface="Arial"/>
              <a:buNone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>
              <a:buNone/>
            </a:pPr>
            <a:r>
              <a:rPr sz="1800">
                <a:solidFill>
                  <a:srgbClr val="EDF5FE">
                    <a:alpha val="50000"/>
                  </a:srgbClr>
                </a:solidFill>
                <a:latin typeface="Helvetica Neue"/>
                <a:ea typeface="Helvetica Neue"/>
                <a:cs typeface="Helvetica Neue"/>
              </a:rPr>
              <a:t>Escola Politécnica da USP</a:t>
            </a:r>
          </a:p>
        </p:txBody>
      </p:sp>
      <p:sp>
        <p:nvSpPr>
          <p:cNvPr id="8" name="Straight Connector 7">
            <a:extLst xmlns:a="http://schemas.openxmlformats.org/drawingml/2006/main">
              <a:ext uri="{FF2B5EF4-FFF2-40B4-BE49-F238E27FC236}">
                <a16:creationId xmlns:a16="http://schemas.microsoft.com/office/drawing/2014/main" id="{045DC4F7-0007-418F-A84D-346AAB870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537" y="374574"/>
            <a:ext cx="11422926" cy="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rgbClr val="7A8CA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</p:spTree>
    <p:extLst>
      <p:ext uri="{BB962C8B-B14F-4D97-AF65-F5344CB8AC3E}">
        <p14:creationId xmlns:p14="http://schemas.microsoft.com/office/powerpoint/2010/main" val="1986947201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 2">
            <a:extLst xmlns:a="http://schemas.openxmlformats.org/drawingml/2006/main">
              <a:ext uri="{FF2B5EF4-FFF2-40B4-BE49-F238E27FC236}">
                <a16:creationId xmlns:a16="http://schemas.microsoft.com/office/drawing/2014/main" id="{40BD946D-556A-ECA8-679C-19ABE963A4E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965513"/>
            <a:ext cx="9448800" cy="1066487"/>
          </a:xfrm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r>
              <a:rPr sz="3800"/>
              <a:t>Estrutura da apresentação</a:t>
            </a:r>
          </a:p>
        </p:txBody>
      </p:sp>
      <p:sp>
        <p:nvSpPr>
          <p:cNvPr id="5" name="Subtitle 4">
            <a:extLst xmlns:a="http://schemas.openxmlformats.org/drawingml/2006/main">
              <a:ext uri="{FF2B5EF4-FFF2-40B4-BE49-F238E27FC236}">
                <a16:creationId xmlns:a16="http://schemas.microsoft.com/office/drawing/2014/main" id="{173F7058-30A0-0125-1A90-B808A012B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99" y="392242"/>
            <a:ext cx="3578411" cy="34517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0" indent="0" algn="l" defTabSz="914400">
              <a:lnSpc>
                <a:spcPct val="90000"/>
              </a:lnSpc>
              <a:spcBef>
                <a:spcPts val="1000"/>
              </a:spcBef>
              <a:buFont typeface="Arial"/>
              <a:buNone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marR="0" lvl="0" indent="0" algn="l" defTabSz="91440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None/>
            </a:pPr>
            <a:r>
              <a:rPr sz="1800" b="0" i="0" u="none" cap="none">
                <a:ln>
                  <a:noFill/>
                </a:ln>
                <a:solidFill>
                  <a:srgbClr val="175CD4"/>
                </a:solidFill>
                <a:latin typeface="Helvetica Neue Medium"/>
                <a:ea typeface="Helvetica Neue Medium"/>
                <a:cs typeface="Helvetica Neue Medium"/>
              </a:rPr>
              <a:t>Roteiro</a:t>
            </a:r>
          </a:p>
        </p:txBody>
      </p:sp>
      <p:graphicFrame>
        <p:nvGraphicFramePr>
          <p:cNvPr id="10" name="Table 6"/>
          <p:cNvGraphicFramePr/>
          <p:nvPr/>
        </p:nvGraphicFramePr>
        <p:xfrm>
          <a:off xmlns:a="http://schemas.openxmlformats.org/drawingml/2006/main" x="393698" y="2667171"/>
          <a:ext xmlns:a="http://schemas.openxmlformats.org/drawingml/2006/main" cx="7835901" cy="3281658"/>
        </p:xfrm>
        <a:graphic xmlns:a="http://schemas.openxmlformats.org/drawingml/2006/main"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2302"/>
                <a:gridCol w="7213599"/>
              </a:tblGrid>
              <a:tr h="546943"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2100" b="0" i="0" u="none" cap="none">
                          <a:ln>
                            <a:noFill/>
                          </a:ln>
                          <a:solidFill>
                            <a:schemeClr val="accent4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01</a:t>
                      </a:r>
                    </a:p>
                  </a:txBody>
                  <a:tcPr marL="0" marR="91440" marT="45720" marB="4572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2100" b="0" i="0" u="none" cap="none">
                          <a:ln>
                            <a:noFill/>
                          </a:ln>
                          <a:solidFill>
                            <a:prstClr val="black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Objetivo e introdução</a:t>
                      </a:r>
                    </a:p>
                  </a:txBody>
                  <a:tcPr marL="0" marR="91440" marT="45720" marB="4572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546943"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2100" b="0" i="0" u="none" cap="none">
                          <a:ln>
                            <a:noFill/>
                          </a:ln>
                          <a:solidFill>
                            <a:schemeClr val="accent4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02</a:t>
                      </a:r>
                    </a:p>
                  </a:txBody>
                  <a:tcPr marL="0" marR="91440" marT="45720" marB="4572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2100" b="0" i="0" u="none" cap="none">
                          <a:ln>
                            <a:noFill/>
                          </a:ln>
                          <a:solidFill>
                            <a:prstClr val="black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Fundamentação metodológica</a:t>
                      </a:r>
                    </a:p>
                  </a:txBody>
                  <a:tcPr marL="0" marR="91440" marT="45720" marB="4572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546943"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2100" b="0" i="0" u="none" cap="none">
                          <a:ln>
                            <a:noFill/>
                          </a:ln>
                          <a:solidFill>
                            <a:schemeClr val="accent4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03</a:t>
                      </a:r>
                    </a:p>
                  </a:txBody>
                  <a:tcPr marL="0" marR="91440" marT="45720" marB="4572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2100" b="0" i="0" u="none" cap="none">
                          <a:ln>
                            <a:noFill/>
                          </a:ln>
                          <a:solidFill>
                            <a:prstClr val="black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Metodologia de cálculo</a:t>
                      </a:r>
                    </a:p>
                  </a:txBody>
                  <a:tcPr marL="0" marR="91440" marT="45720" marB="4572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546943"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2100" b="0" i="0" u="none" cap="none">
                          <a:ln>
                            <a:noFill/>
                          </a:ln>
                          <a:solidFill>
                            <a:schemeClr val="accent4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04</a:t>
                      </a:r>
                    </a:p>
                  </a:txBody>
                  <a:tcPr marL="0" marR="91440" marT="45720" marB="4572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2100" b="0" i="0" u="none" cap="none">
                          <a:ln>
                            <a:noFill/>
                          </a:ln>
                          <a:solidFill>
                            <a:prstClr val="black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Implementação computacional</a:t>
                      </a:r>
                    </a:p>
                  </a:txBody>
                  <a:tcPr marL="0" marR="91440" marT="45720" marB="4572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546943"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2100" b="0" i="0" u="none" cap="none">
                          <a:ln>
                            <a:noFill/>
                          </a:ln>
                          <a:solidFill>
                            <a:schemeClr val="accent4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05</a:t>
                      </a:r>
                    </a:p>
                  </a:txBody>
                  <a:tcPr marL="0" marR="91440" marT="45720" marB="4572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2100" b="0" i="0" u="none" cap="none">
                          <a:ln>
                            <a:noFill/>
                          </a:ln>
                          <a:solidFill>
                            <a:prstClr val="black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Comparações e limites</a:t>
                      </a:r>
                    </a:p>
                  </a:txBody>
                  <a:tcPr marL="0" marR="91440" marT="45720" marB="4572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546943"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2100" b="0" i="0" u="none" cap="none">
                          <a:ln>
                            <a:noFill/>
                          </a:ln>
                          <a:solidFill>
                            <a:schemeClr val="accent4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06</a:t>
                      </a:r>
                    </a:p>
                  </a:txBody>
                  <a:tcPr marL="0" marR="91440" marT="45720" marB="4572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2100" b="0" i="0" u="none" cap="none">
                          <a:ln>
                            <a:noFill/>
                          </a:ln>
                          <a:solidFill>
                            <a:prstClr val="black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Conclusões</a:t>
                      </a:r>
                    </a:p>
                  </a:txBody>
                  <a:tcPr marL="0" marR="91440" marT="45720" marB="4572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4" name="Footer Placeholder 3">
            <a:extLst xmlns:a="http://schemas.openxmlformats.org/drawingml/2006/main">
              <a:ext uri="{FF2B5EF4-FFF2-40B4-BE49-F238E27FC236}">
                <a16:creationId xmlns:a16="http://schemas.microsoft.com/office/drawing/2014/main" id="{F810BED8-CB43-D17C-4D24-32A4B0893D63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t>CabotageLens | Trabalho de Formatura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2D9ED408-E4DF-E76D-2726-E1F5A0441088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lvl="0" indent="0" algn="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fld id="{E2598689-54C9-18A7-3A19-ED76AA08988F}" type="slidenum">
              <a:rPr sz="1100" b="0" i="0" u="none" cap="none">
                <a:ln>
                  <a:noFill/>
                </a:ln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</a:t>
            </a:fld>
          </a:p>
        </p:txBody>
      </p:sp>
    </p:spTree>
    <p:extLst>
      <p:ext uri="{BB962C8B-B14F-4D97-AF65-F5344CB8AC3E}">
        <p14:creationId xmlns:p14="http://schemas.microsoft.com/office/powerpoint/2010/main" val="2779495450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4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92B9D060-8F6B-685E-C699-7CF3FDA228BA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1722684"/>
            <a:ext cx="5537200" cy="86542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>
                <a:latin typeface="Helvetica Neue"/>
                <a:ea typeface="Helvetica Neue"/>
                <a:cs typeface="Helvetica Neue"/>
              </a:rPr>
              <a:t>Comparar, porta a porta,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>
                <a:latin typeface="Helvetica Neue"/>
                <a:ea typeface="Helvetica Neue"/>
                <a:cs typeface="Helvetica Neue"/>
              </a:rPr>
              <a:t>rodovia direta e cabotagem</a:t>
            </a:r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451E053B-8CD7-DAF7-BA60-B58D00D61D0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7835900" cy="10402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>Objetivo do trabalho</a:t>
            </a:r>
          </a:p>
        </p:txBody>
      </p:sp>
      <p:sp>
        <p:nvSpPr>
          <p:cNvPr id="2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F1357382-F889-8A40-7C64-C4E276E66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990317"/>
            <a:ext cx="3911600" cy="548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0000"/>
              </a:lnSpc>
              <a:spcBef>
                <a:spcPts val="0"/>
              </a:spcBef>
              <a:buFontTx/>
              <a:buNone/>
            </a:pP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Base funcional comum</a:t>
            </a:r>
          </a:p>
        </p:txBody>
      </p:sp>
      <p:sp>
        <p:nvSpPr>
          <p:cNvPr id="3" name="Google Shape;340;p61">
            <a:extLst xmlns:a="http://schemas.openxmlformats.org/drawingml/2006/main">
              <a:ext uri="{FF2B5EF4-FFF2-40B4-BE49-F238E27FC236}">
                <a16:creationId xmlns:a16="http://schemas.microsoft.com/office/drawing/2014/main" id="{DECE1942-1885-9577-DF5F-685A8B1C7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7725" y="3015150"/>
            <a:ext cx="212551" cy="212470"/>
          </a:xfrm>
          <a:custGeom xmlns:a="http://schemas.openxmlformats.org/drawingml/2006/main">
            <a:rect l="l" t="t" r="r" b="b"/>
            <a:pathLst>
              <a:path w="21600" h="21600">
                <a:moveTo>
                  <a:pt x="10800" y="2160"/>
                </a:moveTo>
                <a:cubicBezTo>
                  <a:pt x="6029" y="2160"/>
                  <a:pt x="2160" y="6029"/>
                  <a:pt x="2160" y="10800"/>
                </a:cubicBezTo>
                <a:cubicBezTo>
                  <a:pt x="2160" y="15571"/>
                  <a:pt x="6029" y="19440"/>
                  <a:pt x="10800" y="19440"/>
                </a:cubicBezTo>
                <a:cubicBezTo>
                  <a:pt x="15571" y="19440"/>
                  <a:pt x="19440" y="15571"/>
                  <a:pt x="19440" y="10800"/>
                </a:cubicBezTo>
                <a:cubicBezTo>
                  <a:pt x="19440" y="6029"/>
                  <a:pt x="15571" y="2160"/>
                  <a:pt x="10800" y="2160"/>
                </a:cubicBezTo>
                <a:close/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15201" y="6407"/>
                </a:moveTo>
                <a:cubicBezTo>
                  <a:pt x="15689" y="6750"/>
                  <a:pt x="15807" y="7424"/>
                  <a:pt x="15463" y="7911"/>
                </a:cubicBezTo>
                <a:lnTo>
                  <a:pt x="10333" y="15201"/>
                </a:lnTo>
                <a:cubicBezTo>
                  <a:pt x="10144" y="15470"/>
                  <a:pt x="9844" y="15637"/>
                  <a:pt x="9517" y="15658"/>
                </a:cubicBezTo>
                <a:cubicBezTo>
                  <a:pt x="9190" y="15678"/>
                  <a:pt x="8871" y="15549"/>
                  <a:pt x="8651" y="15307"/>
                </a:cubicBezTo>
                <a:lnTo>
                  <a:pt x="5951" y="12337"/>
                </a:lnTo>
                <a:cubicBezTo>
                  <a:pt x="5550" y="11895"/>
                  <a:pt x="5583" y="11213"/>
                  <a:pt x="6023" y="10811"/>
                </a:cubicBezTo>
                <a:cubicBezTo>
                  <a:pt x="6465" y="10410"/>
                  <a:pt x="7147" y="10443"/>
                  <a:pt x="7549" y="10883"/>
                </a:cubicBezTo>
                <a:lnTo>
                  <a:pt x="9342" y="12856"/>
                </a:lnTo>
                <a:lnTo>
                  <a:pt x="13697" y="6669"/>
                </a:lnTo>
                <a:cubicBezTo>
                  <a:pt x="14040" y="6181"/>
                  <a:pt x="14714" y="6063"/>
                  <a:pt x="15201" y="6407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38100" tIns="38100" rIns="381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Clr>
                <a:srgbClr val="FFFFFF"/>
              </a:buClr>
              <a:buSzPts val="2400"/>
              <a:buNone/>
            </a:pP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70BD0609-EAC0-DFEC-8761-6C5A72DB2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2990316"/>
            <a:ext cx="5537200" cy="28846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/>
              <a:buNone/>
            </a:pPr>
            <a:r>
              <a:rPr sz="1600" b="0" i="0" u="none" cap="none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Para a mesma origem, destino e massa, o CabotageLens estima distância, Diesel S10, VLSFO, emissões TTW e custo modelado do combustível.</a:t>
            </a:r>
          </a:p>
          <a:p xmlns:a="http://schemas.openxmlformats.org/drawingml/2006/main">
            <a:pPr marL="0" marR="0" lvl="0" indent="0" algn="l" defTabSz="91440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/>
              <a:buNone/>
            </a:pPr>
            <a:r>
              <a:rPr sz="1600" b="0" i="0" u="none" cap="none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/>
            </a:r>
          </a:p>
          <a:p xmlns:a="http://schemas.openxmlformats.org/drawingml/2006/main">
            <a:pPr marL="0" marR="0" lvl="0" indent="0" algn="l" defTabSz="91440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/>
              <a:buNone/>
            </a:pPr>
            <a:r>
              <a:rPr sz="1600" b="0" i="0" u="none" cap="none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O sistema mantém identificáveis dados, parâmetros, aproximações e critérios.</a:t>
            </a:r>
          </a:p>
        </p:txBody>
      </p:sp>
      <p:sp>
        <p:nvSpPr>
          <p:cNvPr id="16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01B260BF-9264-3C70-DF2D-2E6EA83AC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599916"/>
            <a:ext cx="3911600" cy="548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0000"/>
              </a:lnSpc>
              <a:spcBef>
                <a:spcPts val="0"/>
              </a:spcBef>
              <a:buFontTx/>
              <a:buNone/>
            </a:pP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Cálculos por etapa</a:t>
            </a:r>
          </a:p>
        </p:txBody>
      </p:sp>
      <p:sp>
        <p:nvSpPr>
          <p:cNvPr id="17" name="Google Shape;340;p61">
            <a:extLst xmlns:a="http://schemas.openxmlformats.org/drawingml/2006/main">
              <a:ext uri="{FF2B5EF4-FFF2-40B4-BE49-F238E27FC236}">
                <a16:creationId xmlns:a16="http://schemas.microsoft.com/office/drawing/2014/main" id="{A6CF1E9A-BF4C-E7B2-D556-8AB5FB2B6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7725" y="3624749"/>
            <a:ext cx="212551" cy="212470"/>
          </a:xfrm>
          <a:custGeom xmlns:a="http://schemas.openxmlformats.org/drawingml/2006/main">
            <a:rect l="l" t="t" r="r" b="b"/>
            <a:pathLst>
              <a:path w="21600" h="21600">
                <a:moveTo>
                  <a:pt x="10800" y="2160"/>
                </a:moveTo>
                <a:cubicBezTo>
                  <a:pt x="6029" y="2160"/>
                  <a:pt x="2160" y="6029"/>
                  <a:pt x="2160" y="10800"/>
                </a:cubicBezTo>
                <a:cubicBezTo>
                  <a:pt x="2160" y="15571"/>
                  <a:pt x="6029" y="19440"/>
                  <a:pt x="10800" y="19440"/>
                </a:cubicBezTo>
                <a:cubicBezTo>
                  <a:pt x="15571" y="19440"/>
                  <a:pt x="19440" y="15571"/>
                  <a:pt x="19440" y="10800"/>
                </a:cubicBezTo>
                <a:cubicBezTo>
                  <a:pt x="19440" y="6029"/>
                  <a:pt x="15571" y="2160"/>
                  <a:pt x="10800" y="2160"/>
                </a:cubicBezTo>
                <a:close/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15201" y="6407"/>
                </a:moveTo>
                <a:cubicBezTo>
                  <a:pt x="15689" y="6750"/>
                  <a:pt x="15807" y="7424"/>
                  <a:pt x="15463" y="7911"/>
                </a:cubicBezTo>
                <a:lnTo>
                  <a:pt x="10333" y="15201"/>
                </a:lnTo>
                <a:cubicBezTo>
                  <a:pt x="10144" y="15470"/>
                  <a:pt x="9844" y="15637"/>
                  <a:pt x="9517" y="15658"/>
                </a:cubicBezTo>
                <a:cubicBezTo>
                  <a:pt x="9190" y="15678"/>
                  <a:pt x="8871" y="15549"/>
                  <a:pt x="8651" y="15307"/>
                </a:cubicBezTo>
                <a:lnTo>
                  <a:pt x="5951" y="12337"/>
                </a:lnTo>
                <a:cubicBezTo>
                  <a:pt x="5550" y="11895"/>
                  <a:pt x="5583" y="11213"/>
                  <a:pt x="6023" y="10811"/>
                </a:cubicBezTo>
                <a:cubicBezTo>
                  <a:pt x="6465" y="10410"/>
                  <a:pt x="7147" y="10443"/>
                  <a:pt x="7549" y="10883"/>
                </a:cubicBezTo>
                <a:lnTo>
                  <a:pt x="9342" y="12856"/>
                </a:lnTo>
                <a:lnTo>
                  <a:pt x="13697" y="6669"/>
                </a:lnTo>
                <a:cubicBezTo>
                  <a:pt x="14040" y="6181"/>
                  <a:pt x="14714" y="6063"/>
                  <a:pt x="15201" y="6407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38100" tIns="38100" rIns="381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Clr>
                <a:srgbClr val="FFFFFF"/>
              </a:buClr>
              <a:buSzPts val="2400"/>
              <a:buNone/>
            </a:pPr>
          </a:p>
        </p:txBody>
      </p:sp>
      <p:sp>
        <p:nvSpPr>
          <p:cNvPr id="18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FE696631-18B5-8115-E5AD-ACCFD6221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4214765"/>
            <a:ext cx="3911600" cy="548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0000"/>
              </a:lnSpc>
              <a:spcBef>
                <a:spcPts val="0"/>
              </a:spcBef>
              <a:buFontTx/>
              <a:buNone/>
            </a:pP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Viagens marítimas observadas</a:t>
            </a:r>
          </a:p>
        </p:txBody>
      </p:sp>
      <p:sp>
        <p:nvSpPr>
          <p:cNvPr id="19" name="Google Shape;340;p61">
            <a:extLst xmlns:a="http://schemas.openxmlformats.org/drawingml/2006/main">
              <a:ext uri="{FF2B5EF4-FFF2-40B4-BE49-F238E27FC236}">
                <a16:creationId xmlns:a16="http://schemas.microsoft.com/office/drawing/2014/main" id="{6ECBDA1E-6C7D-6B0F-A430-DF8A0965C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7725" y="4239598"/>
            <a:ext cx="212551" cy="212470"/>
          </a:xfrm>
          <a:custGeom xmlns:a="http://schemas.openxmlformats.org/drawingml/2006/main">
            <a:rect l="l" t="t" r="r" b="b"/>
            <a:pathLst>
              <a:path w="21600" h="21600">
                <a:moveTo>
                  <a:pt x="10800" y="2160"/>
                </a:moveTo>
                <a:cubicBezTo>
                  <a:pt x="6029" y="2160"/>
                  <a:pt x="2160" y="6029"/>
                  <a:pt x="2160" y="10800"/>
                </a:cubicBezTo>
                <a:cubicBezTo>
                  <a:pt x="2160" y="15571"/>
                  <a:pt x="6029" y="19440"/>
                  <a:pt x="10800" y="19440"/>
                </a:cubicBezTo>
                <a:cubicBezTo>
                  <a:pt x="15571" y="19440"/>
                  <a:pt x="19440" y="15571"/>
                  <a:pt x="19440" y="10800"/>
                </a:cubicBezTo>
                <a:cubicBezTo>
                  <a:pt x="19440" y="6029"/>
                  <a:pt x="15571" y="2160"/>
                  <a:pt x="10800" y="2160"/>
                </a:cubicBezTo>
                <a:close/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15201" y="6407"/>
                </a:moveTo>
                <a:cubicBezTo>
                  <a:pt x="15689" y="6750"/>
                  <a:pt x="15807" y="7424"/>
                  <a:pt x="15463" y="7911"/>
                </a:cubicBezTo>
                <a:lnTo>
                  <a:pt x="10333" y="15201"/>
                </a:lnTo>
                <a:cubicBezTo>
                  <a:pt x="10144" y="15470"/>
                  <a:pt x="9844" y="15637"/>
                  <a:pt x="9517" y="15658"/>
                </a:cubicBezTo>
                <a:cubicBezTo>
                  <a:pt x="9190" y="15678"/>
                  <a:pt x="8871" y="15549"/>
                  <a:pt x="8651" y="15307"/>
                </a:cubicBezTo>
                <a:lnTo>
                  <a:pt x="5951" y="12337"/>
                </a:lnTo>
                <a:cubicBezTo>
                  <a:pt x="5550" y="11895"/>
                  <a:pt x="5583" y="11213"/>
                  <a:pt x="6023" y="10811"/>
                </a:cubicBezTo>
                <a:cubicBezTo>
                  <a:pt x="6465" y="10410"/>
                  <a:pt x="7147" y="10443"/>
                  <a:pt x="7549" y="10883"/>
                </a:cubicBezTo>
                <a:lnTo>
                  <a:pt x="9342" y="12856"/>
                </a:lnTo>
                <a:lnTo>
                  <a:pt x="13697" y="6669"/>
                </a:lnTo>
                <a:cubicBezTo>
                  <a:pt x="14040" y="6181"/>
                  <a:pt x="14714" y="6063"/>
                  <a:pt x="15201" y="6407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38100" tIns="38100" rIns="381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Clr>
                <a:srgbClr val="FFFFFF"/>
              </a:buClr>
              <a:buSzPts val="2400"/>
              <a:buNone/>
            </a:pPr>
          </a:p>
        </p:txBody>
      </p:sp>
      <p:sp>
        <p:nvSpPr>
          <p:cNvPr id="20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9FC4B09F-4593-687E-52A3-7E683F7FE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4824364"/>
            <a:ext cx="3911600" cy="548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0000"/>
              </a:lnSpc>
              <a:spcBef>
                <a:spcPts val="0"/>
              </a:spcBef>
              <a:buFontTx/>
              <a:buNone/>
            </a:pP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Aplicação web auditável</a:t>
            </a:r>
          </a:p>
        </p:txBody>
      </p:sp>
      <p:sp>
        <p:nvSpPr>
          <p:cNvPr id="21" name="Google Shape;340;p61">
            <a:extLst xmlns:a="http://schemas.openxmlformats.org/drawingml/2006/main">
              <a:ext uri="{FF2B5EF4-FFF2-40B4-BE49-F238E27FC236}">
                <a16:creationId xmlns:a16="http://schemas.microsoft.com/office/drawing/2014/main" id="{006032E6-DDFC-FA22-4D08-3BFFC755B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7725" y="4849197"/>
            <a:ext cx="212551" cy="212470"/>
          </a:xfrm>
          <a:custGeom xmlns:a="http://schemas.openxmlformats.org/drawingml/2006/main">
            <a:rect l="l" t="t" r="r" b="b"/>
            <a:pathLst>
              <a:path w="21600" h="21600">
                <a:moveTo>
                  <a:pt x="10800" y="2160"/>
                </a:moveTo>
                <a:cubicBezTo>
                  <a:pt x="6029" y="2160"/>
                  <a:pt x="2160" y="6029"/>
                  <a:pt x="2160" y="10800"/>
                </a:cubicBezTo>
                <a:cubicBezTo>
                  <a:pt x="2160" y="15571"/>
                  <a:pt x="6029" y="19440"/>
                  <a:pt x="10800" y="19440"/>
                </a:cubicBezTo>
                <a:cubicBezTo>
                  <a:pt x="15571" y="19440"/>
                  <a:pt x="19440" y="15571"/>
                  <a:pt x="19440" y="10800"/>
                </a:cubicBezTo>
                <a:cubicBezTo>
                  <a:pt x="19440" y="6029"/>
                  <a:pt x="15571" y="2160"/>
                  <a:pt x="10800" y="2160"/>
                </a:cubicBezTo>
                <a:close/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15201" y="6407"/>
                </a:moveTo>
                <a:cubicBezTo>
                  <a:pt x="15689" y="6750"/>
                  <a:pt x="15807" y="7424"/>
                  <a:pt x="15463" y="7911"/>
                </a:cubicBezTo>
                <a:lnTo>
                  <a:pt x="10333" y="15201"/>
                </a:lnTo>
                <a:cubicBezTo>
                  <a:pt x="10144" y="15470"/>
                  <a:pt x="9844" y="15637"/>
                  <a:pt x="9517" y="15658"/>
                </a:cubicBezTo>
                <a:cubicBezTo>
                  <a:pt x="9190" y="15678"/>
                  <a:pt x="8871" y="15549"/>
                  <a:pt x="8651" y="15307"/>
                </a:cubicBezTo>
                <a:lnTo>
                  <a:pt x="5951" y="12337"/>
                </a:lnTo>
                <a:cubicBezTo>
                  <a:pt x="5550" y="11895"/>
                  <a:pt x="5583" y="11213"/>
                  <a:pt x="6023" y="10811"/>
                </a:cubicBezTo>
                <a:cubicBezTo>
                  <a:pt x="6465" y="10410"/>
                  <a:pt x="7147" y="10443"/>
                  <a:pt x="7549" y="10883"/>
                </a:cubicBezTo>
                <a:lnTo>
                  <a:pt x="9342" y="12856"/>
                </a:lnTo>
                <a:lnTo>
                  <a:pt x="13697" y="6669"/>
                </a:lnTo>
                <a:cubicBezTo>
                  <a:pt x="14040" y="6181"/>
                  <a:pt x="14714" y="6063"/>
                  <a:pt x="15201" y="6407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38100" tIns="38100" rIns="381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Clr>
                <a:srgbClr val="FFFFFF"/>
              </a:buClr>
              <a:buSzPts val="2400"/>
              <a:buNone/>
            </a:pPr>
          </a:p>
        </p:txBody>
      </p:sp>
      <p:sp>
        <p:nvSpPr>
          <p:cNvPr id="23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EDAB1F81-E12B-29DC-E09F-27F129E42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5446664"/>
            <a:ext cx="3911600" cy="548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0000"/>
              </a:lnSpc>
              <a:spcBef>
                <a:spcPts val="0"/>
              </a:spcBef>
              <a:buFontTx/>
              <a:buNone/>
            </a:pP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Exemplo de 14 t: SP → Rio Branco</a:t>
            </a:r>
          </a:p>
        </p:txBody>
      </p:sp>
      <p:sp>
        <p:nvSpPr>
          <p:cNvPr id="24" name="Google Shape;340;p61">
            <a:extLst xmlns:a="http://schemas.openxmlformats.org/drawingml/2006/main">
              <a:ext uri="{FF2B5EF4-FFF2-40B4-BE49-F238E27FC236}">
                <a16:creationId xmlns:a16="http://schemas.microsoft.com/office/drawing/2014/main" id="{A052337A-4696-49F7-A089-E21DA71AD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7725" y="5471497"/>
            <a:ext cx="212551" cy="212470"/>
          </a:xfrm>
          <a:custGeom xmlns:a="http://schemas.openxmlformats.org/drawingml/2006/main">
            <a:rect l="l" t="t" r="r" b="b"/>
            <a:pathLst>
              <a:path w="21600" h="21600">
                <a:moveTo>
                  <a:pt x="10800" y="2160"/>
                </a:moveTo>
                <a:cubicBezTo>
                  <a:pt x="6029" y="2160"/>
                  <a:pt x="2160" y="6029"/>
                  <a:pt x="2160" y="10800"/>
                </a:cubicBezTo>
                <a:cubicBezTo>
                  <a:pt x="2160" y="15571"/>
                  <a:pt x="6029" y="19440"/>
                  <a:pt x="10800" y="19440"/>
                </a:cubicBezTo>
                <a:cubicBezTo>
                  <a:pt x="15571" y="19440"/>
                  <a:pt x="19440" y="15571"/>
                  <a:pt x="19440" y="10800"/>
                </a:cubicBezTo>
                <a:cubicBezTo>
                  <a:pt x="19440" y="6029"/>
                  <a:pt x="15571" y="2160"/>
                  <a:pt x="10800" y="2160"/>
                </a:cubicBezTo>
                <a:close/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15201" y="6407"/>
                </a:moveTo>
                <a:cubicBezTo>
                  <a:pt x="15689" y="6750"/>
                  <a:pt x="15807" y="7424"/>
                  <a:pt x="15463" y="7911"/>
                </a:cubicBezTo>
                <a:lnTo>
                  <a:pt x="10333" y="15201"/>
                </a:lnTo>
                <a:cubicBezTo>
                  <a:pt x="10144" y="15470"/>
                  <a:pt x="9844" y="15637"/>
                  <a:pt x="9517" y="15658"/>
                </a:cubicBezTo>
                <a:cubicBezTo>
                  <a:pt x="9190" y="15678"/>
                  <a:pt x="8871" y="15549"/>
                  <a:pt x="8651" y="15307"/>
                </a:cubicBezTo>
                <a:lnTo>
                  <a:pt x="5951" y="12337"/>
                </a:lnTo>
                <a:cubicBezTo>
                  <a:pt x="5550" y="11895"/>
                  <a:pt x="5583" y="11213"/>
                  <a:pt x="6023" y="10811"/>
                </a:cubicBezTo>
                <a:cubicBezTo>
                  <a:pt x="6465" y="10410"/>
                  <a:pt x="7147" y="10443"/>
                  <a:pt x="7549" y="10883"/>
                </a:cubicBezTo>
                <a:lnTo>
                  <a:pt x="9342" y="12856"/>
                </a:lnTo>
                <a:lnTo>
                  <a:pt x="13697" y="6669"/>
                </a:lnTo>
                <a:cubicBezTo>
                  <a:pt x="14040" y="6181"/>
                  <a:pt x="14714" y="6063"/>
                  <a:pt x="15201" y="6407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38100" tIns="38100" rIns="381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Clr>
                <a:srgbClr val="FFFFFF"/>
              </a:buClr>
              <a:buSzPts val="2400"/>
              <a:buNone/>
            </a:pPr>
          </a:p>
        </p:txBody>
      </p:sp>
      <p:sp>
        <p:nvSpPr>
          <p:cNvPr id="4" name="Footer Placeholder 3">
            <a:extLst xmlns:a="http://schemas.openxmlformats.org/drawingml/2006/main">
              <a:ext uri="{FF2B5EF4-FFF2-40B4-BE49-F238E27FC236}">
                <a16:creationId xmlns:a16="http://schemas.microsoft.com/office/drawing/2014/main" id="{8C44867F-CEA9-06EF-47ED-8F63A6DAE692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CabotageLens | Trabalho de Formatura</a:t>
            </a:r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1567BC5C-65A7-7445-018D-E76E0A94416A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202359C0-8A7A-196E-DD58-8E6569619F09}" type="slidenum">
              <a:t>3</a:t>
            </a:fld>
          </a:p>
        </p:txBody>
      </p:sp>
    </p:spTree>
    <p:extLst>
      <p:ext uri="{BB962C8B-B14F-4D97-AF65-F5344CB8AC3E}">
        <p14:creationId xmlns:p14="http://schemas.microsoft.com/office/powerpoint/2010/main" val="3331879134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itle 10">
            <a:extLst xmlns:a="http://schemas.openxmlformats.org/drawingml/2006/main">
              <a:ext uri="{FF2B5EF4-FFF2-40B4-BE49-F238E27FC236}">
                <a16:creationId xmlns:a16="http://schemas.microsoft.com/office/drawing/2014/main" id="{76E542D1-756D-7A52-4319-E7068676CA8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605247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 transporte de cargas brasileiro é concentrado nas rodovias</a:t>
            </a:r>
          </a:p>
        </p:txBody>
      </p:sp>
      <p:sp>
        <p:nvSpPr>
          <p:cNvPr id="38" name="Content Placeholder 9">
            <a:extLst xmlns:a="http://schemas.openxmlformats.org/drawingml/2006/main">
              <a:ext uri="{FF2B5EF4-FFF2-40B4-BE49-F238E27FC236}">
                <a16:creationId xmlns:a16="http://schemas.microsoft.com/office/drawing/2014/main" id="{23EBE22F-0E57-50F2-2730-87B6AA220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6176" y="4072340"/>
            <a:ext cx="2133315" cy="903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2540" marR="0" lvl="0" indent="0" algn="l" defTabSz="9144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Pts val="1400"/>
              <a:buNone/>
            </a:pPr>
            <a:r>
              <a:rPr sz="5000" u="none" cap="none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65%</a:t>
            </a:r>
          </a:p>
        </p:txBody>
      </p:sp>
      <p:sp>
        <p:nvSpPr>
          <p:cNvPr id="39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321A36F2-8209-5AA9-0D95-01C3D5856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2794" y="5068235"/>
            <a:ext cx="2066698" cy="615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400">
                <a:latin typeface="Helvetica Neue"/>
                <a:ea typeface="Helvetica Neue"/>
                <a:cs typeface="Helvetica Neue"/>
              </a:rPr>
              <a:t>atividade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400">
                <a:latin typeface="Helvetica Neue"/>
                <a:ea typeface="Helvetica Neue"/>
                <a:cs typeface="Helvetica Neue"/>
              </a:rPr>
              <a:t>rodoviária</a:t>
            </a:r>
          </a:p>
        </p:txBody>
      </p:sp>
      <p:sp>
        <p:nvSpPr>
          <p:cNvPr id="41" name="Content Placeholder 9">
            <a:extLst xmlns:a="http://schemas.openxmlformats.org/drawingml/2006/main">
              <a:ext uri="{FF2B5EF4-FFF2-40B4-BE49-F238E27FC236}">
                <a16:creationId xmlns:a16="http://schemas.microsoft.com/office/drawing/2014/main" id="{D26AD9AD-13F4-E1DA-D400-C93C8877B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8381" y="4072340"/>
            <a:ext cx="2133315" cy="903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2540" marR="0" lvl="0" indent="0" algn="l" defTabSz="9144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Pts val="1400"/>
              <a:buNone/>
            </a:pPr>
            <a:r>
              <a:rPr sz="5000" u="none" cap="none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11%</a:t>
            </a:r>
          </a:p>
        </p:txBody>
      </p:sp>
      <p:sp>
        <p:nvSpPr>
          <p:cNvPr id="42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D80012E4-4A17-58AB-7C13-D2FE52FDD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4999" y="5068235"/>
            <a:ext cx="2066698" cy="615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400">
                <a:latin typeface="Helvetica Neue"/>
                <a:ea typeface="Helvetica Neue"/>
                <a:cs typeface="Helvetica Neue"/>
              </a:rPr>
              <a:t>atividade de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400">
                <a:latin typeface="Helvetica Neue"/>
                <a:ea typeface="Helvetica Neue"/>
                <a:cs typeface="Helvetica Neue"/>
              </a:rPr>
              <a:t>cabotagem</a:t>
            </a:r>
          </a:p>
        </p:txBody>
      </p:sp>
      <p:sp>
        <p:nvSpPr>
          <p:cNvPr id="2" name="Rounded Rectangle 1">
            <a:extLst xmlns:a="http://schemas.openxmlformats.org/drawingml/2006/main">
              <a:ext uri="{FF2B5EF4-FFF2-40B4-BE49-F238E27FC236}">
                <a16:creationId xmlns:a16="http://schemas.microsoft.com/office/drawing/2014/main" id="{B9E294EF-928B-660C-B2B3-E78F4ECC5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1041400"/>
            <a:ext cx="5526315" cy="5435072"/>
          </a:xfrm>
          <a:prstGeom xmlns:a="http://schemas.openxmlformats.org/drawingml/2006/main" prst="roundRect">
            <a:avLst>
              <a:gd name="adj" fmla="val 0"/>
            </a:avLst>
          </a:prstGeom>
          <a:noFill xmlns:a="http://schemas.openxmlformats.org/drawingml/2006/main"/>
          <a:ln xmlns:a="http://schemas.openxmlformats.org/drawingml/2006/main" w="12700">
            <a:solidFill>
              <a:schemeClr val="tx1"/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Content Placeholder 1">
            <a:extLst xmlns:a="http://schemas.openxmlformats.org/drawingml/2006/main">
              <a:ext uri="{FF2B5EF4-FFF2-40B4-BE49-F238E27FC236}">
                <a16:creationId xmlns:a16="http://schemas.microsoft.com/office/drawing/2014/main" id="{BE261F0F-2359-53ED-9F86-805EC1A34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2794" y="1709230"/>
            <a:ext cx="5331640" cy="161406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Matriz de 2015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Em toneladas-quilômetro úteis, a rodovia respondeu por 65% da atividade; a cabotagem, por 11%.</a:t>
            </a:r>
          </a:p>
        </p:txBody>
      </p:sp>
      <p:graphicFrame>
        <p:nvGraphicFramePr>
          <p:cNvPr id="51" name="Chart 2"/>
          <p:cNvGraphicFramePr/>
          <p:nvPr/>
        </p:nvGraphicFramePr>
        <p:xfrm>
          <a:off xmlns:a="http://schemas.openxmlformats.org/drawingml/2006/main" x="634472" y="1322449"/>
          <a:ext xmlns:a="http://schemas.openxmlformats.org/drawingml/2006/main" cx="5029728" cy="4784599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a39a8149dcad485b"/>
          </a:graphicData>
        </a:graphic>
      </p:graphicFrame>
      <p:sp>
        <p:nvSpPr>
          <p:cNvPr id="10" name="Footer Placeholder 9">
            <a:extLst xmlns:a="http://schemas.openxmlformats.org/drawingml/2006/main">
              <a:ext uri="{FF2B5EF4-FFF2-40B4-BE49-F238E27FC236}">
                <a16:creationId xmlns:a16="http://schemas.microsoft.com/office/drawing/2014/main" id="{86E641B5-9209-3FE0-FF9F-6D9DEC997FE3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615985" y="6056248"/>
            <a:ext cx="3568700" cy="24124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CabotageLens | Trabalho de Formatura</a:t>
            </a:r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326A191F-219A-DB9E-DC19-FDD1658D9142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FD6AB9A-5F9E-5F59-51AB-3C8734130965}" type="slidenum">
              <a:t>4</a:t>
            </a:fld>
          </a:p>
        </p:txBody>
      </p:sp>
    </p:spTree>
    <p:extLst>
      <p:ext uri="{BB962C8B-B14F-4D97-AF65-F5344CB8AC3E}">
        <p14:creationId xmlns:p14="http://schemas.microsoft.com/office/powerpoint/2010/main" val="1126433058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0A2BB6CD-1085-4638-68F3-7000FD29EA0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9"/>
            <a:ext cx="11404600" cy="58158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>A comparação precisa cobrir a cadeia logística completa</a:t>
            </a:r>
          </a:p>
        </p:txBody>
      </p:sp>
      <p:sp>
        <p:nvSpPr>
          <p:cNvPr id="2" name="Rounded Rectangle 1">
            <a:extLst xmlns:a="http://schemas.openxmlformats.org/drawingml/2006/main">
              <a:ext uri="{FF2B5EF4-FFF2-40B4-BE49-F238E27FC236}">
                <a16:creationId xmlns:a16="http://schemas.microsoft.com/office/drawing/2014/main" id="{390FBCE0-CCE2-0D7F-19D7-0DA59E2FB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013" y="3025321"/>
            <a:ext cx="5533887" cy="1320801"/>
          </a:xfrm>
          <a:prstGeom xmlns:a="http://schemas.openxmlformats.org/drawingml/2006/main" prst="roundRect">
            <a:avLst>
              <a:gd name="adj" fmla="val 5851"/>
            </a:avLst>
          </a:prstGeom>
          <a:noFill xmlns:a="http://schemas.openxmlformats.org/drawingml/2006/main"/>
          <a:ln xmlns:a="http://schemas.openxmlformats.org/drawingml/2006/main" w="12700">
            <a:solidFill>
              <a:schemeClr val="accent4"/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31291836-42DE-4BA2-7C66-683137F11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248" y="3274205"/>
            <a:ext cx="4986886" cy="87778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0000"/>
              </a:lnSpc>
              <a:spcBef>
                <a:spcPts val="0"/>
              </a:spcBef>
              <a:buFontTx/>
              <a:buNone/>
            </a:pP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Rodovia direta</a:t>
            </a:r>
          </a:p>
          <a:p xmlns:a="http://schemas.openxmlformats.org/drawingml/2006/main">
            <a:pPr marL="0" indent="0">
              <a:lnSpc>
                <a:spcPct val="110000"/>
              </a:lnSpc>
              <a:spcBef>
                <a:spcPts val="0"/>
              </a:spcBef>
              <a:buFontTx/>
              <a:buNone/>
            </a:pP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Origem → destino</a:t>
            </a:r>
          </a:p>
          <a:p xmlns:a="http://schemas.openxmlformats.org/drawingml/2006/main">
            <a:pPr marL="0" indent="0">
              <a:lnSpc>
                <a:spcPct val="110000"/>
              </a:lnSpc>
              <a:spcBef>
                <a:spcPts val="0"/>
              </a:spcBef>
              <a:buFontTx/>
              <a:buNone/>
            </a:pP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Todo o percurso é rodoviário.</a:t>
            </a:r>
          </a:p>
        </p:txBody>
      </p:sp>
      <p:sp>
        <p:nvSpPr>
          <p:cNvPr id="4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3D399E38-72C8-159B-DE08-FC689A75B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248" y="4514850"/>
            <a:ext cx="5236652" cy="977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0" indent="0" algn="l" defTabSz="914400">
              <a:lnSpc>
                <a:spcPct val="90000"/>
              </a:lnSpc>
              <a:spcBef>
                <a:spcPts val="10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228600" lvl="0" indent="-228600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Font typeface="Arial"/>
              <a:buChar char="•"/>
            </a:pPr>
            <a:r>
              <a:rPr sz="14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mesma remessa</a:t>
            </a:r>
          </a:p>
          <a:p xmlns:a="http://schemas.openxmlformats.org/drawingml/2006/main">
            <a:pPr marL="228600" lvl="0" indent="-228600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Font typeface="Arial"/>
              <a:buChar char="•"/>
            </a:pPr>
            <a:r>
              <a:rPr sz="14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uma rota completa</a:t>
            </a:r>
          </a:p>
          <a:p xmlns:a="http://schemas.openxmlformats.org/drawingml/2006/main">
            <a:pPr marL="228600" lvl="0" indent="-228600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Font typeface="Arial"/>
              <a:buChar char="•"/>
            </a:pPr>
            <a:r>
              <a:rPr sz="14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Diesel S10</a:t>
            </a:r>
          </a:p>
        </p:txBody>
      </p:sp>
      <p:sp>
        <p:nvSpPr>
          <p:cNvPr id="8" name="Rounded Rectangle 7">
            <a:extLst xmlns:a="http://schemas.openxmlformats.org/drawingml/2006/main">
              <a:ext uri="{FF2B5EF4-FFF2-40B4-BE49-F238E27FC236}">
                <a16:creationId xmlns:a16="http://schemas.microsoft.com/office/drawing/2014/main" id="{5E1586E9-BDFD-E84E-20C0-875E339DC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0785" y="3025321"/>
            <a:ext cx="5533887" cy="1320801"/>
          </a:xfrm>
          <a:prstGeom xmlns:a="http://schemas.openxmlformats.org/drawingml/2006/main" prst="roundRect">
            <a:avLst>
              <a:gd name="adj" fmla="val 4875"/>
            </a:avLst>
          </a:prstGeom>
          <a:noFill xmlns:a="http://schemas.openxmlformats.org/drawingml/2006/main"/>
          <a:ln xmlns:a="http://schemas.openxmlformats.org/drawingml/2006/main" w="12700">
            <a:solidFill>
              <a:schemeClr val="accent4"/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BDE93465-12EE-49A8-048B-A3C97C2DF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8020" y="3274205"/>
            <a:ext cx="4986886" cy="87778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0000"/>
              </a:lnSpc>
              <a:spcBef>
                <a:spcPts val="0"/>
              </a:spcBef>
              <a:buFontTx/>
              <a:buNone/>
            </a:pP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Alternativa multimodal</a:t>
            </a:r>
          </a:p>
          <a:p xmlns:a="http://schemas.openxmlformats.org/drawingml/2006/main">
            <a:pPr marL="0" indent="0">
              <a:lnSpc>
                <a:spcPct val="110000"/>
              </a:lnSpc>
              <a:spcBef>
                <a:spcPts val="0"/>
              </a:spcBef>
              <a:buFontTx/>
              <a:buNone/>
            </a:pP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Origem → porto → navegação → porto → destino.</a:t>
            </a:r>
          </a:p>
        </p:txBody>
      </p:sp>
      <p:sp>
        <p:nvSpPr>
          <p:cNvPr id="13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0F1EA821-AA26-C1FC-F948-D100ABDE2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8020" y="4514850"/>
            <a:ext cx="5236652" cy="977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0" indent="0" algn="l" defTabSz="914400">
              <a:lnSpc>
                <a:spcPct val="90000"/>
              </a:lnSpc>
              <a:spcBef>
                <a:spcPts val="10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228600" lvl="0" indent="-228600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Font typeface="Arial"/>
              <a:buChar char="•"/>
            </a:pPr>
            <a:r>
              <a:rPr sz="14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acessos rodoviários</a:t>
            </a:r>
          </a:p>
          <a:p xmlns:a="http://schemas.openxmlformats.org/drawingml/2006/main">
            <a:pPr marL="228600" lvl="0" indent="-228600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Font typeface="Arial"/>
              <a:buChar char="•"/>
            </a:pPr>
            <a:r>
              <a:rPr sz="14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dois terminais</a:t>
            </a:r>
          </a:p>
          <a:p xmlns:a="http://schemas.openxmlformats.org/drawingml/2006/main">
            <a:pPr marL="228600" lvl="0" indent="-228600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Font typeface="Arial"/>
              <a:buChar char="•"/>
            </a:pPr>
            <a:r>
              <a:rPr sz="14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VLSFO na navegação</a:t>
            </a:r>
          </a:p>
        </p:txBody>
      </p:sp>
      <p:sp>
        <p:nvSpPr>
          <p:cNvPr id="14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53566714-9098-3B48-6D62-954DC695F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939" y="1157513"/>
            <a:ext cx="11404599" cy="162922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0" indent="0" algn="l" defTabSz="914400">
              <a:lnSpc>
                <a:spcPct val="90000"/>
              </a:lnSpc>
              <a:spcBef>
                <a:spcPts val="10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1800">
                <a:solidFill>
                  <a:prstClr val="black"/>
                </a:solidFill>
                <a:latin typeface="Helvetica Neue Medium"/>
                <a:ea typeface="Helvetica Neue Medium"/>
                <a:cs typeface="Helvetica Neue Medium"/>
              </a:rPr>
              <a:t>Problema metodológico</a:t>
            </a:r>
          </a:p>
          <a:p xmlns:a="http://schemas.openxmlformats.org/drawingml/2006/main">
            <a:pPr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Comparar caminhão e navio em trechos isolados não representa o mesmo serviço.</a:t>
            </a:r>
          </a:p>
        </p:txBody>
      </p:sp>
      <p:sp>
        <p:nvSpPr>
          <p:cNvPr id="26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E7F409CA-A992-D5A3-DF49-49CFA53E4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939" y="5617936"/>
            <a:ext cx="11404599" cy="52982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0" indent="0" algn="l" defTabSz="914400">
              <a:lnSpc>
                <a:spcPct val="90000"/>
              </a:lnSpc>
              <a:spcBef>
                <a:spcPts val="10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Distância, combustível, emissões e custo são somados em todas as etapas.</a:t>
            </a:r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02BAAA24-F157-F288-22D7-97AEA157EFE2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CabotageLens | Trabalho de Formatura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88408272-D6A5-5132-33E2-F35391B125A3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E5B3003-2C54-13C6-9832-7637201064DE}" type="slidenum">
              <a:t>5</a:t>
            </a:fld>
          </a:p>
        </p:txBody>
      </p:sp>
    </p:spTree>
    <p:extLst>
      <p:ext uri="{BB962C8B-B14F-4D97-AF65-F5344CB8AC3E}">
        <p14:creationId xmlns:p14="http://schemas.microsoft.com/office/powerpoint/2010/main" val="3462458655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Content Placeholder 9">
            <a:extLst xmlns:a="http://schemas.openxmlformats.org/drawingml/2006/main">
              <a:ext uri="{FF2B5EF4-FFF2-40B4-BE49-F238E27FC236}">
                <a16:creationId xmlns:a16="http://schemas.microsoft.com/office/drawing/2014/main" id="{62377079-BCC4-2661-2A12-E4395F1ED5ED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2239689"/>
            <a:ext cx="5537200" cy="1411360"/>
          </a:xfrm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marL="0" lvl="0" indent="0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Mesma origem e destino, com acessos rodoviários, portos e navegação.</a:t>
            </a:r>
          </a:p>
        </p:txBody>
      </p:sp>
      <p:sp>
        <p:nvSpPr>
          <p:cNvPr id="11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EC167C81-957E-4EDD-97F6-7EF86B8F4A01}"/>
              </a:ext>
            </a:extLst>
          </p:cNvPr>
          <p:cNvSpPr>
            <a:spLocks xmlns:a="http://schemas.openxmlformats.org/drawingml/2006/main" noGrp="1"/>
          </p:cNvSpPr>
          <p:nvPr>
            <p:ph idx="10"/>
          </p:nvPr>
        </p:nvSpPr>
        <p:spPr>
          <a:xfrm xmlns:a="http://schemas.openxmlformats.org/drawingml/2006/main">
            <a:off x="6256618" y="2239689"/>
            <a:ext cx="5537200" cy="1411360"/>
          </a:xfrm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/>
              <a:buNone/>
            </a:pPr>
            <a:r>
              <a:rPr sz="1600" b="0" i="0" u="none" cap="none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A mesma massa é atribuída às duas alternativas.</a:t>
            </a:r>
          </a:p>
          <a:p xmlns:a="http://schemas.openxmlformats.org/drawingml/2006/main">
            <a:pPr marL="228600" marR="0" lvl="0" indent="-228600" algn="l" defTabSz="914400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/>
              <a:buChar char="•"/>
            </a:pPr>
            <a:r>
              <a:rPr sz="1600" b="0" i="0" u="none" cap="none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não comparar veículos isolados</a:t>
            </a:r>
          </a:p>
        </p:txBody>
      </p:sp>
      <p:sp>
        <p:nvSpPr>
          <p:cNvPr id="3" name="Title 2">
            <a:extLst xmlns:a="http://schemas.openxmlformats.org/drawingml/2006/main">
              <a:ext uri="{FF2B5EF4-FFF2-40B4-BE49-F238E27FC236}">
                <a16:creationId xmlns:a16="http://schemas.microsoft.com/office/drawing/2014/main" id="{FBC1ACDB-02B5-99AA-385B-D8D9B44C286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9"/>
            <a:ext cx="7835900" cy="104029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 literatura define quatro requisitos para a comparação</a:t>
            </a:r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69710401-0DB3-D5DB-AAFF-832641C025BF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t>CabotageLens | Trabalho de Formatura</a:t>
            </a:r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A571B5B5-6269-DE95-4939-B738B6B6AC9E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lvl="0" indent="0" algn="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fld id="{8C630A04-5A25-9E0C-9436-126091DB86B3}" type="slidenum">
              <a:rPr sz="1100" b="0" i="0" u="none" cap="none">
                <a:ln>
                  <a:noFill/>
                </a:ln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6</a:t>
            </a:fld>
          </a:p>
        </p:txBody>
      </p:sp>
      <p:sp>
        <p:nvSpPr>
          <p:cNvPr id="2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92CF1976-C150-A891-2CEC-BE3556938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939" y="1805180"/>
            <a:ext cx="5529961" cy="22131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0" indent="0" algn="l" defTabSz="914400">
              <a:lnSpc>
                <a:spcPct val="90000"/>
              </a:lnSpc>
              <a:spcBef>
                <a:spcPts val="10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marR="0" lvl="0" indent="0" algn="l" defTabSz="914400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/>
              <a:buNone/>
            </a:pPr>
            <a:r>
              <a:rPr sz="1200" b="1" i="0" u="none" cap="none">
                <a:ln>
                  <a:noFill/>
                </a:ln>
                <a:solidFill>
                  <a:srgbClr val="175CD4"/>
                </a:solidFill>
                <a:latin typeface="Helvetica Neue"/>
                <a:ea typeface="Helvetica Neue"/>
                <a:cs typeface="Helvetica Neue"/>
              </a:rPr>
              <a:t>CADEIA COMPLETA</a:t>
            </a:r>
          </a:p>
        </p:txBody>
      </p:sp>
      <p:sp>
        <p:nvSpPr>
          <p:cNvPr id="8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A0FCF870-B47E-94BD-EEDF-DD8F2A595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4529" y="1805180"/>
            <a:ext cx="5529961" cy="22131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0" indent="0" algn="l" defTabSz="914400">
              <a:lnSpc>
                <a:spcPct val="90000"/>
              </a:lnSpc>
              <a:spcBef>
                <a:spcPts val="10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marR="0" lvl="0" indent="0" algn="l" defTabSz="914400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/>
              <a:buNone/>
            </a:pPr>
            <a:r>
              <a:rPr sz="1200" b="1" i="0" u="none" cap="none">
                <a:ln>
                  <a:noFill/>
                </a:ln>
                <a:solidFill>
                  <a:srgbClr val="175CD4"/>
                </a:solidFill>
                <a:latin typeface="Helvetica Neue"/>
                <a:ea typeface="Helvetica Neue"/>
                <a:cs typeface="Helvetica Neue"/>
              </a:rPr>
              <a:t>UNIDADE DA REMESSA</a:t>
            </a:r>
          </a:p>
        </p:txBody>
      </p:sp>
      <p:sp>
        <p:nvSpPr>
          <p:cNvPr id="13" name="Content Placeholder 9">
            <a:extLst xmlns:a="http://schemas.openxmlformats.org/drawingml/2006/main">
              <a:ext uri="{FF2B5EF4-FFF2-40B4-BE49-F238E27FC236}">
                <a16:creationId xmlns:a16="http://schemas.microsoft.com/office/drawing/2014/main" id="{F4D1C9BF-63F4-2888-893B-5F7ECE542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4468539"/>
            <a:ext cx="5537200" cy="14113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marR="0" lvl="0" indent="0" algn="l" defTabSz="914400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/>
              <a:buNone/>
            </a:pPr>
            <a:r>
              <a:rPr sz="1600" b="0" i="0" u="none" cap="none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O resultado muda com rota, acessos, carga e navio.</a:t>
            </a:r>
          </a:p>
          <a:p xmlns:a="http://schemas.openxmlformats.org/drawingml/2006/main">
            <a:pPr marL="228600" marR="0" lvl="0" indent="-228600" algn="l" defTabSz="914400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/>
              <a:buChar char="•"/>
            </a:pPr>
            <a:r>
              <a:rPr sz="1600" b="0" i="0" u="none" cap="none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não há vantagem automática</a:t>
            </a:r>
          </a:p>
        </p:txBody>
      </p:sp>
      <p:sp>
        <p:nvSpPr>
          <p:cNvPr id="14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708BAE86-327C-6895-AEA3-FE9F89FD1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6618" y="4468539"/>
            <a:ext cx="5537200" cy="14113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marR="0" lvl="0" indent="0" algn="l" defTabSz="914400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/>
              <a:buNone/>
            </a:pPr>
            <a:r>
              <a:rPr sz="1600" b="0" i="0" u="none" cap="none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Fontes, médias, aproximações e fronteiras precisam permanecer explícitas.</a:t>
            </a:r>
          </a:p>
        </p:txBody>
      </p:sp>
      <p:sp>
        <p:nvSpPr>
          <p:cNvPr id="15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B8880891-2DF5-4AB7-C919-6164AD9AE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939" y="4034030"/>
            <a:ext cx="5529961" cy="22131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0" indent="0" algn="l" defTabSz="914400">
              <a:lnSpc>
                <a:spcPct val="90000"/>
              </a:lnSpc>
              <a:spcBef>
                <a:spcPts val="10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marR="0" lvl="0" indent="0" algn="l" defTabSz="914400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/>
              <a:buNone/>
            </a:pPr>
            <a:r>
              <a:rPr sz="1200" b="1" i="0" u="none" cap="none">
                <a:ln>
                  <a:noFill/>
                </a:ln>
                <a:solidFill>
                  <a:srgbClr val="175CD4"/>
                </a:solidFill>
                <a:latin typeface="Helvetica Neue"/>
                <a:ea typeface="Helvetica Neue"/>
                <a:cs typeface="Helvetica Neue"/>
              </a:rPr>
              <a:t>DEPENDÊNCIA DO CENÁRIO</a:t>
            </a:r>
          </a:p>
        </p:txBody>
      </p:sp>
      <p:sp>
        <p:nvSpPr>
          <p:cNvPr id="16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5144A4BC-3976-C678-219A-2173C82E0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4529" y="4034030"/>
            <a:ext cx="5529961" cy="22131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0" indent="0" algn="l" defTabSz="914400">
              <a:lnSpc>
                <a:spcPct val="90000"/>
              </a:lnSpc>
              <a:spcBef>
                <a:spcPts val="10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marR="0" lvl="0" indent="0" algn="l" defTabSz="914400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/>
              <a:buNone/>
            </a:pPr>
            <a:r>
              <a:rPr sz="1200" b="1" i="0" u="none" cap="none">
                <a:ln>
                  <a:noFill/>
                </a:ln>
                <a:solidFill>
                  <a:srgbClr val="175CD4"/>
                </a:solidFill>
                <a:latin typeface="Helvetica Neue"/>
                <a:ea typeface="Helvetica Neue"/>
                <a:cs typeface="Helvetica Neue"/>
              </a:rPr>
              <a:t>TRANSPARÊNCIA</a:t>
            </a:r>
          </a:p>
        </p:txBody>
      </p:sp>
    </p:spTree>
    <p:extLst>
      <p:ext uri="{BB962C8B-B14F-4D97-AF65-F5344CB8AC3E}">
        <p14:creationId xmlns:p14="http://schemas.microsoft.com/office/powerpoint/2010/main" val="2474942081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4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FFDA44ED-2B2F-C105-7D7D-E4658177E045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2374900"/>
            <a:ext cx="5537200" cy="3619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400">
                <a:latin typeface="Helvetica Neue"/>
                <a:ea typeface="Helvetica Neue"/>
                <a:cs typeface="Helvetica Neue"/>
              </a:rPr>
              <a:t>CO₂e operacional TTW por remessa; custo modelado do combustível; sequências de portos observadas; mesma origem, destino e massa.</a:t>
            </a:r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ABCF34BB-5640-4672-FD7F-6F84F746453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02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>O escopo limita o que os resultados podem afirmar</a:t>
            </a:r>
          </a:p>
        </p:txBody>
      </p:sp>
      <p:sp>
        <p:nvSpPr>
          <p:cNvPr id="2" name="Footer Placeholder 1">
            <a:extLst xmlns:a="http://schemas.openxmlformats.org/drawingml/2006/main">
              <a:ext uri="{FF2B5EF4-FFF2-40B4-BE49-F238E27FC236}">
                <a16:creationId xmlns:a16="http://schemas.microsoft.com/office/drawing/2014/main" id="{C46137E5-AEE5-3117-B65E-F6CB8896FBD4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t>CabotageLens | Trabalho de Formatura</a:t>
            </a:r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178194EC-C78C-2EFE-6956-F359C5D3CE66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lvl="0" indent="0" algn="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fld id="{D3D7D1C8-AE23-AA48-DF65-C742588DBE47}" type="slidenum">
              <a:rPr sz="1100" b="0" i="0" u="none" cap="none">
                <a:ln>
                  <a:noFill/>
                </a:ln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7</a:t>
            </a:fld>
          </a:p>
        </p:txBody>
      </p:sp>
      <p:sp>
        <p:nvSpPr>
          <p:cNvPr id="8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9FBD9FB5-CEB1-DE74-508A-B8814A28F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939" y="1810684"/>
            <a:ext cx="5529961" cy="22131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0" indent="0" algn="l" defTabSz="914400">
              <a:lnSpc>
                <a:spcPct val="90000"/>
              </a:lnSpc>
              <a:spcBef>
                <a:spcPts val="10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marR="0" lvl="0" indent="0" algn="l" defTabSz="914400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/>
              <a:buNone/>
            </a:pPr>
            <a:r>
              <a:rPr sz="1200" b="1" i="0" u="none" cap="none">
                <a:ln>
                  <a:noFill/>
                </a:ln>
                <a:solidFill>
                  <a:srgbClr val="175CD4"/>
                </a:solidFill>
                <a:latin typeface="Helvetica Neue"/>
                <a:ea typeface="Helvetica Neue"/>
                <a:cs typeface="Helvetica Neue"/>
              </a:rPr>
              <a:t>INCLUÍDO</a:t>
            </a:r>
          </a:p>
        </p:txBody>
      </p:sp>
      <p:sp>
        <p:nvSpPr>
          <p:cNvPr id="9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07647231-C2F2-D9AD-E93B-483C88B8D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290" y="2374900"/>
            <a:ext cx="5537200" cy="3619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marR="0" lvl="0" indent="0" algn="l" defTabSz="91440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/>
              <a:buNone/>
            </a:pPr>
            <a:r>
              <a:rPr sz="1400" b="0" i="0" u="none" cap="none">
                <a:ln>
                  <a:noFill/>
                </a:ln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WTW ou avaliação de ciclo de vida; frete, tarifa, seguro ou estoque; frequência e espaço no navio; garantia de oferta comercial futura.</a:t>
            </a:r>
          </a:p>
        </p:txBody>
      </p:sp>
      <p:sp>
        <p:nvSpPr>
          <p:cNvPr id="10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74A8EF0B-1ADC-C26F-1C3D-741467203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4529" y="1810684"/>
            <a:ext cx="5529961" cy="22131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0" indent="0" algn="l" defTabSz="914400">
              <a:lnSpc>
                <a:spcPct val="90000"/>
              </a:lnSpc>
              <a:spcBef>
                <a:spcPts val="10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marR="0" lvl="0" indent="0" algn="l" defTabSz="914400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/>
              <a:buNone/>
            </a:pPr>
            <a:r>
              <a:rPr sz="1200" b="1" i="0" u="none" cap="none">
                <a:ln>
                  <a:noFill/>
                </a:ln>
                <a:solidFill>
                  <a:srgbClr val="175CD4"/>
                </a:solidFill>
                <a:latin typeface="Helvetica Neue"/>
                <a:ea typeface="Helvetica Neue"/>
                <a:cs typeface="Helvetica Neue"/>
              </a:rPr>
              <a:t>NÃO INCLUÍDO</a:t>
            </a:r>
          </a:p>
        </p:txBody>
      </p:sp>
    </p:spTree>
    <p:extLst>
      <p:ext uri="{BB962C8B-B14F-4D97-AF65-F5344CB8AC3E}">
        <p14:creationId xmlns:p14="http://schemas.microsoft.com/office/powerpoint/2010/main" val="193305710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9E0BC934-0157-542C-D5BB-4CBBF257CC8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74184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>Parâmetros históricos sustentam uma comparação média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8319C0BA-A84A-2A07-E313-F86616F29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2309028"/>
            <a:ext cx="4583034" cy="10977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/>
              <a:buNone/>
            </a:pPr>
            <a:r>
              <a:rPr sz="1600" b="0" i="0" u="none" cap="none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Comparar cenários em uma base comum, e não reproduzir as condições instantâneas de uma viagem.</a:t>
            </a:r>
          </a:p>
        </p:txBody>
      </p:sp>
      <p:sp>
        <p:nvSpPr>
          <p:cNvPr id="8" name="Footer Placeholder 7">
            <a:extLst xmlns:a="http://schemas.openxmlformats.org/drawingml/2006/main">
              <a:ext uri="{FF2B5EF4-FFF2-40B4-BE49-F238E27FC236}">
                <a16:creationId xmlns:a16="http://schemas.microsoft.com/office/drawing/2014/main" id="{F581A225-34F9-0D3B-555E-87AD9B04250A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CabotageLens | Trabalho de Formatura</a:t>
            </a:r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C4C369A1-27DC-4417-B82E-882C775F892B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A58DA2A-B818-18A9-29C1-B697728D5BCE}" type="slidenum">
              <a:t>8</a:t>
            </a:fld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FF440E49-120F-1A2F-57EB-B02934562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8620" y="1881916"/>
            <a:ext cx="6329680" cy="16566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marL="285750" marR="0" lvl="0" indent="-285750" algn="l" defTabSz="91440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/>
              <a:buChar char="•"/>
            </a:pPr>
            <a:r>
              <a:rPr sz="1400" b="0" i="0" u="none" cap="none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Evita depender de uma combinação localizada de calado, trim, velocidade e clima.</a:t>
            </a:r>
          </a:p>
          <a:p xmlns:a="http://schemas.openxmlformats.org/drawingml/2006/main">
            <a:pPr marL="285750" marR="0" lvl="0" indent="-285750" algn="l" defTabSz="91440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/>
              <a:buChar char="•"/>
            </a:pPr>
            <a:r>
              <a:rPr sz="1400" b="0" i="0" u="none" cap="none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Mantém o mesmo nível de abstração nas duas alternativas.</a:t>
            </a:r>
          </a:p>
          <a:p xmlns:a="http://schemas.openxmlformats.org/drawingml/2006/main">
            <a:pPr marL="285750" marR="0" lvl="0" indent="-285750" algn="l" defTabSz="91440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/>
              <a:buChar char="•"/>
            </a:pPr>
            <a:r>
              <a:rPr sz="1400" b="0" i="0" u="none" cap="none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Produz parâmetros rastreáveis e reutilizáveis.</a:t>
            </a:r>
          </a:p>
        </p:txBody>
      </p:sp>
      <p:sp>
        <p:nvSpPr>
          <p:cNvPr id="2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61FF1B71-7343-3428-E1A5-01301745F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940" y="1881916"/>
            <a:ext cx="4583034" cy="22879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0" indent="0" algn="l" defTabSz="914400">
              <a:lnSpc>
                <a:spcPct val="90000"/>
              </a:lnSpc>
              <a:spcBef>
                <a:spcPts val="10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1200" b="1">
                <a:solidFill>
                  <a:schemeClr val="accent1"/>
                </a:solidFill>
                <a:latin typeface="Helvetica Neue"/>
                <a:ea typeface="Helvetica Neue"/>
                <a:cs typeface="Helvetica Neue"/>
              </a:rPr>
              <a:t>FINALIDADE</a:t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8E5C8191-FF5D-721C-939A-810BF6FFA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4622601"/>
            <a:ext cx="4583034" cy="10977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/>
              <a:buNone/>
            </a:pPr>
            <a:r>
              <a:rPr sz="1600" b="0" i="0" u="none" cap="none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Na rodovia, distância do cenário × eficiência histórica. No mar, percurso e carga observados × intensidade anual.</a:t>
            </a: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932FB920-4338-60DE-B515-40C9397AB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8620" y="4195489"/>
            <a:ext cx="6329680" cy="16566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marL="285750" marR="0" lvl="0" indent="-285750" algn="l" defTabSz="91440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/>
              <a:buChar char="•"/>
            </a:pPr>
            <a:r>
              <a:rPr sz="1400" b="0" i="0" u="none" cap="none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Leitura correta: estimativa média de consumo e emissões TTW.</a:t>
            </a:r>
          </a:p>
          <a:p xmlns:a="http://schemas.openxmlformats.org/drawingml/2006/main">
            <a:pPr marL="285750" marR="0" lvl="0" indent="-285750" algn="l" defTabSz="91440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/>
              <a:buChar char="•"/>
            </a:pPr>
            <a:r>
              <a:rPr sz="1400" b="0" i="0" u="none" cap="none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Não representa o consumo exato de uma viagem.</a:t>
            </a:r>
          </a:p>
          <a:p xmlns:a="http://schemas.openxmlformats.org/drawingml/2006/main">
            <a:pPr marL="285750" marR="0" lvl="0" indent="-285750" algn="l" defTabSz="91440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/>
              <a:buChar char="•"/>
            </a:pPr>
            <a:r>
              <a:rPr sz="1400" b="0" i="0" u="none" cap="none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A conclusão continua condicionada ao cenário.</a:t>
            </a:r>
          </a:p>
        </p:txBody>
      </p:sp>
      <p:sp>
        <p:nvSpPr>
          <p:cNvPr id="12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88B171C2-7536-1E2D-C49E-6F245F448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940" y="4195489"/>
            <a:ext cx="4583034" cy="22879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0" indent="0" algn="l" defTabSz="914400">
              <a:lnSpc>
                <a:spcPct val="90000"/>
              </a:lnSpc>
              <a:spcBef>
                <a:spcPts val="10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1200" b="1">
                <a:solidFill>
                  <a:schemeClr val="accent1"/>
                </a:solidFill>
                <a:latin typeface="Helvetica Neue"/>
                <a:ea typeface="Helvetica Neue"/>
                <a:cs typeface="Helvetica Neue"/>
              </a:rPr>
              <a:t>TRATAMENTO SIMÉTRICO</a:t>
            </a:r>
          </a:p>
        </p:txBody>
      </p:sp>
    </p:spTree>
    <p:extLst>
      <p:ext uri="{BB962C8B-B14F-4D97-AF65-F5344CB8AC3E}">
        <p14:creationId xmlns:p14="http://schemas.microsoft.com/office/powerpoint/2010/main" val="4204513895"/>
      </p:ext>
    </p:extLst>
  </p:cSld>
</p:sld>
</file>

<file path=ppt/slides/slide9.xml><?xml version="1.0" encoding="utf-8"?>
<p:sld xmlns:p="http://schemas.openxmlformats.org/presentationml/2006/main">
  <p:cSld>
    <p:bg>
      <p:bgPr>
        <a:gradFill xmlns:a="http://schemas.openxmlformats.org/drawingml/2006/main" rotWithShape="1">
          <a:gsLst>
            <a:gs pos="0">
              <a:srgbClr val="0C3666"/>
            </a:gs>
            <a:gs pos="100000">
              <a:srgbClr val="061C39"/>
            </a:gs>
          </a:gsLst>
          <a:lin ang="13500000" scaled="1"/>
          <a:tileRect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 3">
            <a:extLst xmlns:a="http://schemas.openxmlformats.org/drawingml/2006/main">
              <a:ext uri="{FF2B5EF4-FFF2-40B4-BE49-F238E27FC236}">
                <a16:creationId xmlns:a16="http://schemas.microsoft.com/office/drawing/2014/main" id="{0F24658D-7578-8E1B-095D-2634178665BE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384537" y="1850746"/>
            <a:ext cx="9448800" cy="2491490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r>
              <a:rPr sz="6500">
                <a:solidFill>
                  <a:schemeClr val="accent3"/>
                </a:solidFill>
              </a:rPr>
              <a:t>Como cada alternativa</a:t>
            </a:r>
          </a:p>
          <a:p xmlns:a="http://schemas.openxmlformats.org/drawingml/2006/main">
            <a:r>
              <a:rPr sz="6500">
                <a:solidFill>
                  <a:schemeClr val="accent3"/>
                </a:solidFill>
              </a:rPr>
              <a:t>é calculada</a:t>
            </a:r>
          </a:p>
        </p:txBody>
      </p:sp>
      <p:sp>
        <p:nvSpPr>
          <p:cNvPr id="5" name="Subtitle 4">
            <a:extLst xmlns:a="http://schemas.openxmlformats.org/drawingml/2006/main">
              <a:ext uri="{FF2B5EF4-FFF2-40B4-BE49-F238E27FC236}">
                <a16:creationId xmlns:a16="http://schemas.microsoft.com/office/drawing/2014/main" id="{9CFCDDD1-6B62-D648-FCD8-F519A8EBFE03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393700" y="5170707"/>
            <a:ext cx="3568700" cy="647700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r>
              <a:rPr sz="1800">
                <a:solidFill>
                  <a:schemeClr val="bg2">
                    <a:lumMod val="75000"/>
                  </a:schemeClr>
                </a:solidFill>
              </a:rPr>
              <a:t>Mesma remessa</a:t>
            </a:r>
          </a:p>
          <a:p xmlns:a="http://schemas.openxmlformats.org/drawingml/2006/main">
            <a:r>
              <a:rPr sz="1800">
                <a:solidFill>
                  <a:schemeClr val="accent3"/>
                </a:solidFill>
              </a:rPr>
              <a:t>14 t</a:t>
            </a:r>
          </a:p>
        </p:txBody>
      </p:sp>
      <p:sp>
        <p:nvSpPr>
          <p:cNvPr id="2" name="Subtitle 4">
            <a:extLst xmlns:a="http://schemas.openxmlformats.org/drawingml/2006/main">
              <a:ext uri="{FF2B5EF4-FFF2-40B4-BE49-F238E27FC236}">
                <a16:creationId xmlns:a16="http://schemas.microsoft.com/office/drawing/2014/main" id="{7DE36FE5-F5E6-DBA2-7BCD-BDE05B2A1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0789" y="5170707"/>
            <a:ext cx="35687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0" indent="0" algn="l" defTabSz="914400">
              <a:lnSpc>
                <a:spcPct val="90000"/>
              </a:lnSpc>
              <a:spcBef>
                <a:spcPts val="1000"/>
              </a:spcBef>
              <a:buFont typeface="Arial"/>
              <a:buNone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r>
              <a:rPr sz="1800">
                <a:solidFill>
                  <a:schemeClr val="bg2">
                    <a:lumMod val="75000"/>
                  </a:schemeClr>
                </a:solidFill>
              </a:rPr>
              <a:t>Exemplo principal</a:t>
            </a:r>
          </a:p>
          <a:p xmlns:a="http://schemas.openxmlformats.org/drawingml/2006/main">
            <a:r>
              <a:rPr sz="1800">
                <a:solidFill>
                  <a:schemeClr val="accent3"/>
                </a:solidFill>
              </a:rPr>
              <a:t>São Paulo → Rio Branco</a:t>
            </a:r>
          </a:p>
        </p:txBody>
      </p:sp>
      <p:sp>
        <p:nvSpPr>
          <p:cNvPr id="3" name="Subtitle 4">
            <a:extLst xmlns:a="http://schemas.openxmlformats.org/drawingml/2006/main">
              <a:ext uri="{FF2B5EF4-FFF2-40B4-BE49-F238E27FC236}">
                <a16:creationId xmlns:a16="http://schemas.microsoft.com/office/drawing/2014/main" id="{1855E0C5-A5E4-590B-0D77-15A6F24D0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08228" y="623595"/>
            <a:ext cx="3199235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0" indent="0" algn="l" defTabSz="914400">
              <a:lnSpc>
                <a:spcPct val="90000"/>
              </a:lnSpc>
              <a:spcBef>
                <a:spcPts val="1000"/>
              </a:spcBef>
              <a:buFont typeface="Arial"/>
              <a:buNone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algn="r">
              <a:buNone/>
            </a:pPr>
            <a:r>
              <a:rPr sz="1800">
                <a:solidFill>
                  <a:srgbClr val="EDF5FE">
                    <a:alpha val="50000"/>
                  </a:srgbClr>
                </a:solidFill>
                <a:latin typeface="Helvetica Neue"/>
                <a:ea typeface="Helvetica Neue"/>
                <a:cs typeface="Helvetica Neue"/>
              </a:rPr>
              <a:t>Metodologia</a:t>
            </a:r>
          </a:p>
        </p:txBody>
      </p:sp>
      <p:sp>
        <p:nvSpPr>
          <p:cNvPr id="7" name="Subtitle 4">
            <a:extLst xmlns:a="http://schemas.openxmlformats.org/drawingml/2006/main">
              <a:ext uri="{FF2B5EF4-FFF2-40B4-BE49-F238E27FC236}">
                <a16:creationId xmlns:a16="http://schemas.microsoft.com/office/drawing/2014/main" id="{5794C0B2-4912-64A0-21CF-60B66252E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623595"/>
            <a:ext cx="5537200" cy="64915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0" indent="0" algn="l" defTabSz="914400">
              <a:lnSpc>
                <a:spcPct val="90000"/>
              </a:lnSpc>
              <a:spcBef>
                <a:spcPts val="1000"/>
              </a:spcBef>
              <a:buFont typeface="Arial"/>
              <a:buNone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>
              <a:buNone/>
            </a:pPr>
            <a:r>
              <a:rPr sz="1800">
                <a:solidFill>
                  <a:srgbClr val="EDF5FE">
                    <a:alpha val="50000"/>
                  </a:srgbClr>
                </a:solidFill>
                <a:latin typeface="Helvetica Neue"/>
                <a:ea typeface="Helvetica Neue"/>
                <a:cs typeface="Helvetica Neue"/>
              </a:rPr>
              <a:t>SEÇÃO 4</a:t>
            </a:r>
          </a:p>
        </p:txBody>
      </p:sp>
      <p:sp>
        <p:nvSpPr>
          <p:cNvPr id="8" name="Straight Connector 7">
            <a:extLst xmlns:a="http://schemas.openxmlformats.org/drawingml/2006/main">
              <a:ext uri="{FF2B5EF4-FFF2-40B4-BE49-F238E27FC236}">
                <a16:creationId xmlns:a16="http://schemas.microsoft.com/office/drawing/2014/main" id="{045DC4F7-0007-418F-A84D-346AAB870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537" y="374574"/>
            <a:ext cx="11422926" cy="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rgbClr val="7A8CA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</p:spTree>
    <p:extLst>
      <p:ext uri="{BB962C8B-B14F-4D97-AF65-F5344CB8AC3E}">
        <p14:creationId xmlns:p14="http://schemas.microsoft.com/office/powerpoint/2010/main" val="1986947201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Footer Placeholder 3">
            <a:extLst xmlns:a="http://schemas.openxmlformats.org/drawingml/2006/main">
              <a:ext uri="{FF2B5EF4-FFF2-40B4-BE49-F238E27FC236}">
                <a16:creationId xmlns:a16="http://schemas.microsoft.com/office/drawing/2014/main" id="{99299C6E-3FDF-5AB3-E054-F3F59B33981F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t>CabotageLens | Trabalho de Formatura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233DF656-61B4-2882-D797-9122308526BC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lvl="0" indent="0" algn="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fld id="{DB7BEEEC-A170-5376-2B6E-CB54687B0CB1}" type="slidenum">
              <a:rPr sz="1100" b="0" i="0" u="none" cap="none">
                <a:ln>
                  <a:noFill/>
                </a:ln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10</a:t>
            </a:fld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9414154B-F746-1A74-21F7-6E5F045F178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>A unidade funcional é a mesma nas duas alternativas</a:t>
            </a:r>
          </a:p>
        </p:txBody>
      </p:sp>
      <p:sp>
        <p:nvSpPr>
          <p:cNvPr id="5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5D9F23F1-48AA-5A67-CC7C-B65A7A754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1796192"/>
            <a:ext cx="11404599" cy="122640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0" indent="0" algn="l" defTabSz="914400">
              <a:lnSpc>
                <a:spcPct val="90000"/>
              </a:lnSpc>
              <a:spcBef>
                <a:spcPts val="10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marR="0" lvl="0" indent="0" algn="l" defTabSz="914400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/>
              <a:buNone/>
            </a:pPr>
            <a:r>
              <a:rPr sz="1800" b="0" i="0" u="none" cap="none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Transportar 14 t entre São Paulo (SP) e Rio Branco (AC), sob a mesma fronteira de emissões e custo.</a:t>
            </a:r>
          </a:p>
        </p:txBody>
      </p:sp>
      <p:sp>
        <p:nvSpPr>
          <p:cNvPr id="7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3DB02F86-AD0D-BE24-B025-8A7BB49E0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939" y="1384301"/>
            <a:ext cx="11404599" cy="23127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0" indent="0" algn="l" defTabSz="914400">
              <a:lnSpc>
                <a:spcPct val="90000"/>
              </a:lnSpc>
              <a:spcBef>
                <a:spcPts val="10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marR="0" lvl="0" indent="0" algn="l" defTabSz="914400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/>
              <a:buNone/>
            </a:pPr>
            <a:r>
              <a:rPr sz="1200" b="1" i="0" u="none" cap="none">
                <a:ln>
                  <a:noFill/>
                </a:ln>
                <a:solidFill>
                  <a:srgbClr val="175CD4"/>
                </a:solidFill>
                <a:latin typeface="Helvetica Neue"/>
                <a:ea typeface="Helvetica Neue"/>
                <a:cs typeface="Helvetica Neue"/>
              </a:rPr>
              <a:t>SERVIÇO COMPARADO</a:t>
            </a:r>
          </a:p>
        </p:txBody>
      </p:sp>
      <p:sp>
        <p:nvSpPr>
          <p:cNvPr id="17" name="Rounded Rectangle 16">
            <a:extLst xmlns:a="http://schemas.openxmlformats.org/drawingml/2006/main">
              <a:ext uri="{FF2B5EF4-FFF2-40B4-BE49-F238E27FC236}">
                <a16:creationId xmlns:a16="http://schemas.microsoft.com/office/drawing/2014/main" id="{C39129E7-9749-F0E3-59EF-1B786983B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3365498"/>
            <a:ext cx="3568700" cy="2628901"/>
          </a:xfrm>
          <a:prstGeom xmlns:a="http://schemas.openxmlformats.org/drawingml/2006/main" prst="roundRect">
            <a:avLst>
              <a:gd name="adj" fmla="val 3585"/>
            </a:avLst>
          </a:prstGeom>
          <a:solidFill xmlns:a="http://schemas.openxmlformats.org/drawingml/2006/main">
            <a:srgbClr val="F9FCFF"/>
          </a:solidFill>
          <a:ln xmlns:a="http://schemas.openxmlformats.org/drawingml/2006/main">
            <a:solidFill>
              <a:srgbClr val="EFF1F5"/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</a:p>
        </p:txBody>
      </p:sp>
      <p:sp>
        <p:nvSpPr>
          <p:cNvPr id="18" name="Rounded Rectangle 17">
            <a:extLst xmlns:a="http://schemas.openxmlformats.org/drawingml/2006/main">
              <a:ext uri="{FF2B5EF4-FFF2-40B4-BE49-F238E27FC236}">
                <a16:creationId xmlns:a16="http://schemas.microsoft.com/office/drawing/2014/main" id="{98728FDE-6DD0-74E3-B860-01CB47A22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1650" y="3365498"/>
            <a:ext cx="3568700" cy="2628901"/>
          </a:xfrm>
          <a:prstGeom xmlns:a="http://schemas.openxmlformats.org/drawingml/2006/main" prst="roundRect">
            <a:avLst>
              <a:gd name="adj" fmla="val 3585"/>
            </a:avLst>
          </a:prstGeom>
          <a:solidFill xmlns:a="http://schemas.openxmlformats.org/drawingml/2006/main">
            <a:srgbClr val="F9FCFF"/>
          </a:solidFill>
          <a:ln xmlns:a="http://schemas.openxmlformats.org/drawingml/2006/main">
            <a:solidFill>
              <a:srgbClr val="EFF1F5"/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</a:p>
        </p:txBody>
      </p:sp>
      <p:sp>
        <p:nvSpPr>
          <p:cNvPr id="19" name="Rounded Rectangle 18">
            <a:extLst xmlns:a="http://schemas.openxmlformats.org/drawingml/2006/main">
              <a:ext uri="{FF2B5EF4-FFF2-40B4-BE49-F238E27FC236}">
                <a16:creationId xmlns:a16="http://schemas.microsoft.com/office/drawing/2014/main" id="{F228B342-3C4A-AE4E-4223-223CEE77A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2297" y="3365498"/>
            <a:ext cx="3568700" cy="2628901"/>
          </a:xfrm>
          <a:prstGeom xmlns:a="http://schemas.openxmlformats.org/drawingml/2006/main" prst="roundRect">
            <a:avLst>
              <a:gd name="adj" fmla="val 3585"/>
            </a:avLst>
          </a:prstGeom>
          <a:solidFill xmlns:a="http://schemas.openxmlformats.org/drawingml/2006/main">
            <a:srgbClr val="F9FCFF"/>
          </a:solidFill>
          <a:ln xmlns:a="http://schemas.openxmlformats.org/drawingml/2006/main">
            <a:solidFill>
              <a:srgbClr val="EFF1F5"/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</a:p>
        </p:txBody>
      </p:sp>
      <p:sp>
        <p:nvSpPr>
          <p:cNvPr id="20" name="Content Placeholder 8">
            <a:extLst xmlns:a="http://schemas.openxmlformats.org/drawingml/2006/main">
              <a:ext uri="{FF2B5EF4-FFF2-40B4-BE49-F238E27FC236}">
                <a16:creationId xmlns:a16="http://schemas.microsoft.com/office/drawing/2014/main" id="{A83E7952-0C3E-8CA0-CBD2-20DE64FBB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3381" y="3709346"/>
            <a:ext cx="2949339" cy="198120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marR="0" lvl="0" indent="0" algn="l" defTabSz="91440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/>
              <a:buNone/>
            </a:pPr>
            <a:r>
              <a:rPr sz="2000" b="0" i="0" u="none" cap="none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A · Rodovia direta</a:t>
            </a:r>
          </a:p>
          <a:p xmlns:a="http://schemas.openxmlformats.org/drawingml/2006/main">
            <a:pPr marL="0" marR="0" lvl="0" indent="0" algn="l" defTabSz="91440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/>
              <a:buNone/>
            </a:pPr>
            <a:r>
              <a:rPr sz="1600" b="0" i="0" u="none" cap="none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Um percurso completo por estrada.</a:t>
            </a:r>
          </a:p>
        </p:txBody>
      </p:sp>
      <p:sp>
        <p:nvSpPr>
          <p:cNvPr id="21" name="Content Placeholder 9">
            <a:extLst xmlns:a="http://schemas.openxmlformats.org/drawingml/2006/main">
              <a:ext uri="{FF2B5EF4-FFF2-40B4-BE49-F238E27FC236}">
                <a16:creationId xmlns:a16="http://schemas.microsoft.com/office/drawing/2014/main" id="{ED1D1552-9316-E417-6E62-1A809C636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7681" y="3709346"/>
            <a:ext cx="2949339" cy="198120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marR="0" lvl="0" indent="0" algn="l" defTabSz="91440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/>
              <a:buNone/>
            </a:pPr>
            <a:r>
              <a:rPr sz="2000" b="0" i="0" u="none" cap="none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B · Multimodal</a:t>
            </a:r>
          </a:p>
          <a:p xmlns:a="http://schemas.openxmlformats.org/drawingml/2006/main">
            <a:pPr marL="0" marR="0" lvl="0" indent="0" algn="l" defTabSz="91440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/>
              <a:buNone/>
            </a:pPr>
            <a:r>
              <a:rPr sz="1600" b="0" i="0" u="none" cap="none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First mile + portos + navegação + last mile.</a:t>
            </a:r>
          </a:p>
        </p:txBody>
      </p:sp>
      <p:sp>
        <p:nvSpPr>
          <p:cNvPr id="22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9E266E2C-270B-3F65-3279-162369AD9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1954" y="3709346"/>
            <a:ext cx="2949339" cy="198120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marR="0" lvl="0" indent="0" algn="l" defTabSz="91440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/>
              <a:buNone/>
            </a:pPr>
            <a:r>
              <a:rPr sz="2000" b="0" i="0" u="none" cap="none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Regra comum</a:t>
            </a:r>
          </a:p>
          <a:p xmlns:a="http://schemas.openxmlformats.org/drawingml/2006/main">
            <a:pPr marL="0" marR="0" lvl="0" indent="0" algn="l" defTabSz="91440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/>
              <a:buNone/>
            </a:pPr>
            <a:r>
              <a:rPr sz="1600" b="0" i="0" u="none" cap="none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Mesma origem, destino, massa e fronteira TTW.</a:t>
            </a:r>
          </a:p>
        </p:txBody>
      </p:sp>
    </p:spTree>
    <p:extLst>
      <p:ext uri="{BB962C8B-B14F-4D97-AF65-F5344CB8AC3E}">
        <p14:creationId xmlns:p14="http://schemas.microsoft.com/office/powerpoint/2010/main" val="310122253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58" name="Google Shape;558;p61">
            <a:extLst xmlns:a="http://schemas.openxmlformats.org/drawingml/2006/main">
              <a:ext uri="{FF2B5EF4-FFF2-40B4-BE49-F238E27FC236}">
                <a16:creationId xmlns:a16="http://schemas.microsoft.com/office/drawing/2014/main" id="{4D765FCF-56FA-8EE2-65DF-D8A5321F3C29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4656666"/>
            <a:ext cx="3568700" cy="110239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EU MRV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Intensidade anual por navio e tipo.</a:t>
            </a:r>
          </a:p>
        </p:txBody>
      </p:sp>
      <p:sp>
        <p:nvSpPr>
          <p:cNvPr id="559" name="Google Shape;559;p61">
            <a:extLst xmlns:a="http://schemas.openxmlformats.org/drawingml/2006/main">
              <a:ext uri="{FF2B5EF4-FFF2-40B4-BE49-F238E27FC236}">
                <a16:creationId xmlns:a16="http://schemas.microsoft.com/office/drawing/2014/main" id="{BFA1AD57-2515-3263-71AA-F5510D72450E}"/>
              </a:ext>
            </a:extLst>
          </p:cNvPr>
          <p:cNvSpPr>
            <a:spLocks xmlns:a="http://schemas.openxmlformats.org/drawingml/2006/main" noGrp="1"/>
          </p:cNvSpPr>
          <p:nvPr>
            <p:ph idx="10"/>
          </p:nvPr>
        </p:nvSpPr>
        <p:spPr>
          <a:xfrm xmlns:a="http://schemas.openxmlformats.org/drawingml/2006/main">
            <a:off x="4318000" y="4656666"/>
            <a:ext cx="3568700" cy="110239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Ship &amp; Bunker + BCE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Preço do VLSFO e conversão cambial.</a:t>
            </a:r>
          </a:p>
        </p:txBody>
      </p:sp>
      <p:sp>
        <p:nvSpPr>
          <p:cNvPr id="560" name="Google Shape;560;p61">
            <a:extLst xmlns:a="http://schemas.openxmlformats.org/drawingml/2006/main">
              <a:ext uri="{FF2B5EF4-FFF2-40B4-BE49-F238E27FC236}">
                <a16:creationId xmlns:a16="http://schemas.microsoft.com/office/drawing/2014/main" id="{F4CF59D7-297B-30C8-431E-585575A55EC7}"/>
              </a:ext>
            </a:extLst>
          </p:cNvPr>
          <p:cNvSpPr>
            <a:spLocks xmlns:a="http://schemas.openxmlformats.org/drawingml/2006/main" noGrp="1"/>
          </p:cNvSpPr>
          <p:nvPr>
            <p:ph idx="11"/>
          </p:nvPr>
        </p:nvSpPr>
        <p:spPr>
          <a:xfrm xmlns:a="http://schemas.openxmlformats.org/drawingml/2006/main">
            <a:off x="8232273" y="4656666"/>
            <a:ext cx="3568700" cy="110239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ORS + LocationIQ + Supabase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Localização, rotas, cache e persistência.</a:t>
            </a:r>
          </a:p>
        </p:txBody>
      </p:sp>
      <p:sp>
        <p:nvSpPr>
          <p:cNvPr id="557" name="Google Shape;557;p61">
            <a:extLst xmlns:a="http://schemas.openxmlformats.org/drawingml/2006/main">
              <a:ext uri="{FF2B5EF4-FFF2-40B4-BE49-F238E27FC236}">
                <a16:creationId xmlns:a16="http://schemas.microsoft.com/office/drawing/2014/main" id="{252743B9-4592-4663-CAD2-40CC23D409B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>As fontes têm funções diferentes no cálculo</a:t>
            </a:r>
          </a:p>
        </p:txBody>
      </p:sp>
      <p:sp>
        <p:nvSpPr>
          <p:cNvPr id="2" name="Google Shape;558;p61">
            <a:extLst xmlns:a="http://schemas.openxmlformats.org/drawingml/2006/main">
              <a:ext uri="{FF2B5EF4-FFF2-40B4-BE49-F238E27FC236}">
                <a16:creationId xmlns:a16="http://schemas.microsoft.com/office/drawing/2014/main" id="{0018B0C7-DC20-D7FE-2D99-C8372B90A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2653452"/>
            <a:ext cx="3568700" cy="110239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ANTT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Eficiência rodoviária por número de eixos.</a:t>
            </a:r>
          </a:p>
        </p:txBody>
      </p:sp>
      <p:sp>
        <p:nvSpPr>
          <p:cNvPr id="3" name="Google Shape;559;p61">
            <a:extLst xmlns:a="http://schemas.openxmlformats.org/drawingml/2006/main">
              <a:ext uri="{FF2B5EF4-FFF2-40B4-BE49-F238E27FC236}">
                <a16:creationId xmlns:a16="http://schemas.microsoft.com/office/drawing/2014/main" id="{142AC269-69D2-161D-AD16-2E5D7B8A9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8000" y="2653452"/>
            <a:ext cx="3568700" cy="110239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ANP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Preço estadual do Diesel S10.</a:t>
            </a:r>
          </a:p>
        </p:txBody>
      </p:sp>
      <p:sp>
        <p:nvSpPr>
          <p:cNvPr id="4" name="Google Shape;560;p61">
            <a:extLst xmlns:a="http://schemas.openxmlformats.org/drawingml/2006/main">
              <a:ext uri="{FF2B5EF4-FFF2-40B4-BE49-F238E27FC236}">
                <a16:creationId xmlns:a16="http://schemas.microsoft.com/office/drawing/2014/main" id="{7E988850-5A60-A9C4-B928-BDFEC4FE4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2273" y="2653452"/>
            <a:ext cx="3568700" cy="110239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ANTAQ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Escalas, carga e viagens observadas.</a:t>
            </a:r>
          </a:p>
        </p:txBody>
      </p:sp>
      <p:sp>
        <p:nvSpPr>
          <p:cNvPr id="5" name="Google Shape;561;p61">
            <a:extLst xmlns:a="http://schemas.openxmlformats.org/drawingml/2006/main">
              <a:ext uri="{FF2B5EF4-FFF2-40B4-BE49-F238E27FC236}">
                <a16:creationId xmlns:a16="http://schemas.microsoft.com/office/drawing/2014/main" id="{43830694-5B70-1E3A-562E-A57DE1DE0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9904" y="2022554"/>
            <a:ext cx="315580" cy="353873"/>
          </a:xfrm>
          <a:custGeom xmlns:a="http://schemas.openxmlformats.org/drawingml/2006/main">
            <a:rect l="l" t="t" r="r" b="b"/>
            <a:pathLst>
              <a:path w="20236" h="20115">
                <a:moveTo>
                  <a:pt x="11303" y="2594"/>
                </a:moveTo>
                <a:lnTo>
                  <a:pt x="2175" y="11983"/>
                </a:lnTo>
                <a:lnTo>
                  <a:pt x="9033" y="11983"/>
                </a:lnTo>
                <a:cubicBezTo>
                  <a:pt x="9364" y="11983"/>
                  <a:pt x="9678" y="12118"/>
                  <a:pt x="9883" y="12348"/>
                </a:cubicBezTo>
                <a:cubicBezTo>
                  <a:pt x="10089" y="12579"/>
                  <a:pt x="10165" y="12880"/>
                  <a:pt x="10089" y="13166"/>
                </a:cubicBezTo>
                <a:lnTo>
                  <a:pt x="8933" y="17522"/>
                </a:lnTo>
                <a:lnTo>
                  <a:pt x="18061" y="8133"/>
                </a:lnTo>
                <a:lnTo>
                  <a:pt x="11203" y="8133"/>
                </a:lnTo>
                <a:cubicBezTo>
                  <a:pt x="10872" y="8133"/>
                  <a:pt x="10558" y="7999"/>
                  <a:pt x="10353" y="7768"/>
                </a:cubicBezTo>
                <a:cubicBezTo>
                  <a:pt x="10147" y="7537"/>
                  <a:pt x="10071" y="7236"/>
                  <a:pt x="10147" y="6950"/>
                </a:cubicBezTo>
                <a:lnTo>
                  <a:pt x="11303" y="2594"/>
                </a:lnTo>
                <a:close/>
                <a:moveTo>
                  <a:pt x="10382" y="593"/>
                </a:moveTo>
                <a:cubicBezTo>
                  <a:pt x="11679" y="-742"/>
                  <a:pt x="14125" y="363"/>
                  <a:pt x="13670" y="2078"/>
                </a:cubicBezTo>
                <a:lnTo>
                  <a:pt x="12574" y="6208"/>
                </a:lnTo>
                <a:lnTo>
                  <a:pt x="18061" y="6208"/>
                </a:lnTo>
                <a:cubicBezTo>
                  <a:pt x="19918" y="6208"/>
                  <a:pt x="20918" y="8142"/>
                  <a:pt x="19705" y="9390"/>
                </a:cubicBezTo>
                <a:lnTo>
                  <a:pt x="9854" y="19523"/>
                </a:lnTo>
                <a:cubicBezTo>
                  <a:pt x="8557" y="20858"/>
                  <a:pt x="6111" y="19753"/>
                  <a:pt x="6566" y="18038"/>
                </a:cubicBezTo>
                <a:lnTo>
                  <a:pt x="7662" y="13908"/>
                </a:lnTo>
                <a:lnTo>
                  <a:pt x="2175" y="13908"/>
                </a:lnTo>
                <a:cubicBezTo>
                  <a:pt x="318" y="13908"/>
                  <a:pt x="-682" y="11974"/>
                  <a:pt x="531" y="10726"/>
                </a:cubicBezTo>
                <a:lnTo>
                  <a:pt x="10382" y="593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7725" tIns="67725" rIns="67725" bIns="677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Clr>
                <a:srgbClr val="FFFFFF"/>
              </a:buClr>
              <a:buSzPts val="4300"/>
              <a:buNone/>
            </a:pPr>
          </a:p>
        </p:txBody>
      </p:sp>
      <p:sp>
        <p:nvSpPr>
          <p:cNvPr id="6" name="Google Shape;562;p61">
            <a:extLst xmlns:a="http://schemas.openxmlformats.org/drawingml/2006/main">
              <a:ext uri="{FF2B5EF4-FFF2-40B4-BE49-F238E27FC236}">
                <a16:creationId xmlns:a16="http://schemas.microsoft.com/office/drawing/2014/main" id="{7C8ADA23-5610-C31E-B048-A0886EDC2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398" y="2018463"/>
            <a:ext cx="327078" cy="362074"/>
          </a:xfrm>
          <a:custGeom xmlns:a="http://schemas.openxmlformats.org/drawingml/2006/main">
            <a:rect l="l" t="t" r="r" b="b"/>
            <a:pathLst>
              <a:path w="21600" h="21333">
                <a:moveTo>
                  <a:pt x="11359" y="2130"/>
                </a:moveTo>
                <a:cubicBezTo>
                  <a:pt x="11014" y="1951"/>
                  <a:pt x="10588" y="1951"/>
                  <a:pt x="10241" y="2130"/>
                </a:cubicBezTo>
                <a:lnTo>
                  <a:pt x="3250" y="5732"/>
                </a:lnTo>
                <a:lnTo>
                  <a:pt x="10817" y="9530"/>
                </a:lnTo>
                <a:lnTo>
                  <a:pt x="18593" y="5856"/>
                </a:lnTo>
                <a:lnTo>
                  <a:pt x="11359" y="2130"/>
                </a:lnTo>
                <a:close/>
                <a:moveTo>
                  <a:pt x="19364" y="7749"/>
                </a:moveTo>
                <a:lnTo>
                  <a:pt x="11918" y="11267"/>
                </a:lnTo>
                <a:lnTo>
                  <a:pt x="11918" y="18916"/>
                </a:lnTo>
                <a:lnTo>
                  <a:pt x="18805" y="15367"/>
                </a:lnTo>
                <a:cubicBezTo>
                  <a:pt x="19152" y="15189"/>
                  <a:pt x="19364" y="14860"/>
                  <a:pt x="19364" y="14503"/>
                </a:cubicBezTo>
                <a:lnTo>
                  <a:pt x="19364" y="7749"/>
                </a:lnTo>
                <a:close/>
                <a:moveTo>
                  <a:pt x="9682" y="18916"/>
                </a:moveTo>
                <a:lnTo>
                  <a:pt x="9682" y="11250"/>
                </a:lnTo>
                <a:lnTo>
                  <a:pt x="2236" y="7513"/>
                </a:lnTo>
                <a:lnTo>
                  <a:pt x="2236" y="14503"/>
                </a:lnTo>
                <a:cubicBezTo>
                  <a:pt x="2236" y="14860"/>
                  <a:pt x="2448" y="15189"/>
                  <a:pt x="2795" y="15367"/>
                </a:cubicBezTo>
                <a:lnTo>
                  <a:pt x="9682" y="18916"/>
                </a:lnTo>
                <a:close/>
                <a:moveTo>
                  <a:pt x="9123" y="401"/>
                </a:moveTo>
                <a:cubicBezTo>
                  <a:pt x="10160" y="-133"/>
                  <a:pt x="11440" y="-133"/>
                  <a:pt x="12477" y="401"/>
                </a:cubicBezTo>
                <a:lnTo>
                  <a:pt x="19923" y="4238"/>
                </a:lnTo>
                <a:cubicBezTo>
                  <a:pt x="20962" y="4773"/>
                  <a:pt x="21600" y="5761"/>
                  <a:pt x="21600" y="6830"/>
                </a:cubicBezTo>
                <a:lnTo>
                  <a:pt x="21600" y="14503"/>
                </a:lnTo>
                <a:cubicBezTo>
                  <a:pt x="21600" y="15572"/>
                  <a:pt x="20962" y="16561"/>
                  <a:pt x="19923" y="17096"/>
                </a:cubicBezTo>
                <a:lnTo>
                  <a:pt x="12477" y="20932"/>
                </a:lnTo>
                <a:cubicBezTo>
                  <a:pt x="11440" y="21467"/>
                  <a:pt x="10160" y="21467"/>
                  <a:pt x="9123" y="20932"/>
                </a:cubicBezTo>
                <a:lnTo>
                  <a:pt x="1677" y="17096"/>
                </a:lnTo>
                <a:cubicBezTo>
                  <a:pt x="640" y="16561"/>
                  <a:pt x="0" y="15572"/>
                  <a:pt x="0" y="14503"/>
                </a:cubicBezTo>
                <a:lnTo>
                  <a:pt x="0" y="6830"/>
                </a:lnTo>
                <a:cubicBezTo>
                  <a:pt x="0" y="5761"/>
                  <a:pt x="640" y="4773"/>
                  <a:pt x="1677" y="4238"/>
                </a:cubicBezTo>
                <a:lnTo>
                  <a:pt x="9123" y="401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7725" tIns="67725" rIns="67725" bIns="677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Clr>
                <a:srgbClr val="FFFFFF"/>
              </a:buClr>
              <a:buSzPts val="4300"/>
              <a:buNone/>
            </a:pPr>
          </a:p>
        </p:txBody>
      </p:sp>
      <p:sp>
        <p:nvSpPr>
          <p:cNvPr id="11" name="Google Shape;1369;p101">
            <a:extLst xmlns:a="http://schemas.openxmlformats.org/drawingml/2006/main">
              <a:ext uri="{FF2B5EF4-FFF2-40B4-BE49-F238E27FC236}">
                <a16:creationId xmlns:a16="http://schemas.microsoft.com/office/drawing/2014/main" id="{41FBCA7C-C2E7-AFB5-3B6C-4D9C9E154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030146"/>
            <a:ext cx="338580" cy="338688"/>
          </a:xfrm>
          <a:custGeom xmlns:a="http://schemas.openxmlformats.org/drawingml/2006/main">
            <a:rect l="l" t="t" r="r" b="b"/>
            <a:pathLst>
              <a:path w="21600" h="21600"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10784" y="2163"/>
                </a:moveTo>
                <a:cubicBezTo>
                  <a:pt x="10772" y="2167"/>
                  <a:pt x="10749" y="2175"/>
                  <a:pt x="10715" y="2196"/>
                </a:cubicBezTo>
                <a:cubicBezTo>
                  <a:pt x="10574" y="2281"/>
                  <a:pt x="10340" y="2510"/>
                  <a:pt x="10071" y="2999"/>
                </a:cubicBezTo>
                <a:cubicBezTo>
                  <a:pt x="9811" y="3472"/>
                  <a:pt x="9560" y="4109"/>
                  <a:pt x="9344" y="4895"/>
                </a:cubicBezTo>
                <a:cubicBezTo>
                  <a:pt x="8980" y="6213"/>
                  <a:pt x="8731" y="7875"/>
                  <a:pt x="8661" y="9720"/>
                </a:cubicBezTo>
                <a:lnTo>
                  <a:pt x="12939" y="9720"/>
                </a:lnTo>
                <a:cubicBezTo>
                  <a:pt x="12869" y="7875"/>
                  <a:pt x="12620" y="6213"/>
                  <a:pt x="12256" y="4895"/>
                </a:cubicBezTo>
                <a:cubicBezTo>
                  <a:pt x="12040" y="4109"/>
                  <a:pt x="11789" y="3472"/>
                  <a:pt x="11529" y="2999"/>
                </a:cubicBezTo>
                <a:cubicBezTo>
                  <a:pt x="11260" y="2510"/>
                  <a:pt x="11026" y="2281"/>
                  <a:pt x="10885" y="2196"/>
                </a:cubicBezTo>
                <a:cubicBezTo>
                  <a:pt x="10851" y="2175"/>
                  <a:pt x="10828" y="2167"/>
                  <a:pt x="10816" y="2163"/>
                </a:cubicBezTo>
                <a:cubicBezTo>
                  <a:pt x="10807" y="2161"/>
                  <a:pt x="10801" y="2160"/>
                  <a:pt x="10800" y="2160"/>
                </a:cubicBezTo>
                <a:cubicBezTo>
                  <a:pt x="10798" y="2160"/>
                  <a:pt x="10793" y="2161"/>
                  <a:pt x="10784" y="2163"/>
                </a:cubicBezTo>
                <a:close/>
                <a:moveTo>
                  <a:pt x="6499" y="9720"/>
                </a:moveTo>
                <a:cubicBezTo>
                  <a:pt x="6571" y="7704"/>
                  <a:pt x="6841" y="5845"/>
                  <a:pt x="7261" y="4321"/>
                </a:cubicBezTo>
                <a:cubicBezTo>
                  <a:pt x="7424" y="3732"/>
                  <a:pt x="7611" y="3182"/>
                  <a:pt x="7825" y="2686"/>
                </a:cubicBezTo>
                <a:cubicBezTo>
                  <a:pt x="4843" y="3779"/>
                  <a:pt x="2632" y="6469"/>
                  <a:pt x="2227" y="9720"/>
                </a:cubicBezTo>
                <a:lnTo>
                  <a:pt x="6499" y="9720"/>
                </a:lnTo>
                <a:close/>
                <a:moveTo>
                  <a:pt x="2227" y="11880"/>
                </a:moveTo>
                <a:lnTo>
                  <a:pt x="6499" y="11880"/>
                </a:lnTo>
                <a:cubicBezTo>
                  <a:pt x="6582" y="14228"/>
                  <a:pt x="6936" y="16368"/>
                  <a:pt x="7484" y="18014"/>
                </a:cubicBezTo>
                <a:cubicBezTo>
                  <a:pt x="7589" y="18327"/>
                  <a:pt x="7702" y="18628"/>
                  <a:pt x="7825" y="18914"/>
                </a:cubicBezTo>
                <a:cubicBezTo>
                  <a:pt x="4843" y="17821"/>
                  <a:pt x="2632" y="15131"/>
                  <a:pt x="2227" y="11880"/>
                </a:cubicBezTo>
                <a:close/>
                <a:moveTo>
                  <a:pt x="8661" y="11880"/>
                </a:moveTo>
                <a:cubicBezTo>
                  <a:pt x="8743" y="14037"/>
                  <a:pt x="9069" y="15938"/>
                  <a:pt x="9534" y="17332"/>
                </a:cubicBezTo>
                <a:cubicBezTo>
                  <a:pt x="9806" y="18148"/>
                  <a:pt x="10106" y="18732"/>
                  <a:pt x="10387" y="19088"/>
                </a:cubicBezTo>
                <a:cubicBezTo>
                  <a:pt x="10525" y="19263"/>
                  <a:pt x="10637" y="19356"/>
                  <a:pt x="10712" y="19402"/>
                </a:cubicBezTo>
                <a:cubicBezTo>
                  <a:pt x="10748" y="19424"/>
                  <a:pt x="10771" y="19434"/>
                  <a:pt x="10783" y="19437"/>
                </a:cubicBezTo>
                <a:cubicBezTo>
                  <a:pt x="10794" y="19440"/>
                  <a:pt x="10800" y="19440"/>
                  <a:pt x="10800" y="19440"/>
                </a:cubicBezTo>
                <a:cubicBezTo>
                  <a:pt x="10800" y="19440"/>
                  <a:pt x="10805" y="19440"/>
                  <a:pt x="10817" y="19437"/>
                </a:cubicBezTo>
                <a:cubicBezTo>
                  <a:pt x="10829" y="19434"/>
                  <a:pt x="10852" y="19424"/>
                  <a:pt x="10888" y="19402"/>
                </a:cubicBezTo>
                <a:cubicBezTo>
                  <a:pt x="10963" y="19356"/>
                  <a:pt x="11075" y="19263"/>
                  <a:pt x="11213" y="19088"/>
                </a:cubicBezTo>
                <a:cubicBezTo>
                  <a:pt x="11494" y="18732"/>
                  <a:pt x="11794" y="18148"/>
                  <a:pt x="12066" y="17332"/>
                </a:cubicBezTo>
                <a:cubicBezTo>
                  <a:pt x="12531" y="15938"/>
                  <a:pt x="12857" y="14037"/>
                  <a:pt x="12939" y="11880"/>
                </a:cubicBezTo>
                <a:lnTo>
                  <a:pt x="8661" y="11880"/>
                </a:lnTo>
                <a:close/>
                <a:moveTo>
                  <a:pt x="15101" y="11880"/>
                </a:moveTo>
                <a:cubicBezTo>
                  <a:pt x="15018" y="14228"/>
                  <a:pt x="14664" y="16368"/>
                  <a:pt x="14116" y="18014"/>
                </a:cubicBezTo>
                <a:cubicBezTo>
                  <a:pt x="14011" y="18327"/>
                  <a:pt x="13898" y="18628"/>
                  <a:pt x="13775" y="18914"/>
                </a:cubicBezTo>
                <a:cubicBezTo>
                  <a:pt x="16757" y="17821"/>
                  <a:pt x="18968" y="15131"/>
                  <a:pt x="19373" y="11880"/>
                </a:cubicBezTo>
                <a:lnTo>
                  <a:pt x="15101" y="11880"/>
                </a:lnTo>
                <a:close/>
                <a:moveTo>
                  <a:pt x="19373" y="9720"/>
                </a:moveTo>
                <a:cubicBezTo>
                  <a:pt x="18968" y="6469"/>
                  <a:pt x="16757" y="3779"/>
                  <a:pt x="13775" y="2686"/>
                </a:cubicBezTo>
                <a:cubicBezTo>
                  <a:pt x="13989" y="3182"/>
                  <a:pt x="14176" y="3732"/>
                  <a:pt x="14339" y="4321"/>
                </a:cubicBezTo>
                <a:cubicBezTo>
                  <a:pt x="14759" y="5845"/>
                  <a:pt x="15029" y="7704"/>
                  <a:pt x="15101" y="9720"/>
                </a:cubicBezTo>
                <a:lnTo>
                  <a:pt x="19373" y="9720"/>
                </a:lnTo>
                <a:close/>
              </a:path>
            </a:pathLst>
          </a:custGeom>
          <a:solidFill xmlns:a="http://schemas.openxmlformats.org/drawingml/2006/main">
            <a:schemeClr val="dk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7725" tIns="67725" rIns="67725" bIns="677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300"/>
              <a:buFont typeface="Arial"/>
              <a:buNone/>
            </a:pPr>
          </a:p>
        </p:txBody>
      </p:sp>
      <p:sp>
        <p:nvSpPr>
          <p:cNvPr id="13" name="Google Shape;1415;p101">
            <a:extLst xmlns:a="http://schemas.openxmlformats.org/drawingml/2006/main">
              <a:ext uri="{FF2B5EF4-FFF2-40B4-BE49-F238E27FC236}">
                <a16:creationId xmlns:a16="http://schemas.microsoft.com/office/drawing/2014/main" id="{8574D0ED-7640-B4E7-7B56-C1CA61B9E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885" y="4050316"/>
            <a:ext cx="389340" cy="304776"/>
          </a:xfrm>
          <a:custGeom xmlns:a="http://schemas.openxmlformats.org/drawingml/2006/main">
            <a:rect l="l" t="t" r="r" b="b"/>
            <a:pathLst>
              <a:path w="21600" h="21600">
                <a:moveTo>
                  <a:pt x="6574" y="2400"/>
                </a:moveTo>
                <a:cubicBezTo>
                  <a:pt x="5277" y="2400"/>
                  <a:pt x="4226" y="3743"/>
                  <a:pt x="4226" y="5400"/>
                </a:cubicBezTo>
                <a:cubicBezTo>
                  <a:pt x="4226" y="7057"/>
                  <a:pt x="5277" y="8400"/>
                  <a:pt x="6574" y="8400"/>
                </a:cubicBezTo>
                <a:cubicBezTo>
                  <a:pt x="7871" y="8400"/>
                  <a:pt x="8922" y="7057"/>
                  <a:pt x="8922" y="5400"/>
                </a:cubicBezTo>
                <a:cubicBezTo>
                  <a:pt x="8922" y="3743"/>
                  <a:pt x="7871" y="2400"/>
                  <a:pt x="6574" y="2400"/>
                </a:cubicBezTo>
                <a:close/>
                <a:moveTo>
                  <a:pt x="2348" y="5400"/>
                </a:moveTo>
                <a:cubicBezTo>
                  <a:pt x="2348" y="2418"/>
                  <a:pt x="4240" y="0"/>
                  <a:pt x="6574" y="0"/>
                </a:cubicBezTo>
                <a:cubicBezTo>
                  <a:pt x="8908" y="0"/>
                  <a:pt x="10800" y="2418"/>
                  <a:pt x="10800" y="5400"/>
                </a:cubicBezTo>
                <a:cubicBezTo>
                  <a:pt x="10800" y="8382"/>
                  <a:pt x="8908" y="10800"/>
                  <a:pt x="6574" y="10800"/>
                </a:cubicBezTo>
                <a:cubicBezTo>
                  <a:pt x="4240" y="10800"/>
                  <a:pt x="2348" y="8382"/>
                  <a:pt x="2348" y="5400"/>
                </a:cubicBezTo>
                <a:close/>
                <a:moveTo>
                  <a:pt x="15496" y="3600"/>
                </a:moveTo>
                <a:cubicBezTo>
                  <a:pt x="14458" y="3600"/>
                  <a:pt x="13617" y="4674"/>
                  <a:pt x="13617" y="6000"/>
                </a:cubicBezTo>
                <a:cubicBezTo>
                  <a:pt x="13617" y="7326"/>
                  <a:pt x="14458" y="8400"/>
                  <a:pt x="15496" y="8400"/>
                </a:cubicBezTo>
                <a:cubicBezTo>
                  <a:pt x="16533" y="8400"/>
                  <a:pt x="17374" y="7326"/>
                  <a:pt x="17374" y="6000"/>
                </a:cubicBezTo>
                <a:cubicBezTo>
                  <a:pt x="17374" y="4674"/>
                  <a:pt x="16533" y="3600"/>
                  <a:pt x="15496" y="3600"/>
                </a:cubicBezTo>
                <a:close/>
                <a:moveTo>
                  <a:pt x="11739" y="6000"/>
                </a:moveTo>
                <a:cubicBezTo>
                  <a:pt x="11739" y="3349"/>
                  <a:pt x="13421" y="1200"/>
                  <a:pt x="15496" y="1200"/>
                </a:cubicBezTo>
                <a:cubicBezTo>
                  <a:pt x="17570" y="1200"/>
                  <a:pt x="19252" y="3349"/>
                  <a:pt x="19252" y="6000"/>
                </a:cubicBezTo>
                <a:cubicBezTo>
                  <a:pt x="19252" y="8651"/>
                  <a:pt x="17570" y="10800"/>
                  <a:pt x="15496" y="10800"/>
                </a:cubicBezTo>
                <a:cubicBezTo>
                  <a:pt x="13421" y="10800"/>
                  <a:pt x="11739" y="8651"/>
                  <a:pt x="11739" y="6000"/>
                </a:cubicBezTo>
                <a:close/>
                <a:moveTo>
                  <a:pt x="3324" y="15896"/>
                </a:moveTo>
                <a:cubicBezTo>
                  <a:pt x="2477" y="16858"/>
                  <a:pt x="1878" y="18325"/>
                  <a:pt x="1878" y="20400"/>
                </a:cubicBezTo>
                <a:cubicBezTo>
                  <a:pt x="1878" y="21062"/>
                  <a:pt x="1458" y="21600"/>
                  <a:pt x="939" y="21600"/>
                </a:cubicBezTo>
                <a:cubicBezTo>
                  <a:pt x="421" y="21600"/>
                  <a:pt x="0" y="21062"/>
                  <a:pt x="0" y="20400"/>
                </a:cubicBezTo>
                <a:cubicBezTo>
                  <a:pt x="0" y="17675"/>
                  <a:pt x="810" y="15542"/>
                  <a:pt x="2076" y="14102"/>
                </a:cubicBezTo>
                <a:cubicBezTo>
                  <a:pt x="3325" y="12684"/>
                  <a:pt x="4965" y="12000"/>
                  <a:pt x="6574" y="12000"/>
                </a:cubicBezTo>
                <a:cubicBezTo>
                  <a:pt x="8183" y="12000"/>
                  <a:pt x="9822" y="12684"/>
                  <a:pt x="11071" y="14102"/>
                </a:cubicBezTo>
                <a:cubicBezTo>
                  <a:pt x="12338" y="15542"/>
                  <a:pt x="13148" y="17675"/>
                  <a:pt x="13148" y="20400"/>
                </a:cubicBezTo>
                <a:cubicBezTo>
                  <a:pt x="13148" y="21062"/>
                  <a:pt x="12727" y="21600"/>
                  <a:pt x="12209" y="21600"/>
                </a:cubicBezTo>
                <a:cubicBezTo>
                  <a:pt x="11690" y="21600"/>
                  <a:pt x="11270" y="21062"/>
                  <a:pt x="11270" y="20400"/>
                </a:cubicBezTo>
                <a:cubicBezTo>
                  <a:pt x="11270" y="18325"/>
                  <a:pt x="10670" y="16858"/>
                  <a:pt x="9824" y="15896"/>
                </a:cubicBezTo>
                <a:cubicBezTo>
                  <a:pt x="8960" y="14916"/>
                  <a:pt x="7783" y="14400"/>
                  <a:pt x="6574" y="14400"/>
                </a:cubicBezTo>
                <a:cubicBezTo>
                  <a:pt x="5365" y="14400"/>
                  <a:pt x="4188" y="14916"/>
                  <a:pt x="3324" y="15896"/>
                </a:cubicBezTo>
                <a:close/>
                <a:moveTo>
                  <a:pt x="18122" y="15168"/>
                </a:moveTo>
                <a:cubicBezTo>
                  <a:pt x="17175" y="14402"/>
                  <a:pt x="15927" y="14200"/>
                  <a:pt x="14811" y="14602"/>
                </a:cubicBezTo>
                <a:cubicBezTo>
                  <a:pt x="14312" y="14782"/>
                  <a:pt x="13793" y="14411"/>
                  <a:pt x="13653" y="13772"/>
                </a:cubicBezTo>
                <a:cubicBezTo>
                  <a:pt x="13512" y="13134"/>
                  <a:pt x="13802" y="12472"/>
                  <a:pt x="14302" y="12292"/>
                </a:cubicBezTo>
                <a:cubicBezTo>
                  <a:pt x="15894" y="11718"/>
                  <a:pt x="17698" y="11986"/>
                  <a:pt x="19125" y="13139"/>
                </a:cubicBezTo>
                <a:cubicBezTo>
                  <a:pt x="20589" y="14320"/>
                  <a:pt x="21600" y="16387"/>
                  <a:pt x="21600" y="19200"/>
                </a:cubicBezTo>
                <a:cubicBezTo>
                  <a:pt x="21600" y="19862"/>
                  <a:pt x="21179" y="20400"/>
                  <a:pt x="20661" y="20400"/>
                </a:cubicBezTo>
                <a:cubicBezTo>
                  <a:pt x="20142" y="20400"/>
                  <a:pt x="19722" y="19862"/>
                  <a:pt x="19722" y="19200"/>
                </a:cubicBezTo>
                <a:cubicBezTo>
                  <a:pt x="19722" y="17202"/>
                  <a:pt x="19034" y="15905"/>
                  <a:pt x="18122" y="15168"/>
                </a:cubicBezTo>
                <a:close/>
              </a:path>
            </a:pathLst>
          </a:custGeom>
          <a:solidFill xmlns:a="http://schemas.openxmlformats.org/drawingml/2006/main">
            <a:schemeClr val="dk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7725" tIns="67725" rIns="67725" bIns="677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300"/>
              <a:buFont typeface="Arial"/>
              <a:buNone/>
            </a:pPr>
          </a:p>
        </p:txBody>
      </p:sp>
      <p:sp>
        <p:nvSpPr>
          <p:cNvPr id="15" name="Google Shape;1512;p103">
            <a:extLst xmlns:a="http://schemas.openxmlformats.org/drawingml/2006/main">
              <a:ext uri="{FF2B5EF4-FFF2-40B4-BE49-F238E27FC236}">
                <a16:creationId xmlns:a16="http://schemas.microsoft.com/office/drawing/2014/main" id="{D015E4E0-1777-A560-A6C2-AEDA1FADF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1936" y="4025768"/>
            <a:ext cx="305570" cy="338652"/>
          </a:xfrm>
          <a:custGeom xmlns:a="http://schemas.openxmlformats.org/drawingml/2006/main">
            <a:rect l="l" t="t" r="r" b="b"/>
            <a:pathLst>
              <a:path w="21538" h="21553">
                <a:moveTo>
                  <a:pt x="10897" y="543"/>
                </a:moveTo>
                <a:cubicBezTo>
                  <a:pt x="11135" y="165"/>
                  <a:pt x="11603" y="-46"/>
                  <a:pt x="12081" y="8"/>
                </a:cubicBezTo>
                <a:lnTo>
                  <a:pt x="12622" y="69"/>
                </a:lnTo>
                <a:cubicBezTo>
                  <a:pt x="15566" y="401"/>
                  <a:pt x="17464" y="3053"/>
                  <a:pt x="16592" y="5614"/>
                </a:cubicBezTo>
                <a:lnTo>
                  <a:pt x="15932" y="7551"/>
                </a:lnTo>
                <a:cubicBezTo>
                  <a:pt x="16337" y="7557"/>
                  <a:pt x="16701" y="7570"/>
                  <a:pt x="17029" y="7593"/>
                </a:cubicBezTo>
                <a:cubicBezTo>
                  <a:pt x="17750" y="7644"/>
                  <a:pt x="18413" y="7753"/>
                  <a:pt x="19016" y="8039"/>
                </a:cubicBezTo>
                <a:cubicBezTo>
                  <a:pt x="20257" y="8629"/>
                  <a:pt x="21148" y="9683"/>
                  <a:pt x="21451" y="10920"/>
                </a:cubicBezTo>
                <a:cubicBezTo>
                  <a:pt x="21599" y="11520"/>
                  <a:pt x="21541" y="12127"/>
                  <a:pt x="21406" y="12769"/>
                </a:cubicBezTo>
                <a:cubicBezTo>
                  <a:pt x="21273" y="13395"/>
                  <a:pt x="21043" y="14161"/>
                  <a:pt x="20759" y="15099"/>
                </a:cubicBezTo>
                <a:lnTo>
                  <a:pt x="20202" y="16946"/>
                </a:lnTo>
                <a:cubicBezTo>
                  <a:pt x="20181" y="17013"/>
                  <a:pt x="20161" y="17078"/>
                  <a:pt x="20142" y="17143"/>
                </a:cubicBezTo>
                <a:cubicBezTo>
                  <a:pt x="19789" y="18315"/>
                  <a:pt x="19524" y="19196"/>
                  <a:pt x="18943" y="19876"/>
                </a:cubicBezTo>
                <a:cubicBezTo>
                  <a:pt x="18432" y="20473"/>
                  <a:pt x="17757" y="20939"/>
                  <a:pt x="16986" y="21226"/>
                </a:cubicBezTo>
                <a:cubicBezTo>
                  <a:pt x="16107" y="21554"/>
                  <a:pt x="15095" y="21553"/>
                  <a:pt x="13750" y="21552"/>
                </a:cubicBezTo>
                <a:cubicBezTo>
                  <a:pt x="11456" y="21551"/>
                  <a:pt x="9164" y="21552"/>
                  <a:pt x="6872" y="21552"/>
                </a:cubicBezTo>
                <a:cubicBezTo>
                  <a:pt x="5911" y="21552"/>
                  <a:pt x="5118" y="21552"/>
                  <a:pt x="4472" y="21505"/>
                </a:cubicBezTo>
                <a:cubicBezTo>
                  <a:pt x="3802" y="21455"/>
                  <a:pt x="3185" y="21349"/>
                  <a:pt x="2606" y="21082"/>
                </a:cubicBezTo>
                <a:cubicBezTo>
                  <a:pt x="1708" y="20669"/>
                  <a:pt x="979" y="20010"/>
                  <a:pt x="520" y="19199"/>
                </a:cubicBezTo>
                <a:cubicBezTo>
                  <a:pt x="226" y="18676"/>
                  <a:pt x="108" y="18119"/>
                  <a:pt x="53" y="17513"/>
                </a:cubicBezTo>
                <a:cubicBezTo>
                  <a:pt x="0" y="16930"/>
                  <a:pt x="0" y="16214"/>
                  <a:pt x="0" y="15346"/>
                </a:cubicBezTo>
                <a:lnTo>
                  <a:pt x="0" y="12931"/>
                </a:lnTo>
                <a:cubicBezTo>
                  <a:pt x="0" y="12881"/>
                  <a:pt x="0" y="12832"/>
                  <a:pt x="0" y="12783"/>
                </a:cubicBezTo>
                <a:cubicBezTo>
                  <a:pt x="0" y="11926"/>
                  <a:pt x="-1" y="11289"/>
                  <a:pt x="162" y="10738"/>
                </a:cubicBezTo>
                <a:cubicBezTo>
                  <a:pt x="604" y="9250"/>
                  <a:pt x="1890" y="8088"/>
                  <a:pt x="3538" y="7690"/>
                </a:cubicBezTo>
                <a:cubicBezTo>
                  <a:pt x="4148" y="7542"/>
                  <a:pt x="4853" y="7542"/>
                  <a:pt x="5803" y="7543"/>
                </a:cubicBezTo>
                <a:cubicBezTo>
                  <a:pt x="5857" y="7543"/>
                  <a:pt x="5911" y="7543"/>
                  <a:pt x="5966" y="7543"/>
                </a:cubicBezTo>
                <a:cubicBezTo>
                  <a:pt x="6277" y="7543"/>
                  <a:pt x="6562" y="7393"/>
                  <a:pt x="6716" y="7150"/>
                </a:cubicBezTo>
                <a:lnTo>
                  <a:pt x="10897" y="543"/>
                </a:lnTo>
                <a:close/>
                <a:moveTo>
                  <a:pt x="5407" y="19388"/>
                </a:moveTo>
                <a:cubicBezTo>
                  <a:pt x="5204" y="19068"/>
                  <a:pt x="5044" y="18723"/>
                  <a:pt x="4935" y="18357"/>
                </a:cubicBezTo>
                <a:cubicBezTo>
                  <a:pt x="4772" y="17806"/>
                  <a:pt x="4773" y="17169"/>
                  <a:pt x="4773" y="16312"/>
                </a:cubicBezTo>
                <a:cubicBezTo>
                  <a:pt x="4773" y="16264"/>
                  <a:pt x="4773" y="16214"/>
                  <a:pt x="4773" y="16164"/>
                </a:cubicBezTo>
                <a:lnTo>
                  <a:pt x="4773" y="9709"/>
                </a:lnTo>
                <a:cubicBezTo>
                  <a:pt x="4466" y="9719"/>
                  <a:pt x="4297" y="9737"/>
                  <a:pt x="4155" y="9772"/>
                </a:cubicBezTo>
                <a:cubicBezTo>
                  <a:pt x="3332" y="9971"/>
                  <a:pt x="2689" y="10552"/>
                  <a:pt x="2468" y="11296"/>
                </a:cubicBezTo>
                <a:cubicBezTo>
                  <a:pt x="2397" y="11535"/>
                  <a:pt x="2387" y="11860"/>
                  <a:pt x="2387" y="12931"/>
                </a:cubicBezTo>
                <a:lnTo>
                  <a:pt x="2387" y="15302"/>
                </a:lnTo>
                <a:cubicBezTo>
                  <a:pt x="2387" y="16225"/>
                  <a:pt x="2388" y="16853"/>
                  <a:pt x="2432" y="17338"/>
                </a:cubicBezTo>
                <a:cubicBezTo>
                  <a:pt x="2474" y="17810"/>
                  <a:pt x="2551" y="18052"/>
                  <a:pt x="2647" y="18220"/>
                </a:cubicBezTo>
                <a:cubicBezTo>
                  <a:pt x="2876" y="18626"/>
                  <a:pt x="3241" y="18955"/>
                  <a:pt x="3690" y="19162"/>
                </a:cubicBezTo>
                <a:cubicBezTo>
                  <a:pt x="3877" y="19248"/>
                  <a:pt x="4144" y="19318"/>
                  <a:pt x="4667" y="19356"/>
                </a:cubicBezTo>
                <a:cubicBezTo>
                  <a:pt x="4884" y="19372"/>
                  <a:pt x="5128" y="19382"/>
                  <a:pt x="5407" y="19388"/>
                </a:cubicBezTo>
                <a:close/>
                <a:moveTo>
                  <a:pt x="7160" y="9493"/>
                </a:moveTo>
                <a:lnTo>
                  <a:pt x="7160" y="16164"/>
                </a:lnTo>
                <a:cubicBezTo>
                  <a:pt x="7160" y="17236"/>
                  <a:pt x="7170" y="17560"/>
                  <a:pt x="7241" y="17799"/>
                </a:cubicBezTo>
                <a:cubicBezTo>
                  <a:pt x="7462" y="18543"/>
                  <a:pt x="8105" y="19124"/>
                  <a:pt x="8928" y="19324"/>
                </a:cubicBezTo>
                <a:cubicBezTo>
                  <a:pt x="9194" y="19388"/>
                  <a:pt x="9553" y="19397"/>
                  <a:pt x="10739" y="19397"/>
                </a:cubicBezTo>
                <a:lnTo>
                  <a:pt x="13524" y="19397"/>
                </a:lnTo>
                <a:cubicBezTo>
                  <a:pt x="15200" y="19397"/>
                  <a:pt x="15691" y="19377"/>
                  <a:pt x="16076" y="19234"/>
                </a:cubicBezTo>
                <a:cubicBezTo>
                  <a:pt x="16461" y="19090"/>
                  <a:pt x="16799" y="18857"/>
                  <a:pt x="17054" y="18559"/>
                </a:cubicBezTo>
                <a:cubicBezTo>
                  <a:pt x="17307" y="18262"/>
                  <a:pt x="17458" y="17839"/>
                  <a:pt x="17899" y="16379"/>
                </a:cubicBezTo>
                <a:lnTo>
                  <a:pt x="18444" y="14575"/>
                </a:lnTo>
                <a:cubicBezTo>
                  <a:pt x="18744" y="13583"/>
                  <a:pt x="18949" y="12899"/>
                  <a:pt x="19061" y="12366"/>
                </a:cubicBezTo>
                <a:cubicBezTo>
                  <a:pt x="19172" y="11837"/>
                  <a:pt x="19166" y="11567"/>
                  <a:pt x="19122" y="11387"/>
                </a:cubicBezTo>
                <a:cubicBezTo>
                  <a:pt x="18970" y="10768"/>
                  <a:pt x="18524" y="10241"/>
                  <a:pt x="17904" y="9946"/>
                </a:cubicBezTo>
                <a:cubicBezTo>
                  <a:pt x="17722" y="9860"/>
                  <a:pt x="17436" y="9783"/>
                  <a:pt x="16842" y="9741"/>
                </a:cubicBezTo>
                <a:cubicBezTo>
                  <a:pt x="16243" y="9699"/>
                  <a:pt x="15457" y="9698"/>
                  <a:pt x="14319" y="9698"/>
                </a:cubicBezTo>
                <a:cubicBezTo>
                  <a:pt x="13941" y="9698"/>
                  <a:pt x="13584" y="9536"/>
                  <a:pt x="13360" y="9261"/>
                </a:cubicBezTo>
                <a:cubicBezTo>
                  <a:pt x="13134" y="8986"/>
                  <a:pt x="13067" y="8631"/>
                  <a:pt x="13178" y="8304"/>
                </a:cubicBezTo>
                <a:lnTo>
                  <a:pt x="14311" y="4980"/>
                </a:lnTo>
                <a:cubicBezTo>
                  <a:pt x="14722" y="3771"/>
                  <a:pt x="13900" y="2522"/>
                  <a:pt x="12567" y="2246"/>
                </a:cubicBezTo>
                <a:lnTo>
                  <a:pt x="8787" y="8220"/>
                </a:lnTo>
                <a:cubicBezTo>
                  <a:pt x="8415" y="8808"/>
                  <a:pt x="7836" y="9252"/>
                  <a:pt x="7160" y="9493"/>
                </a:cubicBezTo>
                <a:close/>
              </a:path>
            </a:pathLst>
          </a:custGeom>
          <a:solidFill xmlns:a="http://schemas.openxmlformats.org/drawingml/2006/main">
            <a:schemeClr val="dk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7725" tIns="67725" rIns="67725" bIns="677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300"/>
              <a:buFont typeface="Arial"/>
              <a:buNone/>
            </a:pPr>
          </a:p>
        </p:txBody>
      </p:sp>
      <p:sp>
        <p:nvSpPr>
          <p:cNvPr id="18" name="Google Shape;1266;p99">
            <a:extLst xmlns:a="http://schemas.openxmlformats.org/drawingml/2006/main">
              <a:ext uri="{FF2B5EF4-FFF2-40B4-BE49-F238E27FC236}">
                <a16:creationId xmlns:a16="http://schemas.microsoft.com/office/drawing/2014/main" id="{A7463D0C-45D0-FAD2-0C32-032165767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4485" y="4029083"/>
            <a:ext cx="321663" cy="321771"/>
          </a:xfrm>
          <a:custGeom xmlns:a="http://schemas.openxmlformats.org/drawingml/2006/main">
            <a:rect l="l" t="t" r="r" b="b"/>
            <a:pathLst>
              <a:path w="21599" h="21599">
                <a:moveTo>
                  <a:pt x="6252" y="0"/>
                </a:moveTo>
                <a:cubicBezTo>
                  <a:pt x="6880" y="0"/>
                  <a:pt x="7389" y="509"/>
                  <a:pt x="7389" y="1137"/>
                </a:cubicBezTo>
                <a:lnTo>
                  <a:pt x="14210" y="1137"/>
                </a:lnTo>
                <a:cubicBezTo>
                  <a:pt x="14210" y="509"/>
                  <a:pt x="14719" y="0"/>
                  <a:pt x="15347" y="0"/>
                </a:cubicBezTo>
                <a:cubicBezTo>
                  <a:pt x="15974" y="0"/>
                  <a:pt x="16483" y="509"/>
                  <a:pt x="16483" y="1137"/>
                </a:cubicBezTo>
                <a:lnTo>
                  <a:pt x="16483" y="1146"/>
                </a:lnTo>
                <a:cubicBezTo>
                  <a:pt x="16839" y="1155"/>
                  <a:pt x="17162" y="1170"/>
                  <a:pt x="17456" y="1197"/>
                </a:cubicBezTo>
                <a:cubicBezTo>
                  <a:pt x="18049" y="1254"/>
                  <a:pt x="18598" y="1369"/>
                  <a:pt x="19116" y="1632"/>
                </a:cubicBezTo>
                <a:cubicBezTo>
                  <a:pt x="19972" y="2068"/>
                  <a:pt x="20668" y="2764"/>
                  <a:pt x="21103" y="3620"/>
                </a:cubicBezTo>
                <a:cubicBezTo>
                  <a:pt x="21384" y="4171"/>
                  <a:pt x="21497" y="4759"/>
                  <a:pt x="21549" y="5397"/>
                </a:cubicBezTo>
                <a:cubicBezTo>
                  <a:pt x="21599" y="6012"/>
                  <a:pt x="21599" y="6768"/>
                  <a:pt x="21599" y="7684"/>
                </a:cubicBezTo>
                <a:lnTo>
                  <a:pt x="21599" y="13655"/>
                </a:lnTo>
                <a:cubicBezTo>
                  <a:pt x="21599" y="13694"/>
                  <a:pt x="21599" y="13732"/>
                  <a:pt x="21599" y="13771"/>
                </a:cubicBezTo>
                <a:cubicBezTo>
                  <a:pt x="21599" y="14493"/>
                  <a:pt x="21600" y="15037"/>
                  <a:pt x="21473" y="15564"/>
                </a:cubicBezTo>
                <a:cubicBezTo>
                  <a:pt x="21361" y="16027"/>
                  <a:pt x="21178" y="16471"/>
                  <a:pt x="20929" y="16878"/>
                </a:cubicBezTo>
                <a:cubicBezTo>
                  <a:pt x="20646" y="17339"/>
                  <a:pt x="20261" y="17725"/>
                  <a:pt x="19749" y="18235"/>
                </a:cubicBezTo>
                <a:cubicBezTo>
                  <a:pt x="19723" y="18262"/>
                  <a:pt x="19696" y="18290"/>
                  <a:pt x="19667" y="18317"/>
                </a:cubicBezTo>
                <a:lnTo>
                  <a:pt x="18317" y="19667"/>
                </a:lnTo>
                <a:cubicBezTo>
                  <a:pt x="18290" y="19696"/>
                  <a:pt x="18262" y="19723"/>
                  <a:pt x="18235" y="19749"/>
                </a:cubicBezTo>
                <a:cubicBezTo>
                  <a:pt x="17725" y="20260"/>
                  <a:pt x="17339" y="20646"/>
                  <a:pt x="16878" y="20929"/>
                </a:cubicBezTo>
                <a:cubicBezTo>
                  <a:pt x="16471" y="21178"/>
                  <a:pt x="16027" y="21361"/>
                  <a:pt x="15564" y="21473"/>
                </a:cubicBezTo>
                <a:cubicBezTo>
                  <a:pt x="15037" y="21600"/>
                  <a:pt x="14493" y="21599"/>
                  <a:pt x="13771" y="21599"/>
                </a:cubicBezTo>
                <a:cubicBezTo>
                  <a:pt x="13732" y="21599"/>
                  <a:pt x="13694" y="21599"/>
                  <a:pt x="13655" y="21599"/>
                </a:cubicBezTo>
                <a:lnTo>
                  <a:pt x="6547" y="21599"/>
                </a:lnTo>
                <a:cubicBezTo>
                  <a:pt x="5632" y="21599"/>
                  <a:pt x="4876" y="21599"/>
                  <a:pt x="4261" y="21549"/>
                </a:cubicBezTo>
                <a:cubicBezTo>
                  <a:pt x="3622" y="21497"/>
                  <a:pt x="3034" y="21384"/>
                  <a:pt x="2483" y="21103"/>
                </a:cubicBezTo>
                <a:cubicBezTo>
                  <a:pt x="1627" y="20668"/>
                  <a:pt x="931" y="19972"/>
                  <a:pt x="496" y="19116"/>
                </a:cubicBezTo>
                <a:cubicBezTo>
                  <a:pt x="215" y="18565"/>
                  <a:pt x="102" y="17977"/>
                  <a:pt x="50" y="17338"/>
                </a:cubicBezTo>
                <a:cubicBezTo>
                  <a:pt x="0" y="16723"/>
                  <a:pt x="0" y="15967"/>
                  <a:pt x="0" y="15052"/>
                </a:cubicBezTo>
                <a:lnTo>
                  <a:pt x="0" y="7684"/>
                </a:lnTo>
                <a:cubicBezTo>
                  <a:pt x="0" y="6768"/>
                  <a:pt x="0" y="6012"/>
                  <a:pt x="50" y="5397"/>
                </a:cubicBezTo>
                <a:cubicBezTo>
                  <a:pt x="102" y="4759"/>
                  <a:pt x="215" y="4171"/>
                  <a:pt x="496" y="3620"/>
                </a:cubicBezTo>
                <a:cubicBezTo>
                  <a:pt x="931" y="2764"/>
                  <a:pt x="1627" y="2068"/>
                  <a:pt x="2483" y="1632"/>
                </a:cubicBezTo>
                <a:cubicBezTo>
                  <a:pt x="3001" y="1369"/>
                  <a:pt x="3550" y="1254"/>
                  <a:pt x="4142" y="1197"/>
                </a:cubicBezTo>
                <a:cubicBezTo>
                  <a:pt x="4437" y="1170"/>
                  <a:pt x="4760" y="1155"/>
                  <a:pt x="5116" y="1146"/>
                </a:cubicBezTo>
                <a:lnTo>
                  <a:pt x="5116" y="1137"/>
                </a:lnTo>
                <a:cubicBezTo>
                  <a:pt x="5116" y="509"/>
                  <a:pt x="5625" y="0"/>
                  <a:pt x="6252" y="0"/>
                </a:cubicBezTo>
                <a:close/>
                <a:moveTo>
                  <a:pt x="5116" y="3421"/>
                </a:moveTo>
                <a:cubicBezTo>
                  <a:pt x="4822" y="3427"/>
                  <a:pt x="4576" y="3440"/>
                  <a:pt x="4358" y="3460"/>
                </a:cubicBezTo>
                <a:cubicBezTo>
                  <a:pt x="3916" y="3502"/>
                  <a:pt x="3681" y="3573"/>
                  <a:pt x="3515" y="3658"/>
                </a:cubicBezTo>
                <a:cubicBezTo>
                  <a:pt x="3088" y="3876"/>
                  <a:pt x="2740" y="4224"/>
                  <a:pt x="2521" y="4652"/>
                </a:cubicBezTo>
                <a:cubicBezTo>
                  <a:pt x="2430" y="4829"/>
                  <a:pt x="2357" y="5085"/>
                  <a:pt x="2317" y="5583"/>
                </a:cubicBezTo>
                <a:cubicBezTo>
                  <a:pt x="2275" y="6094"/>
                  <a:pt x="2274" y="6756"/>
                  <a:pt x="2274" y="7730"/>
                </a:cubicBezTo>
                <a:lnTo>
                  <a:pt x="2274" y="15006"/>
                </a:lnTo>
                <a:cubicBezTo>
                  <a:pt x="2274" y="15980"/>
                  <a:pt x="2275" y="16641"/>
                  <a:pt x="2317" y="17153"/>
                </a:cubicBezTo>
                <a:cubicBezTo>
                  <a:pt x="2357" y="17651"/>
                  <a:pt x="2430" y="17907"/>
                  <a:pt x="2521" y="18084"/>
                </a:cubicBezTo>
                <a:cubicBezTo>
                  <a:pt x="2740" y="18511"/>
                  <a:pt x="3088" y="18859"/>
                  <a:pt x="3515" y="19077"/>
                </a:cubicBezTo>
                <a:cubicBezTo>
                  <a:pt x="3692" y="19168"/>
                  <a:pt x="3948" y="19242"/>
                  <a:pt x="4446" y="19282"/>
                </a:cubicBezTo>
                <a:cubicBezTo>
                  <a:pt x="4958" y="19324"/>
                  <a:pt x="5619" y="19325"/>
                  <a:pt x="6593" y="19325"/>
                </a:cubicBezTo>
                <a:lnTo>
                  <a:pt x="13073" y="19325"/>
                </a:lnTo>
                <a:lnTo>
                  <a:pt x="13073" y="18189"/>
                </a:lnTo>
                <a:cubicBezTo>
                  <a:pt x="13073" y="15677"/>
                  <a:pt x="15109" y="13641"/>
                  <a:pt x="17620" y="13641"/>
                </a:cubicBezTo>
                <a:lnTo>
                  <a:pt x="18757" y="13641"/>
                </a:lnTo>
                <a:cubicBezTo>
                  <a:pt x="18964" y="13641"/>
                  <a:pt x="19158" y="13697"/>
                  <a:pt x="19325" y="13794"/>
                </a:cubicBezTo>
                <a:cubicBezTo>
                  <a:pt x="19325" y="13749"/>
                  <a:pt x="19325" y="13703"/>
                  <a:pt x="19325" y="13655"/>
                </a:cubicBezTo>
                <a:lnTo>
                  <a:pt x="19325" y="7730"/>
                </a:lnTo>
                <a:cubicBezTo>
                  <a:pt x="19325" y="6756"/>
                  <a:pt x="19324" y="6094"/>
                  <a:pt x="19282" y="5583"/>
                </a:cubicBezTo>
                <a:cubicBezTo>
                  <a:pt x="19242" y="5085"/>
                  <a:pt x="19168" y="4829"/>
                  <a:pt x="19077" y="4652"/>
                </a:cubicBezTo>
                <a:cubicBezTo>
                  <a:pt x="18859" y="4224"/>
                  <a:pt x="18511" y="3876"/>
                  <a:pt x="18084" y="3658"/>
                </a:cubicBezTo>
                <a:cubicBezTo>
                  <a:pt x="17918" y="3573"/>
                  <a:pt x="17683" y="3502"/>
                  <a:pt x="17240" y="3460"/>
                </a:cubicBezTo>
                <a:cubicBezTo>
                  <a:pt x="17023" y="3440"/>
                  <a:pt x="16777" y="3427"/>
                  <a:pt x="16483" y="3421"/>
                </a:cubicBezTo>
                <a:lnTo>
                  <a:pt x="16483" y="4547"/>
                </a:lnTo>
                <a:cubicBezTo>
                  <a:pt x="16483" y="5175"/>
                  <a:pt x="15974" y="5684"/>
                  <a:pt x="15347" y="5684"/>
                </a:cubicBezTo>
                <a:cubicBezTo>
                  <a:pt x="14719" y="5684"/>
                  <a:pt x="14210" y="5175"/>
                  <a:pt x="14210" y="4547"/>
                </a:cubicBezTo>
                <a:lnTo>
                  <a:pt x="14210" y="3410"/>
                </a:lnTo>
                <a:lnTo>
                  <a:pt x="7389" y="3410"/>
                </a:lnTo>
                <a:lnTo>
                  <a:pt x="7389" y="4547"/>
                </a:lnTo>
                <a:cubicBezTo>
                  <a:pt x="7389" y="5175"/>
                  <a:pt x="6880" y="5684"/>
                  <a:pt x="6252" y="5684"/>
                </a:cubicBezTo>
                <a:cubicBezTo>
                  <a:pt x="5625" y="5684"/>
                  <a:pt x="5116" y="5175"/>
                  <a:pt x="5116" y="4547"/>
                </a:cubicBezTo>
                <a:lnTo>
                  <a:pt x="5116" y="3421"/>
                </a:lnTo>
                <a:close/>
                <a:moveTo>
                  <a:pt x="18827" y="15913"/>
                </a:moveTo>
                <a:cubicBezTo>
                  <a:pt x="18804" y="15914"/>
                  <a:pt x="18781" y="15915"/>
                  <a:pt x="18757" y="15915"/>
                </a:cubicBezTo>
                <a:lnTo>
                  <a:pt x="17620" y="15915"/>
                </a:lnTo>
                <a:cubicBezTo>
                  <a:pt x="16364" y="15915"/>
                  <a:pt x="15347" y="16932"/>
                  <a:pt x="15347" y="18189"/>
                </a:cubicBezTo>
                <a:lnTo>
                  <a:pt x="15347" y="19163"/>
                </a:lnTo>
                <a:cubicBezTo>
                  <a:pt x="15466" y="19115"/>
                  <a:pt x="15581" y="19057"/>
                  <a:pt x="15690" y="18990"/>
                </a:cubicBezTo>
                <a:cubicBezTo>
                  <a:pt x="15893" y="18866"/>
                  <a:pt x="16081" y="18689"/>
                  <a:pt x="16710" y="18060"/>
                </a:cubicBezTo>
                <a:lnTo>
                  <a:pt x="18060" y="16710"/>
                </a:lnTo>
                <a:cubicBezTo>
                  <a:pt x="18472" y="16297"/>
                  <a:pt x="18690" y="16074"/>
                  <a:pt x="18827" y="15913"/>
                </a:cubicBezTo>
                <a:close/>
              </a:path>
            </a:pathLst>
          </a:custGeom>
          <a:solidFill xmlns:a="http://schemas.openxmlformats.org/drawingml/2006/main">
            <a:schemeClr val="dk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7725" tIns="67725" rIns="67725" bIns="677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300"/>
              <a:buFont typeface="Arial"/>
              <a:buNone/>
            </a:pPr>
          </a:p>
        </p:txBody>
      </p:sp>
      <p:sp>
        <p:nvSpPr>
          <p:cNvPr id="19" name="Footer Placeholder 18">
            <a:extLst xmlns:a="http://schemas.openxmlformats.org/drawingml/2006/main">
              <a:ext uri="{FF2B5EF4-FFF2-40B4-BE49-F238E27FC236}">
                <a16:creationId xmlns:a16="http://schemas.microsoft.com/office/drawing/2014/main" id="{A7C685AE-794E-F9C0-C7B3-7E956842DD9D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CabotageLens | Trabalho de Formatura</a:t>
            </a:r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9892F439-FAFA-E9E4-AA65-F7A04500A779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0394428-F1DC-E5F6-DB0C-7DE31F3D8A23}" type="slidenum">
              <a:t>11</a:t>
            </a:fld>
          </a:p>
        </p:txBody>
      </p:sp>
    </p:spTree>
    <p:extLst>
      <p:ext uri="{BB962C8B-B14F-4D97-AF65-F5344CB8AC3E}">
        <p14:creationId xmlns:p14="http://schemas.microsoft.com/office/powerpoint/2010/main" val="2342105169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08EBC4B8-BBC1-7C2A-F77D-BEC6394B0F9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9"/>
            <a:ext cx="7835900" cy="58158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>Alternativa rodoviária: do veículo ao resultado</a:t>
            </a:r>
          </a:p>
        </p:txBody>
      </p:sp>
      <p:sp>
        <p:nvSpPr>
          <p:cNvPr id="14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D81689CF-E5CF-3072-801D-DC2D321D4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939" y="1021193"/>
            <a:ext cx="11404599" cy="104855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0" indent="0" algn="l" defTabSz="914400">
              <a:lnSpc>
                <a:spcPct val="90000"/>
              </a:lnSpc>
              <a:spcBef>
                <a:spcPts val="10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1400">
                <a:solidFill>
                  <a:prstClr val="black"/>
                </a:solidFill>
                <a:latin typeface="Helvetica Neue Medium"/>
                <a:ea typeface="Helvetica Neue Medium"/>
                <a:cs typeface="Helvetica Neue Medium"/>
              </a:rPr>
              <a:t>Regra de cálculo</a:t>
            </a:r>
          </a:p>
          <a:p xmlns:a="http://schemas.openxmlformats.org/drawingml/2006/main">
            <a:pPr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14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Vdiesel = Nviagens × Drod / ηrod; custo = V × P; emissões = V × FE.</a:t>
            </a:r>
          </a:p>
        </p:txBody>
      </p:sp>
      <p:graphicFrame>
        <p:nvGraphicFramePr>
          <p:cNvPr id="537" name="Google Shape;644;p93"/>
          <p:cNvGraphicFramePr/>
          <p:nvPr/>
        </p:nvGraphicFramePr>
        <p:xfrm>
          <a:off xmlns:a="http://schemas.openxmlformats.org/drawingml/2006/main" x="393700" y="2251080"/>
          <a:ext xmlns:a="http://schemas.openxmlformats.org/drawingml/2006/main" cx="11404599" cy="3932614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906063"/>
                <a:gridCol w="1874634"/>
                <a:gridCol w="1874634"/>
                <a:gridCol w="1874634"/>
                <a:gridCol w="1874634"/>
              </a:tblGrid>
              <a:tr h="437022"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 b="1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Parâmetro</a:t>
                      </a: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19050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sz="1400" b="1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Símbolo</a:t>
                      </a: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19050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 b="1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Valor</a:t>
                      </a: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19050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sz="1400" b="1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Unidade</a:t>
                      </a: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19050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sz="1400" b="1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Papel</a:t>
                      </a: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19050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</a:lnB>
                  </a:tcPr>
                </a:tc>
              </a:tr>
              <a:tr h="436949"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Massa</a:t>
                      </a: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m</a:t>
                      </a: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14</a:t>
                      </a: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t</a:t>
                      </a: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seleciona o veículo</a:t>
                      </a: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</a:tr>
              <a:tr h="436949"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Veículo</a:t>
                      </a: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—</a:t>
                      </a: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carreta · 5 eixos</a:t>
                      </a: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—</a:t>
                      </a: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faixa até 18 t</a:t>
                      </a: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</a:tr>
              <a:tr h="436949"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Distância</a:t>
                      </a: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Drod</a:t>
                      </a: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3.491,431</a:t>
                      </a: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km</a:t>
                      </a: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rota rodoviária</a:t>
                      </a: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</a:tr>
              <a:tr h="436949"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Eficiência</a:t>
                      </a: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ηrod</a:t>
                      </a: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2,3</a:t>
                      </a: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km/L</a:t>
                      </a: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referência ANTT</a:t>
                      </a: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</a:tr>
              <a:tr h="436949"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Viagens</a:t>
                      </a: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N</a:t>
                      </a: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1</a:t>
                      </a: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viagem</a:t>
                      </a: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capacidade suficiente</a:t>
                      </a: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</a:tr>
              <a:tr h="436949"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Diesel</a:t>
                      </a: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V</a:t>
                      </a: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1.518,014</a:t>
                      </a: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L</a:t>
                      </a: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N × D / η</a:t>
                      </a: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</a:tr>
              <a:tr h="436949"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Preço</a:t>
                      </a: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P</a:t>
                      </a: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8,115</a:t>
                      </a: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R$/L</a:t>
                      </a: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média SP e AC</a:t>
                      </a: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</a:tr>
              <a:tr h="436949"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Emissões</a:t>
                      </a: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E</a:t>
                      </a: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4.068,28</a:t>
                      </a: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kg CO₂e</a:t>
                      </a: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V × FE</a:t>
                      </a: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B8357537-167D-0462-A21D-DD8E87444BE4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CabotageLens | Trabalho de Formatura</a:t>
            </a:r>
          </a:p>
        </p:txBody>
      </p:sp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BF440A81-02FE-A94E-7F97-15248A945F35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DB16885-0D3F-A391-B669-3211DB3B26E8}" type="slidenum">
              <a:t>12</a:t>
            </a:fld>
          </a:p>
        </p:txBody>
      </p:sp>
    </p:spTree>
    <p:extLst>
      <p:ext uri="{BB962C8B-B14F-4D97-AF65-F5344CB8AC3E}">
        <p14:creationId xmlns:p14="http://schemas.microsoft.com/office/powerpoint/2010/main" val="329854879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Rounded Rectangle 5">
            <a:extLst xmlns:a="http://schemas.openxmlformats.org/drawingml/2006/main">
              <a:ext uri="{FF2B5EF4-FFF2-40B4-BE49-F238E27FC236}">
                <a16:creationId xmlns:a16="http://schemas.microsoft.com/office/drawing/2014/main" id="{3595FF69-AA88-8653-2D13-3E0289A12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3022600"/>
            <a:ext cx="3568700" cy="2971800"/>
          </a:xfrm>
          <a:prstGeom xmlns:a="http://schemas.openxmlformats.org/drawingml/2006/main" prst="roundRect">
            <a:avLst>
              <a:gd name="adj" fmla="val 3585"/>
            </a:avLst>
          </a:prstGeom>
          <a:solidFill xmlns:a="http://schemas.openxmlformats.org/drawingml/2006/main">
            <a:srgbClr val="F9FCFF"/>
          </a:solidFill>
          <a:ln xmlns:a="http://schemas.openxmlformats.org/drawingml/2006/main">
            <a:solidFill>
              <a:srgbClr val="EFF1F5"/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Rounded Rectangle 6">
            <a:extLst xmlns:a="http://schemas.openxmlformats.org/drawingml/2006/main">
              <a:ext uri="{FF2B5EF4-FFF2-40B4-BE49-F238E27FC236}">
                <a16:creationId xmlns:a16="http://schemas.microsoft.com/office/drawing/2014/main" id="{E3AFD29D-9AD2-841D-0915-B4BDDC09C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1650" y="3022600"/>
            <a:ext cx="3568700" cy="2971800"/>
          </a:xfrm>
          <a:prstGeom xmlns:a="http://schemas.openxmlformats.org/drawingml/2006/main" prst="roundRect">
            <a:avLst>
              <a:gd name="adj" fmla="val 3585"/>
            </a:avLst>
          </a:prstGeom>
          <a:solidFill xmlns:a="http://schemas.openxmlformats.org/drawingml/2006/main">
            <a:srgbClr val="F9FCFF"/>
          </a:solidFill>
          <a:ln xmlns:a="http://schemas.openxmlformats.org/drawingml/2006/main">
            <a:solidFill>
              <a:srgbClr val="EFF1F5"/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Rounded Rectangle 7">
            <a:extLst xmlns:a="http://schemas.openxmlformats.org/drawingml/2006/main">
              <a:ext uri="{FF2B5EF4-FFF2-40B4-BE49-F238E27FC236}">
                <a16:creationId xmlns:a16="http://schemas.microsoft.com/office/drawing/2014/main" id="{7A10D6BE-4B8A-E31D-9AC6-AEB4FCD51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2297" y="3022600"/>
            <a:ext cx="3568700" cy="2971800"/>
          </a:xfrm>
          <a:prstGeom xmlns:a="http://schemas.openxmlformats.org/drawingml/2006/main" prst="roundRect">
            <a:avLst>
              <a:gd name="adj" fmla="val 3585"/>
            </a:avLst>
          </a:prstGeom>
          <a:solidFill xmlns:a="http://schemas.openxmlformats.org/drawingml/2006/main">
            <a:srgbClr val="F9FCFF"/>
          </a:solidFill>
          <a:ln xmlns:a="http://schemas.openxmlformats.org/drawingml/2006/main">
            <a:solidFill>
              <a:srgbClr val="EFF1F5"/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0" name="Content Placeholder 9">
            <a:extLst xmlns:a="http://schemas.openxmlformats.org/drawingml/2006/main">
              <a:ext uri="{FF2B5EF4-FFF2-40B4-BE49-F238E27FC236}">
                <a16:creationId xmlns:a16="http://schemas.microsoft.com/office/drawing/2014/main" id="{E8352425-466B-B7C0-4556-B12F3F4F6DB3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703381" y="3554174"/>
            <a:ext cx="2949339" cy="818677"/>
          </a:xfrm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ClrTx/>
              <a:buSzTx/>
              <a:buFontTx/>
              <a:buNone/>
            </a:pPr>
            <a:r>
              <a:rPr sz="1600" b="0" i="0" u="none" cap="none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Distância</a:t>
            </a:r>
          </a:p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ClrTx/>
              <a:buSzTx/>
              <a:buFontTx/>
              <a:buNone/>
            </a:pPr>
            <a:r>
              <a:rPr sz="1600" b="0" i="0" u="none" cap="none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malha rodoviária</a:t>
            </a:r>
          </a:p>
        </p:txBody>
      </p:sp>
      <p:sp>
        <p:nvSpPr>
          <p:cNvPr id="11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9D1B4876-C319-B371-36B9-745CADB662E1}"/>
              </a:ext>
            </a:extLst>
          </p:cNvPr>
          <p:cNvSpPr>
            <a:spLocks xmlns:a="http://schemas.openxmlformats.org/drawingml/2006/main" noGrp="1"/>
          </p:cNvSpPr>
          <p:nvPr>
            <p:ph idx="10"/>
          </p:nvPr>
        </p:nvSpPr>
        <p:spPr>
          <a:xfrm xmlns:a="http://schemas.openxmlformats.org/drawingml/2006/main">
            <a:off x="4627681" y="3554174"/>
            <a:ext cx="2949339" cy="818677"/>
          </a:xfrm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ClrTx/>
              <a:buSzTx/>
              <a:buFontTx/>
              <a:buNone/>
            </a:pPr>
            <a:r>
              <a:rPr sz="1600" b="0" i="0" u="none" cap="none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Emissões TTW</a:t>
            </a:r>
          </a:p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ClrTx/>
              <a:buSzTx/>
              <a:buFontTx/>
              <a:buNone/>
            </a:pPr>
            <a:r>
              <a:rPr sz="1600" b="0" i="0" u="none" cap="none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fator de 2,68 kg CO₂e/L</a:t>
            </a:r>
          </a:p>
        </p:txBody>
      </p:sp>
      <p:sp>
        <p:nvSpPr>
          <p:cNvPr id="12" name="Content Placeholder 11">
            <a:extLst xmlns:a="http://schemas.openxmlformats.org/drawingml/2006/main">
              <a:ext uri="{FF2B5EF4-FFF2-40B4-BE49-F238E27FC236}">
                <a16:creationId xmlns:a16="http://schemas.microsoft.com/office/drawing/2014/main" id="{1BDFAF15-9B61-BA2E-0381-0DE8F578A81F}"/>
              </a:ext>
            </a:extLst>
          </p:cNvPr>
          <p:cNvSpPr>
            <a:spLocks xmlns:a="http://schemas.openxmlformats.org/drawingml/2006/main" noGrp="1"/>
          </p:cNvSpPr>
          <p:nvPr>
            <p:ph idx="11"/>
          </p:nvPr>
        </p:nvSpPr>
        <p:spPr>
          <a:xfrm xmlns:a="http://schemas.openxmlformats.org/drawingml/2006/main">
            <a:off x="8541954" y="3554174"/>
            <a:ext cx="2949339" cy="818677"/>
          </a:xfrm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ClrTx/>
              <a:buSzTx/>
              <a:buFontTx/>
              <a:buNone/>
            </a:pPr>
            <a:r>
              <a:rPr sz="1600" b="0" i="0" u="none" cap="none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Custo de combustível</a:t>
            </a:r>
          </a:p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ClrTx/>
              <a:buSzTx/>
              <a:buFontTx/>
              <a:buNone/>
            </a:pPr>
            <a:r>
              <a:rPr sz="1600" b="0" i="0" u="none" cap="none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R$ · Diesel S10</a:t>
            </a:r>
          </a:p>
        </p:txBody>
      </p:sp>
      <p:sp>
        <p:nvSpPr>
          <p:cNvPr id="3" name="Title 2">
            <a:extLst xmlns:a="http://schemas.openxmlformats.org/drawingml/2006/main">
              <a:ext uri="{FF2B5EF4-FFF2-40B4-BE49-F238E27FC236}">
                <a16:creationId xmlns:a16="http://schemas.microsoft.com/office/drawing/2014/main" id="{B64EBD68-6C7C-E1E5-F754-A2CABD28D4B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62794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Resultado consolidado da alternativa rodoviária</a:t>
            </a:r>
          </a:p>
        </p:txBody>
      </p:sp>
      <p:sp>
        <p:nvSpPr>
          <p:cNvPr id="13" name="Content Placeholder 9">
            <a:extLst xmlns:a="http://schemas.openxmlformats.org/drawingml/2006/main">
              <a:ext uri="{FF2B5EF4-FFF2-40B4-BE49-F238E27FC236}">
                <a16:creationId xmlns:a16="http://schemas.microsoft.com/office/drawing/2014/main" id="{EDBA9068-3E52-4988-B608-4CED930E4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413" y="4356100"/>
            <a:ext cx="2940124" cy="122955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>
            <a:normAutofit fontScale="85472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2540" marR="0" lvl="0" indent="0" algn="l" defTabSz="9144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Pts val="1400"/>
              <a:buNone/>
            </a:pPr>
            <a:r>
              <a:rPr sz="7200" b="0" i="0" u="none" cap="none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3.491 km</a:t>
            </a:r>
          </a:p>
        </p:txBody>
      </p:sp>
      <p:sp>
        <p:nvSpPr>
          <p:cNvPr id="4" name="Content Placeholder 9">
            <a:extLst xmlns:a="http://schemas.openxmlformats.org/drawingml/2006/main">
              <a:ext uri="{FF2B5EF4-FFF2-40B4-BE49-F238E27FC236}">
                <a16:creationId xmlns:a16="http://schemas.microsoft.com/office/drawing/2014/main" id="{553D01BD-BEDA-E1D7-8112-CCD78E0BB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2932" y="4356100"/>
            <a:ext cx="2940124" cy="122955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>
            <a:normAutofit fontScale="56619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2540" marR="0" lvl="0" indent="0" algn="l" defTabSz="9144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Pts val="1400"/>
              <a:buNone/>
            </a:pPr>
            <a:r>
              <a:rPr sz="7200" b="0" i="0" u="none" cap="none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4.068 kg CO₂e</a:t>
            </a:r>
          </a:p>
        </p:txBody>
      </p:sp>
      <p:sp>
        <p:nvSpPr>
          <p:cNvPr id="5" name="Content Placeholder 9">
            <a:extLst xmlns:a="http://schemas.openxmlformats.org/drawingml/2006/main">
              <a:ext uri="{FF2B5EF4-FFF2-40B4-BE49-F238E27FC236}">
                <a16:creationId xmlns:a16="http://schemas.microsoft.com/office/drawing/2014/main" id="{5AE7C386-15B3-0C22-BD29-DB00B9F7F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2362" y="4356100"/>
            <a:ext cx="2940124" cy="122955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2540" marR="0" lvl="0" indent="0" algn="l" defTabSz="9144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Pts val="1400"/>
              <a:buNone/>
            </a:pPr>
            <a:r>
              <a:rPr sz="7200" b="0" i="0" u="none" cap="none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12.319</a:t>
            </a:r>
          </a:p>
        </p:txBody>
      </p:sp>
      <p:sp>
        <p:nvSpPr>
          <p:cNvPr id="14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45E38982-B0CA-BEBE-C656-B7F62835A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1138300"/>
            <a:ext cx="11404599" cy="159940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0" indent="0" algn="l" defTabSz="914400">
              <a:lnSpc>
                <a:spcPct val="90000"/>
              </a:lnSpc>
              <a:spcBef>
                <a:spcPts val="10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1800">
                <a:solidFill>
                  <a:prstClr val="black"/>
                </a:solidFill>
                <a:latin typeface="Helvetica Neue Medium"/>
                <a:ea typeface="Helvetica Neue Medium"/>
                <a:cs typeface="Helvetica Neue Medium"/>
              </a:rPr>
              <a:t>São Paulo → Rio Branco · 14 t</a:t>
            </a:r>
          </a:p>
          <a:p xmlns:a="http://schemas.openxmlformats.org/drawingml/2006/main">
            <a:pPr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Carreta de cinco eixos, uma viagem carregada e Diesel S10.</a:t>
            </a:r>
          </a:p>
        </p:txBody>
      </p:sp>
      <p:sp>
        <p:nvSpPr>
          <p:cNvPr id="15" name="Footer Placeholder 14">
            <a:extLst xmlns:a="http://schemas.openxmlformats.org/drawingml/2006/main">
              <a:ext uri="{FF2B5EF4-FFF2-40B4-BE49-F238E27FC236}">
                <a16:creationId xmlns:a16="http://schemas.microsoft.com/office/drawing/2014/main" id="{2A6376E7-C0FC-2608-D121-2037E3C1CDF9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CabotageLens | Trabalho de Formatura</a:t>
            </a:r>
          </a:p>
        </p:txBody>
      </p:sp>
      <p:sp>
        <p:nvSpPr>
          <p:cNvPr id="9" name="Slide Number Placeholder 8">
            <a:extLst xmlns:a="http://schemas.openxmlformats.org/drawingml/2006/main">
              <a:ext uri="{FF2B5EF4-FFF2-40B4-BE49-F238E27FC236}">
                <a16:creationId xmlns:a16="http://schemas.microsoft.com/office/drawing/2014/main" id="{2A285ADF-608D-E057-1D6B-3F7AD810768D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2DD23107-4986-8758-3A93-3D74F35908CC}" type="slidenum">
              <a:t>13</a:t>
            </a:fld>
          </a:p>
        </p:txBody>
      </p:sp>
    </p:spTree>
    <p:extLst>
      <p:ext uri="{BB962C8B-B14F-4D97-AF65-F5344CB8AC3E}">
        <p14:creationId xmlns:p14="http://schemas.microsoft.com/office/powerpoint/2010/main" val="2369616825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8B77B614-E3C4-8964-0877-92800631D48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699" y="344009"/>
            <a:ext cx="11404599" cy="5957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>A alternativa multimodal reúne quatro componentes</a:t>
            </a:r>
          </a:p>
        </p:txBody>
      </p:sp>
      <p:sp>
        <p:nvSpPr>
          <p:cNvPr id="7" name="Rounded Rectangle 6">
            <a:extLst xmlns:a="http://schemas.openxmlformats.org/drawingml/2006/main">
              <a:ext uri="{FF2B5EF4-FFF2-40B4-BE49-F238E27FC236}">
                <a16:creationId xmlns:a16="http://schemas.microsoft.com/office/drawing/2014/main" id="{24774D92-572F-796B-CFA0-75F5BDE34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4412" y="2369856"/>
            <a:ext cx="5533887" cy="1638300"/>
          </a:xfrm>
          <a:prstGeom xmlns:a="http://schemas.openxmlformats.org/drawingml/2006/main" prst="roundRect">
            <a:avLst>
              <a:gd name="adj" fmla="val 3585"/>
            </a:avLst>
          </a:prstGeom>
          <a:solidFill xmlns:a="http://schemas.openxmlformats.org/drawingml/2006/main">
            <a:srgbClr val="F9FCFF"/>
          </a:solidFill>
          <a:ln xmlns:a="http://schemas.openxmlformats.org/drawingml/2006/main">
            <a:solidFill>
              <a:srgbClr val="EFF1F5"/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C0439ECA-9193-112F-E7E6-326447CEF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1647" y="2664788"/>
            <a:ext cx="4986886" cy="104843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0000"/>
              </a:lnSpc>
              <a:spcBef>
                <a:spcPts val="0"/>
              </a:spcBef>
              <a:buFontTx/>
              <a:buNone/>
            </a:pP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Navegação</a:t>
            </a:r>
          </a:p>
          <a:p xmlns:a="http://schemas.openxmlformats.org/drawingml/2006/main">
            <a:pPr marL="0" indent="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FontTx/>
              <a:buNone/>
            </a:pP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Santos → Manaus
6.094,975 km.</a:t>
            </a:r>
          </a:p>
        </p:txBody>
      </p:sp>
      <p:sp>
        <p:nvSpPr>
          <p:cNvPr id="9" name="Rounded Rectangle 8">
            <a:extLst xmlns:a="http://schemas.openxmlformats.org/drawingml/2006/main">
              <a:ext uri="{FF2B5EF4-FFF2-40B4-BE49-F238E27FC236}">
                <a16:creationId xmlns:a16="http://schemas.microsoft.com/office/drawing/2014/main" id="{BED27E76-B721-E464-2478-718E91A64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043" y="2369856"/>
            <a:ext cx="5533887" cy="1638300"/>
          </a:xfrm>
          <a:prstGeom xmlns:a="http://schemas.openxmlformats.org/drawingml/2006/main" prst="roundRect">
            <a:avLst>
              <a:gd name="adj" fmla="val 3585"/>
            </a:avLst>
          </a:prstGeom>
          <a:solidFill xmlns:a="http://schemas.openxmlformats.org/drawingml/2006/main">
            <a:srgbClr val="F9FCFF"/>
          </a:solidFill>
          <a:ln xmlns:a="http://schemas.openxmlformats.org/drawingml/2006/main">
            <a:solidFill>
              <a:srgbClr val="EFF1F5"/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0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40DA34A0-E630-37E8-0332-0E57245DC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278" y="2664788"/>
            <a:ext cx="4986886" cy="104843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marR="0" lvl="0" indent="0" algn="l" defTabSz="9144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1600" b="0" i="0" u="none" cap="none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First mile</a:t>
            </a:r>
          </a:p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ClrTx/>
              <a:buSzTx/>
              <a:buFontTx/>
              <a:buNone/>
            </a:pPr>
            <a:r>
              <a:rPr sz="1600" b="0" i="0" u="none" cap="none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São Paulo → Porto de Santos
86,170 km.</a:t>
            </a:r>
          </a:p>
        </p:txBody>
      </p:sp>
      <p:sp>
        <p:nvSpPr>
          <p:cNvPr id="2" name="Rounded Rectangle 1">
            <a:extLst xmlns:a="http://schemas.openxmlformats.org/drawingml/2006/main">
              <a:ext uri="{FF2B5EF4-FFF2-40B4-BE49-F238E27FC236}">
                <a16:creationId xmlns:a16="http://schemas.microsoft.com/office/drawing/2014/main" id="{F421FB3D-82DC-94B6-ADD3-99BB3C8E5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4412" y="4370106"/>
            <a:ext cx="5533887" cy="1638300"/>
          </a:xfrm>
          <a:prstGeom xmlns:a="http://schemas.openxmlformats.org/drawingml/2006/main" prst="roundRect">
            <a:avLst>
              <a:gd name="adj" fmla="val 3585"/>
            </a:avLst>
          </a:prstGeom>
          <a:solidFill xmlns:a="http://schemas.openxmlformats.org/drawingml/2006/main">
            <a:srgbClr val="F9FCFF"/>
          </a:solidFill>
          <a:ln xmlns:a="http://schemas.openxmlformats.org/drawingml/2006/main">
            <a:solidFill>
              <a:srgbClr val="EFF1F5"/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9122C651-AF0B-D7E1-E9EF-3F4BC1C58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1647" y="4665038"/>
            <a:ext cx="4986886" cy="104843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0000"/>
              </a:lnSpc>
              <a:spcBef>
                <a:spcPts val="0"/>
              </a:spcBef>
              <a:buFontTx/>
              <a:buNone/>
            </a:pP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Last mile</a:t>
            </a:r>
          </a:p>
          <a:p xmlns:a="http://schemas.openxmlformats.org/drawingml/2006/main">
            <a:pPr marL="0" indent="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FontTx/>
              <a:buNone/>
            </a:pP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Porto de Manaus → Rio Branco
1.403,691 km.</a:t>
            </a:r>
          </a:p>
        </p:txBody>
      </p:sp>
      <p:sp>
        <p:nvSpPr>
          <p:cNvPr id="4" name="Rounded Rectangle 3">
            <a:extLst xmlns:a="http://schemas.openxmlformats.org/drawingml/2006/main">
              <a:ext uri="{FF2B5EF4-FFF2-40B4-BE49-F238E27FC236}">
                <a16:creationId xmlns:a16="http://schemas.microsoft.com/office/drawing/2014/main" id="{EDA590ED-3B5F-06BC-B0E9-C6DC4E8BB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043" y="4370106"/>
            <a:ext cx="5533887" cy="1638300"/>
          </a:xfrm>
          <a:prstGeom xmlns:a="http://schemas.openxmlformats.org/drawingml/2006/main" prst="roundRect">
            <a:avLst>
              <a:gd name="adj" fmla="val 3585"/>
            </a:avLst>
          </a:prstGeom>
          <a:solidFill xmlns:a="http://schemas.openxmlformats.org/drawingml/2006/main">
            <a:srgbClr val="F9FCFF"/>
          </a:solidFill>
          <a:ln xmlns:a="http://schemas.openxmlformats.org/drawingml/2006/main">
            <a:solidFill>
              <a:srgbClr val="EFF1F5"/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EB1BBBB3-DA5C-C3DF-7DD6-33AB7A853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278" y="4665038"/>
            <a:ext cx="4986886" cy="104843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0000"/>
              </a:lnSpc>
              <a:spcBef>
                <a:spcPts val="0"/>
              </a:spcBef>
              <a:buFontTx/>
              <a:buNone/>
            </a:pP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Operações portuárias</a:t>
            </a:r>
          </a:p>
          <a:p xmlns:a="http://schemas.openxmlformats.org/drawingml/2006/main">
            <a:pPr marL="0" indent="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FontTx/>
              <a:buNone/>
            </a:pP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Movimentação nos dois terminais.</a:t>
            </a:r>
          </a:p>
        </p:txBody>
      </p:sp>
      <p:sp>
        <p:nvSpPr>
          <p:cNvPr id="6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04E6B723-686B-D8DD-4DA5-3E62BDE49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939" y="1057501"/>
            <a:ext cx="11404599" cy="1012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0" indent="0" algn="l" defTabSz="914400">
              <a:lnSpc>
                <a:spcPct val="90000"/>
              </a:lnSpc>
              <a:spcBef>
                <a:spcPts val="10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1800">
                <a:solidFill>
                  <a:schemeClr val="accent1"/>
                </a:solidFill>
                <a:latin typeface="Helvetica Neue Medium"/>
                <a:ea typeface="Helvetica Neue Medium"/>
                <a:cs typeface="Helvetica Neue Medium"/>
              </a:rPr>
              <a:t>Cadeia porta a porta</a:t>
            </a:r>
          </a:p>
          <a:p xmlns:a="http://schemas.openxmlformats.org/drawingml/2006/main">
            <a:pPr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Cada componente conserva seu combustível, fator e preço até a agregação final.</a:t>
            </a:r>
          </a:p>
        </p:txBody>
      </p:sp>
      <p:sp>
        <p:nvSpPr>
          <p:cNvPr id="11" name="Footer Placeholder 10">
            <a:extLst xmlns:a="http://schemas.openxmlformats.org/drawingml/2006/main">
              <a:ext uri="{FF2B5EF4-FFF2-40B4-BE49-F238E27FC236}">
                <a16:creationId xmlns:a16="http://schemas.microsoft.com/office/drawing/2014/main" id="{C4B207BF-6BAB-0D91-F12C-1E6FFBCC4202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CabotageLens | Trabalho de Formatura</a:t>
            </a:r>
          </a:p>
        </p:txBody>
      </p:sp>
      <p:sp>
        <p:nvSpPr>
          <p:cNvPr id="12" name="Slide Number Placeholder 11">
            <a:extLst xmlns:a="http://schemas.openxmlformats.org/drawingml/2006/main">
              <a:ext uri="{FF2B5EF4-FFF2-40B4-BE49-F238E27FC236}">
                <a16:creationId xmlns:a16="http://schemas.microsoft.com/office/drawing/2014/main" id="{24C9B83B-D496-749A-8CAB-E5D5829B608E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27921A4-25C4-3DB4-06B1-32693CEE2241}" type="slidenum">
              <a:t>14</a:t>
            </a:fld>
          </a:p>
        </p:txBody>
      </p:sp>
    </p:spTree>
    <p:extLst>
      <p:ext uri="{BB962C8B-B14F-4D97-AF65-F5344CB8AC3E}">
        <p14:creationId xmlns:p14="http://schemas.microsoft.com/office/powerpoint/2010/main" val="1766000242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0A2BB6CD-1085-4638-68F3-7000FD29EA0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9"/>
            <a:ext cx="11404600" cy="58158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>Portos selecionados e acessos rodoviários</a:t>
            </a:r>
          </a:p>
        </p:txBody>
      </p:sp>
      <p:sp>
        <p:nvSpPr>
          <p:cNvPr id="2" name="Rounded Rectangle 1">
            <a:extLst xmlns:a="http://schemas.openxmlformats.org/drawingml/2006/main">
              <a:ext uri="{FF2B5EF4-FFF2-40B4-BE49-F238E27FC236}">
                <a16:creationId xmlns:a16="http://schemas.microsoft.com/office/drawing/2014/main" id="{390FBCE0-CCE2-0D7F-19D7-0DA59E2FB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013" y="3025321"/>
            <a:ext cx="5533887" cy="1320801"/>
          </a:xfrm>
          <a:prstGeom xmlns:a="http://schemas.openxmlformats.org/drawingml/2006/main" prst="roundRect">
            <a:avLst>
              <a:gd name="adj" fmla="val 5851"/>
            </a:avLst>
          </a:prstGeom>
          <a:noFill xmlns:a="http://schemas.openxmlformats.org/drawingml/2006/main"/>
          <a:ln xmlns:a="http://schemas.openxmlformats.org/drawingml/2006/main" w="12700">
            <a:solidFill>
              <a:schemeClr val="accent4"/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31291836-42DE-4BA2-7C66-683137F11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248" y="3274205"/>
            <a:ext cx="4986886" cy="87778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0000"/>
              </a:lnSpc>
              <a:spcBef>
                <a:spcPts val="0"/>
              </a:spcBef>
              <a:buFontTx/>
              <a:buNone/>
            </a:pP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Santos · embarque</a:t>
            </a:r>
          </a:p>
          <a:p xmlns:a="http://schemas.openxmlformats.org/drawingml/2006/main">
            <a:pPr marL="0" indent="0">
              <a:lnSpc>
                <a:spcPct val="110000"/>
              </a:lnSpc>
              <a:spcBef>
                <a:spcPts val="0"/>
              </a:spcBef>
              <a:buFontTx/>
              <a:buNone/>
            </a:pP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First mile: 86,170 km</a:t>
            </a:r>
          </a:p>
          <a:p xmlns:a="http://schemas.openxmlformats.org/drawingml/2006/main">
            <a:pPr marL="0" indent="0">
              <a:lnSpc>
                <a:spcPct val="110000"/>
              </a:lnSpc>
              <a:spcBef>
                <a:spcPts val="0"/>
              </a:spcBef>
              <a:buFontTx/>
              <a:buNone/>
            </a:pP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37,465 L de diesel.</a:t>
            </a:r>
          </a:p>
        </p:txBody>
      </p:sp>
      <p:sp>
        <p:nvSpPr>
          <p:cNvPr id="4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3D399E38-72C8-159B-DE08-FC689A75B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248" y="4514850"/>
            <a:ext cx="5236652" cy="977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0" indent="0" algn="l" defTabSz="914400">
              <a:lnSpc>
                <a:spcPct val="90000"/>
              </a:lnSpc>
              <a:spcBef>
                <a:spcPts val="10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228600" lvl="0" indent="-228600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Font typeface="Arial"/>
              <a:buChar char="•"/>
            </a:pPr>
            <a:r>
              <a:rPr sz="14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Haversine: 59,601 km</a:t>
            </a:r>
          </a:p>
          <a:p xmlns:a="http://schemas.openxmlformats.org/drawingml/2006/main">
            <a:pPr marL="228600" lvl="0" indent="-228600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Font typeface="Arial"/>
              <a:buChar char="•"/>
            </a:pPr>
            <a:r>
              <a:rPr sz="14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rota real: ORS/cache</a:t>
            </a:r>
          </a:p>
          <a:p xmlns:a="http://schemas.openxmlformats.org/drawingml/2006/main">
            <a:pPr marL="228600" lvl="0" indent="-228600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Font typeface="Arial"/>
              <a:buChar char="•"/>
            </a:pPr>
            <a:r>
              <a:rPr sz="14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2,3 km/L</a:t>
            </a:r>
          </a:p>
        </p:txBody>
      </p:sp>
      <p:sp>
        <p:nvSpPr>
          <p:cNvPr id="8" name="Rounded Rectangle 7">
            <a:extLst xmlns:a="http://schemas.openxmlformats.org/drawingml/2006/main">
              <a:ext uri="{FF2B5EF4-FFF2-40B4-BE49-F238E27FC236}">
                <a16:creationId xmlns:a16="http://schemas.microsoft.com/office/drawing/2014/main" id="{5E1586E9-BDFD-E84E-20C0-875E339DC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0785" y="3025321"/>
            <a:ext cx="5533887" cy="1320801"/>
          </a:xfrm>
          <a:prstGeom xmlns:a="http://schemas.openxmlformats.org/drawingml/2006/main" prst="roundRect">
            <a:avLst>
              <a:gd name="adj" fmla="val 4875"/>
            </a:avLst>
          </a:prstGeom>
          <a:noFill xmlns:a="http://schemas.openxmlformats.org/drawingml/2006/main"/>
          <a:ln xmlns:a="http://schemas.openxmlformats.org/drawingml/2006/main" w="12700">
            <a:solidFill>
              <a:schemeClr val="accent4"/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BDE93465-12EE-49A8-048B-A3C97C2DF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8020" y="3274205"/>
            <a:ext cx="4986886" cy="87778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0000"/>
              </a:lnSpc>
              <a:spcBef>
                <a:spcPts val="0"/>
              </a:spcBef>
              <a:buFontTx/>
              <a:buNone/>
            </a:pP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Manaus · desembarque</a:t>
            </a:r>
          </a:p>
          <a:p xmlns:a="http://schemas.openxmlformats.org/drawingml/2006/main">
            <a:pPr marL="0" indent="0">
              <a:lnSpc>
                <a:spcPct val="110000"/>
              </a:lnSpc>
              <a:spcBef>
                <a:spcPts val="0"/>
              </a:spcBef>
              <a:buFontTx/>
              <a:buNone/>
            </a:pP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Last mile: 1.403,691 km</a:t>
            </a:r>
          </a:p>
          <a:p xmlns:a="http://schemas.openxmlformats.org/drawingml/2006/main">
            <a:pPr marL="0" indent="0">
              <a:lnSpc>
                <a:spcPct val="110000"/>
              </a:lnSpc>
              <a:spcBef>
                <a:spcPts val="0"/>
              </a:spcBef>
              <a:buFontTx/>
              <a:buNone/>
            </a:pP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610,300 L de diesel.</a:t>
            </a:r>
          </a:p>
        </p:txBody>
      </p:sp>
      <p:sp>
        <p:nvSpPr>
          <p:cNvPr id="13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0F1EA821-AA26-C1FC-F948-D100ABDE2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8020" y="4514850"/>
            <a:ext cx="5236652" cy="977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0" indent="0" algn="l" defTabSz="914400">
              <a:lnSpc>
                <a:spcPct val="90000"/>
              </a:lnSpc>
              <a:spcBef>
                <a:spcPts val="10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228600" lvl="0" indent="-228600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Font typeface="Arial"/>
              <a:buChar char="•"/>
            </a:pPr>
            <a:r>
              <a:rPr sz="14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Haversine: 1.149,569 km</a:t>
            </a:r>
          </a:p>
          <a:p xmlns:a="http://schemas.openxmlformats.org/drawingml/2006/main">
            <a:pPr marL="228600" lvl="0" indent="-228600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Font typeface="Arial"/>
              <a:buChar char="•"/>
            </a:pPr>
            <a:r>
              <a:rPr sz="14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rota real: ORS/cache</a:t>
            </a:r>
          </a:p>
          <a:p xmlns:a="http://schemas.openxmlformats.org/drawingml/2006/main">
            <a:pPr marL="228600" lvl="0" indent="-228600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Font typeface="Arial"/>
              <a:buChar char="•"/>
            </a:pPr>
            <a:r>
              <a:rPr sz="14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2,3 km/L</a:t>
            </a:r>
          </a:p>
        </p:txBody>
      </p:sp>
      <p:sp>
        <p:nvSpPr>
          <p:cNvPr id="14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53566714-9098-3B48-6D62-954DC695F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939" y="1157513"/>
            <a:ext cx="11404599" cy="162922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0" indent="0" algn="l" defTabSz="914400">
              <a:lnSpc>
                <a:spcPct val="90000"/>
              </a:lnSpc>
              <a:spcBef>
                <a:spcPts val="10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1800">
                <a:solidFill>
                  <a:prstClr val="black"/>
                </a:solidFill>
                <a:latin typeface="Helvetica Neue Medium"/>
                <a:ea typeface="Helvetica Neue Medium"/>
                <a:cs typeface="Helvetica Neue Medium"/>
              </a:rPr>
              <a:t>Regra objetiva</a:t>
            </a:r>
          </a:p>
          <a:p xmlns:a="http://schemas.openxmlformats.org/drawingml/2006/main">
            <a:pPr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O porto mais próximo é escolhido por Haversine; o consumo usa depois a rota real por estrada.</a:t>
            </a:r>
          </a:p>
        </p:txBody>
      </p:sp>
      <p:sp>
        <p:nvSpPr>
          <p:cNvPr id="26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E7F409CA-A992-D5A3-DF49-49CFA53E4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939" y="5617936"/>
            <a:ext cx="11404599" cy="52982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0" indent="0" algn="l" defTabSz="914400">
              <a:lnSpc>
                <a:spcPct val="90000"/>
              </a:lnSpc>
              <a:spcBef>
                <a:spcPts val="10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A seleção geográfica monta o cenário; não afirma qual porto é melhor comercialmente.</a:t>
            </a:r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02BAAA24-F157-F288-22D7-97AEA157EFE2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CabotageLens | Trabalho de Formatura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88408272-D6A5-5132-33E2-F35391B125A3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A83FA91-883A-0168-8075-96CEB9DCA3C2}" type="slidenum">
              <a:t>15</a:t>
            </a:fld>
          </a:p>
        </p:txBody>
      </p:sp>
    </p:spTree>
    <p:extLst>
      <p:ext uri="{BB962C8B-B14F-4D97-AF65-F5344CB8AC3E}">
        <p14:creationId xmlns:p14="http://schemas.microsoft.com/office/powerpoint/2010/main" val="3462458655"/>
      </p:ext>
    </p:extLst>
  </p:cSld>
</p:sld>
</file>

<file path=ppt/slides/slide1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itle 10">
            <a:extLst xmlns:a="http://schemas.openxmlformats.org/drawingml/2006/main">
              <a:ext uri="{FF2B5EF4-FFF2-40B4-BE49-F238E27FC236}">
                <a16:creationId xmlns:a16="http://schemas.microsoft.com/office/drawing/2014/main" id="{32E36C81-5801-B2BE-01AA-D802EF7CADE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9448800" cy="1040291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As operações portuárias entram como componente próprio</a:t>
            </a:r>
          </a:p>
        </p:txBody>
      </p:sp>
      <p:sp>
        <p:nvSpPr>
          <p:cNvPr id="3" name="Rounded Rectangle 2">
            <a:extLst xmlns:a="http://schemas.openxmlformats.org/drawingml/2006/main">
              <a:ext uri="{FF2B5EF4-FFF2-40B4-BE49-F238E27FC236}">
                <a16:creationId xmlns:a16="http://schemas.microsoft.com/office/drawing/2014/main" id="{33642A94-5293-AA67-B826-5BD0DE5E4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2032000"/>
            <a:ext cx="2581975" cy="3962400"/>
          </a:xfrm>
          <a:prstGeom xmlns:a="http://schemas.openxmlformats.org/drawingml/2006/main" prst="roundRect">
            <a:avLst>
              <a:gd name="adj" fmla="val 1801"/>
            </a:avLst>
          </a:prstGeom>
          <a:solidFill xmlns:a="http://schemas.openxmlformats.org/drawingml/2006/main">
            <a:srgbClr val="F9FCFF"/>
          </a:solidFill>
          <a:ln xmlns:a="http://schemas.openxmlformats.org/drawingml/2006/main">
            <a:solidFill>
              <a:srgbClr val="EFF1F5"/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Rounded Rectangle 4">
            <a:extLst xmlns:a="http://schemas.openxmlformats.org/drawingml/2006/main">
              <a:ext uri="{FF2B5EF4-FFF2-40B4-BE49-F238E27FC236}">
                <a16:creationId xmlns:a16="http://schemas.microsoft.com/office/drawing/2014/main" id="{6F6AC358-F5F5-46E1-3A28-330B5B7FD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557" y="2032000"/>
            <a:ext cx="2597343" cy="3962400"/>
          </a:xfrm>
          <a:prstGeom xmlns:a="http://schemas.openxmlformats.org/drawingml/2006/main" prst="roundRect">
            <a:avLst>
              <a:gd name="adj" fmla="val 1790"/>
            </a:avLst>
          </a:prstGeom>
          <a:solidFill xmlns:a="http://schemas.openxmlformats.org/drawingml/2006/main">
            <a:srgbClr val="F9FCFF"/>
          </a:solidFill>
          <a:ln xmlns:a="http://schemas.openxmlformats.org/drawingml/2006/main">
            <a:solidFill>
              <a:srgbClr val="EFF1F5"/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Rounded Rectangle 5">
            <a:extLst xmlns:a="http://schemas.openxmlformats.org/drawingml/2006/main">
              <a:ext uri="{FF2B5EF4-FFF2-40B4-BE49-F238E27FC236}">
                <a16:creationId xmlns:a16="http://schemas.microsoft.com/office/drawing/2014/main" id="{F27EDC79-B9FD-D75C-F5E0-8650415FA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1100" y="2032000"/>
            <a:ext cx="2581975" cy="3962400"/>
          </a:xfrm>
          <a:prstGeom xmlns:a="http://schemas.openxmlformats.org/drawingml/2006/main" prst="roundRect">
            <a:avLst>
              <a:gd name="adj" fmla="val 2701"/>
            </a:avLst>
          </a:prstGeom>
          <a:solidFill xmlns:a="http://schemas.openxmlformats.org/drawingml/2006/main">
            <a:srgbClr val="F9FCFF"/>
          </a:solidFill>
          <a:ln xmlns:a="http://schemas.openxmlformats.org/drawingml/2006/main">
            <a:solidFill>
              <a:srgbClr val="EFF1F5"/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Rounded Rectangle 6">
            <a:extLst xmlns:a="http://schemas.openxmlformats.org/drawingml/2006/main">
              <a:ext uri="{FF2B5EF4-FFF2-40B4-BE49-F238E27FC236}">
                <a16:creationId xmlns:a16="http://schemas.microsoft.com/office/drawing/2014/main" id="{1FAFF379-8A28-CAB1-B1D0-F7E83A8F0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0957" y="2032000"/>
            <a:ext cx="2597343" cy="3962400"/>
          </a:xfrm>
          <a:prstGeom xmlns:a="http://schemas.openxmlformats.org/drawingml/2006/main" prst="roundRect">
            <a:avLst>
              <a:gd name="adj" fmla="val 2984"/>
            </a:avLst>
          </a:prstGeom>
          <a:solidFill xmlns:a="http://schemas.openxmlformats.org/drawingml/2006/main">
            <a:srgbClr val="F9FCFF"/>
          </a:solidFill>
          <a:ln xmlns:a="http://schemas.openxmlformats.org/drawingml/2006/main">
            <a:solidFill>
              <a:srgbClr val="EFF1F5"/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6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BDC86A8A-FBA6-FD14-99C2-1C4C5D6609EA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618967" y="2414155"/>
            <a:ext cx="2145400" cy="1599045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400">
                <a:latin typeface="Helvetica Neue"/>
                <a:ea typeface="Helvetica Neue"/>
                <a:cs typeface="Helvetica Neue"/>
              </a:rPr>
              <a:t>Unidade operacional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400">
                <a:latin typeface="Helvetica Neue"/>
                <a:ea typeface="Helvetica Neue"/>
                <a:cs typeface="Helvetica Neue"/>
              </a:rPr>
              <a:t>14 t = 1 TEU.</a:t>
            </a:r>
          </a:p>
        </p:txBody>
      </p:sp>
      <p:sp>
        <p:nvSpPr>
          <p:cNvPr id="17" name="Text Placeholder 16">
            <a:extLst xmlns:a="http://schemas.openxmlformats.org/drawingml/2006/main">
              <a:ext uri="{FF2B5EF4-FFF2-40B4-BE49-F238E27FC236}">
                <a16:creationId xmlns:a16="http://schemas.microsoft.com/office/drawing/2014/main" id="{88605DFA-C810-BB6C-3C24-829EC7D93322}"/>
              </a:ext>
            </a:extLst>
          </p:cNvPr>
          <p:cNvSpPr>
            <a:spLocks xmlns:a="http://schemas.openxmlformats.org/drawingml/2006/main" noGrp="1"/>
          </p:cNvSpPr>
          <p:nvPr>
            <p:ph type="body" idx="12"/>
          </p:nvPr>
        </p:nvSpPr>
        <p:spPr>
          <a:xfrm xmlns:a="http://schemas.openxmlformats.org/drawingml/2006/main">
            <a:off x="3555921" y="2414155"/>
            <a:ext cx="2149303" cy="1599045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/>
              <a:buNone/>
            </a:pPr>
            <a:r>
              <a:rPr sz="1400" b="0" i="0" u="none" cap="none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RTG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400">
                <a:latin typeface="Helvetica Neue"/>
                <a:ea typeface="Helvetica Neue"/>
                <a:cs typeface="Helvetica Neue"/>
              </a:rPr>
              <a:t>4 movimentos × 0,355148 L/mov.</a:t>
            </a:r>
          </a:p>
        </p:txBody>
      </p:sp>
      <p:sp>
        <p:nvSpPr>
          <p:cNvPr id="18" name="Content Placeholder 17">
            <a:extLst xmlns:a="http://schemas.openxmlformats.org/drawingml/2006/main">
              <a:ext uri="{FF2B5EF4-FFF2-40B4-BE49-F238E27FC236}">
                <a16:creationId xmlns:a16="http://schemas.microsoft.com/office/drawing/2014/main" id="{92FDC1FF-2A9F-386F-4FAC-628138F5E290}"/>
              </a:ext>
            </a:extLst>
          </p:cNvPr>
          <p:cNvSpPr>
            <a:spLocks xmlns:a="http://schemas.openxmlformats.org/drawingml/2006/main" noGrp="1"/>
          </p:cNvSpPr>
          <p:nvPr>
            <p:ph idx="13"/>
          </p:nvPr>
        </p:nvSpPr>
        <p:spPr>
          <a:xfrm xmlns:a="http://schemas.openxmlformats.org/drawingml/2006/main">
            <a:off x="6489680" y="2414155"/>
            <a:ext cx="2145400" cy="1599045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/>
              <a:buNone/>
            </a:pPr>
            <a:r>
              <a:rPr sz="1400" b="0" i="0" u="none" cap="none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Caminhão interno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400">
                <a:latin typeface="Helvetica Neue"/>
                <a:ea typeface="Helvetica Neue"/>
                <a:cs typeface="Helvetica Neue"/>
              </a:rPr>
              <a:t>2 movimentos × 0,494671 L/mov.</a:t>
            </a:r>
          </a:p>
        </p:txBody>
      </p:sp>
      <p:sp>
        <p:nvSpPr>
          <p:cNvPr id="19" name="Text Placeholder 18">
            <a:extLst xmlns:a="http://schemas.openxmlformats.org/drawingml/2006/main">
              <a:ext uri="{FF2B5EF4-FFF2-40B4-BE49-F238E27FC236}">
                <a16:creationId xmlns:a16="http://schemas.microsoft.com/office/drawing/2014/main" id="{5C2F1B00-B28B-9F1D-8CDD-3C4B2DE34D3E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>
          <a:xfrm xmlns:a="http://schemas.openxmlformats.org/drawingml/2006/main">
            <a:off x="9426634" y="2414155"/>
            <a:ext cx="2149303" cy="1599045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/>
              <a:buNone/>
            </a:pPr>
            <a:r>
              <a:rPr sz="1400" b="0" i="0" u="none" cap="none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Dois terminais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400">
                <a:latin typeface="Helvetica Neue"/>
                <a:ea typeface="Helvetica Neue"/>
                <a:cs typeface="Helvetica Neue"/>
              </a:rPr>
              <a:t>2 × 1 TEU × (...) = 4,820 L.</a:t>
            </a:r>
          </a:p>
        </p:txBody>
      </p:sp>
      <p:sp>
        <p:nvSpPr>
          <p:cNvPr id="2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5D813AAE-3B9F-21FA-95B9-CBD6F80E5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549" y="4356100"/>
            <a:ext cx="2076818" cy="977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0" indent="0" algn="l" defTabSz="914400">
              <a:lnSpc>
                <a:spcPct val="90000"/>
              </a:lnSpc>
              <a:spcBef>
                <a:spcPts val="10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228600" lvl="0" indent="-228600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Font typeface="Arial"/>
              <a:buChar char="•"/>
            </a:pPr>
            <a:r>
              <a:rPr sz="14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remessa conteinerizada</a:t>
            </a:r>
          </a:p>
          <a:p xmlns:a="http://schemas.openxmlformats.org/drawingml/2006/main">
            <a:pPr marL="228600" lvl="0" indent="-228600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Font typeface="Arial"/>
              <a:buChar char="•"/>
            </a:pPr>
            <a:r>
              <a:rPr sz="14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mesma unidade nos portos</a:t>
            </a:r>
          </a:p>
        </p:txBody>
      </p:sp>
      <p:sp>
        <p:nvSpPr>
          <p:cNvPr id="15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5FE99CB3-C543-5212-C2B6-D8E015655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0774" y="4356100"/>
            <a:ext cx="2076818" cy="977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0" indent="0" algn="l" defTabSz="914400">
              <a:lnSpc>
                <a:spcPct val="90000"/>
              </a:lnSpc>
              <a:spcBef>
                <a:spcPts val="10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228600" lvl="0" indent="-228600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Font typeface="Arial"/>
              <a:buChar char="•"/>
            </a:pPr>
            <a:r>
              <a:rPr sz="14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equipamento de pátio</a:t>
            </a:r>
          </a:p>
          <a:p xmlns:a="http://schemas.openxmlformats.org/drawingml/2006/main">
            <a:pPr marL="228600" lvl="0" indent="-228600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Font typeface="Arial"/>
              <a:buChar char="•"/>
            </a:pPr>
            <a:r>
              <a:rPr sz="14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Diesel S10</a:t>
            </a:r>
          </a:p>
        </p:txBody>
      </p:sp>
      <p:sp>
        <p:nvSpPr>
          <p:cNvPr id="21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16BEB40B-1BEE-A21D-D3BE-79B2C975D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6849" y="4356100"/>
            <a:ext cx="2076818" cy="977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0" indent="0" algn="l" defTabSz="914400">
              <a:lnSpc>
                <a:spcPct val="90000"/>
              </a:lnSpc>
              <a:spcBef>
                <a:spcPts val="10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228600" lvl="0" indent="-228600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Font typeface="Arial"/>
              <a:buChar char="•"/>
            </a:pPr>
            <a:r>
              <a:rPr sz="14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transferência interna</a:t>
            </a:r>
          </a:p>
          <a:p xmlns:a="http://schemas.openxmlformats.org/drawingml/2006/main">
            <a:pPr marL="228600" lvl="0" indent="-228600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Font typeface="Arial"/>
              <a:buChar char="•"/>
            </a:pPr>
            <a:r>
              <a:rPr sz="14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Diesel S10</a:t>
            </a:r>
          </a:p>
        </p:txBody>
      </p:sp>
      <p:sp>
        <p:nvSpPr>
          <p:cNvPr id="22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E01569E6-593E-BC39-9E85-17656D65D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2937" y="4356100"/>
            <a:ext cx="2076818" cy="977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0" indent="0" algn="l" defTabSz="914400">
              <a:lnSpc>
                <a:spcPct val="90000"/>
              </a:lnSpc>
              <a:spcBef>
                <a:spcPts val="10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228600" lvl="0" indent="-228600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Font typeface="Arial"/>
              <a:buChar char="•"/>
            </a:pPr>
            <a:r>
              <a:rPr sz="14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2,410 L por terminal</a:t>
            </a:r>
          </a:p>
          <a:p xmlns:a="http://schemas.openxmlformats.org/drawingml/2006/main">
            <a:pPr marL="228600" lvl="0" indent="-228600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Font typeface="Arial"/>
              <a:buChar char="•"/>
            </a:pPr>
            <a:r>
              <a:rPr sz="14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sem distância adicional</a:t>
            </a:r>
          </a:p>
        </p:txBody>
      </p:sp>
      <p:sp>
        <p:nvSpPr>
          <p:cNvPr id="23" name="Footer Placeholder 22">
            <a:extLst xmlns:a="http://schemas.openxmlformats.org/drawingml/2006/main">
              <a:ext uri="{FF2B5EF4-FFF2-40B4-BE49-F238E27FC236}">
                <a16:creationId xmlns:a16="http://schemas.microsoft.com/office/drawing/2014/main" id="{F79DC580-131D-75FB-A6FF-8B8F19953266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CabotageLens | Trabalho de Formatura</a:t>
            </a:r>
          </a:p>
        </p:txBody>
      </p:sp>
      <p:sp>
        <p:nvSpPr>
          <p:cNvPr id="8" name="Slide Number Placeholder 7">
            <a:extLst xmlns:a="http://schemas.openxmlformats.org/drawingml/2006/main">
              <a:ext uri="{FF2B5EF4-FFF2-40B4-BE49-F238E27FC236}">
                <a16:creationId xmlns:a16="http://schemas.microsoft.com/office/drawing/2014/main" id="{43D8131C-4637-3473-C20E-BA4F59F9110F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C9C7607-4BA3-B4DC-A00F-2E67A9FCFF7E}" type="slidenum">
              <a:t>16</a:t>
            </a:fld>
          </a:p>
        </p:txBody>
      </p:sp>
    </p:spTree>
    <p:extLst>
      <p:ext uri="{BB962C8B-B14F-4D97-AF65-F5344CB8AC3E}">
        <p14:creationId xmlns:p14="http://schemas.microsoft.com/office/powerpoint/2010/main" val="2526092902"/>
      </p:ext>
    </p:extLst>
  </p:cSld>
</p:sld>
</file>

<file path=ppt/slides/slide1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D8F52456-F75C-B2FE-6F65-55BF4CD0987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5549230" cy="69739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>ANTAQ 2025 — Carga | Atracação</a:t>
            </a:r>
          </a:p>
        </p:txBody>
      </p:sp>
      <p:graphicFrame>
        <p:nvGraphicFramePr>
          <p:cNvPr id="543" name="Chart 3"/>
          <p:cNvGraphicFramePr/>
          <p:nvPr/>
        </p:nvGraphicFramePr>
        <p:xfrm>
          <a:off xmlns:a="http://schemas.openxmlformats.org/drawingml/2006/main" x="408690" y="1054100"/>
          <a:ext xmlns:a="http://schemas.openxmlformats.org/drawingml/2006/main" cx="5124182" cy="545200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4b7a42c89e4040c9"/>
          </a:graphicData>
        </a:graphic>
      </p:graphicFrame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D9083A7E-FB02-6980-1ACB-51927A1B24AA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CabotageLens | Trabalho de Formatura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A8A5B219-39E0-D9D9-5794-FED4436FF114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0F7333B-44AC-F7E9-D49D-FE92F45E0477}" type="slidenum">
              <a:t>17</a:t>
            </a:fld>
          </a:p>
        </p:txBody>
      </p:sp>
      <p:graphicFrame>
        <p:nvGraphicFramePr>
          <p:cNvPr id="546" name="Chart 10"/>
          <p:cNvGraphicFramePr/>
          <p:nvPr/>
        </p:nvGraphicFramePr>
        <p:xfrm>
          <a:off xmlns:a="http://schemas.openxmlformats.org/drawingml/2006/main" x="6543094" y="1054100"/>
          <a:ext xmlns:a="http://schemas.openxmlformats.org/drawingml/2006/main" cx="5131647" cy="5459891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92418aca890a4f8f"/>
          </a:graphicData>
        </a:graphic>
      </p:graphicFrame>
      <p:sp>
        <p:nvSpPr>
          <p:cNvPr id="13" name="Straight Connector 12">
            <a:extLst xmlns:a="http://schemas.openxmlformats.org/drawingml/2006/main">
              <a:ext uri="{FF2B5EF4-FFF2-40B4-BE49-F238E27FC236}">
                <a16:creationId xmlns:a16="http://schemas.microsoft.com/office/drawing/2014/main" id="{755B84C7-4CCC-4A8E-AD8A-073C3FBB2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-123568"/>
            <a:ext cx="0" cy="7129849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tx2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536" name="">
            <a:extLst xmlns:a="http://schemas.openxmlformats.org/drawingml/2006/main">
              <a:ext uri="{FF2B5EF4-FFF2-40B4-BE49-F238E27FC236}">
                <a16:creationId xmlns:a16="http://schemas.microsoft.com/office/drawing/2014/main" id="{74076EAD-46C1-443D-AC68-D6B48DBFA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8690" y="1054100"/>
            <a:ext cx="5124182" cy="545200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</a:ln>
        </p:spPr>
      </p:sp>
      <p:pic>
        <p:nvPicPr>
          <p:cNvPr id="54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dfe6e64300e4973"/>
          <a:stretch xmlns:a="http://schemas.openxmlformats.org/drawingml/2006/main"/>
        </p:blipFill>
        <p:spPr>
          <a:xfrm xmlns:a="http://schemas.openxmlformats.org/drawingml/2006/main">
            <a:off x="408690" y="1627431"/>
            <a:ext cx="5124182" cy="4305343"/>
          </a:xfrm>
          <a:prstGeom xmlns:a="http://schemas.openxmlformats.org/drawingml/2006/main" prst="rect">
            <a:avLst/>
          </a:prstGeom>
        </p:spPr>
      </p:pic>
      <p:sp>
        <p:nvSpPr>
          <p:cNvPr id="538" name="">
            <a:extLst xmlns:a="http://schemas.openxmlformats.org/drawingml/2006/main">
              <a:ext uri="{FF2B5EF4-FFF2-40B4-BE49-F238E27FC236}">
                <a16:creationId xmlns:a16="http://schemas.microsoft.com/office/drawing/2014/main" id="{9D097F34-BADE-4BF8-A009-C6A33A34F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3094" y="1054100"/>
            <a:ext cx="5131647" cy="54598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</a:ln>
        </p:spPr>
      </p:sp>
      <p:pic>
        <p:nvPicPr>
          <p:cNvPr id="55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4fea97b85eb4829"/>
          <a:stretch xmlns:a="http://schemas.openxmlformats.org/drawingml/2006/main"/>
        </p:blipFill>
        <p:spPr>
          <a:xfrm xmlns:a="http://schemas.openxmlformats.org/drawingml/2006/main">
            <a:off x="6543094" y="2894367"/>
            <a:ext cx="5131647" cy="1779356"/>
          </a:xfrm>
          <a:prstGeom xmlns:a="http://schemas.openxmlformats.org/drawingml/2006/main" prst="rect">
            <a:avLst/>
          </a:prstGeom>
        </p:spPr>
      </p:pic>
      <p:sp>
        <p:nvSpPr>
          <p:cNvPr id="540" name="">
            <a:extLst xmlns:a="http://schemas.openxmlformats.org/drawingml/2006/main">
              <a:ext uri="{FF2B5EF4-FFF2-40B4-BE49-F238E27FC236}">
                <a16:creationId xmlns:a16="http://schemas.microsoft.com/office/drawing/2014/main" id="{1EBFFFA9-0FC8-47E9-9E6C-4B7B18137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0"/>
            <a:ext cx="762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</a:ln>
        </p:spPr>
      </p:sp>
      <p:sp>
        <p:nvSpPr>
          <p:cNvPr id="541" name="">
            <a:extLst xmlns:a="http://schemas.openxmlformats.org/drawingml/2006/main">
              <a:ext uri="{FF2B5EF4-FFF2-40B4-BE49-F238E27FC236}">
                <a16:creationId xmlns:a16="http://schemas.microsoft.com/office/drawing/2014/main" id="{D5678AC2-2739-413A-B176-022EECE2F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905500"/>
            <a:ext cx="600075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</a:ln>
        </p:spPr>
      </p:sp>
    </p:spTree>
    <p:extLst>
      <p:ext uri="{BB962C8B-B14F-4D97-AF65-F5344CB8AC3E}">
        <p14:creationId xmlns:p14="http://schemas.microsoft.com/office/powerpoint/2010/main" val="335452124"/>
      </p:ext>
    </p:extLst>
  </p:cSld>
</p:sld>
</file>

<file path=ppt/slides/slide1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0BCC789E-87DC-C416-5298-C7F6E26A9533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3822700"/>
            <a:ext cx="2595934" cy="1168400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>
                <a:latin typeface="Helvetica Neue"/>
                <a:ea typeface="Helvetica Neue"/>
                <a:cs typeface="Helvetica Neue"/>
              </a:rPr>
              <a:t>Movimentos elegíveis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>
                <a:latin typeface="Helvetica Neue"/>
                <a:ea typeface="Helvetica Neue"/>
                <a:cs typeface="Helvetica Neue"/>
              </a:rPr>
              <a:t>Cabotagem conteinerizada e escalas com número IMO.</a:t>
            </a:r>
          </a:p>
        </p:txBody>
      </p:sp>
      <p:sp>
        <p:nvSpPr>
          <p:cNvPr id="11" name="Title 10">
            <a:extLst xmlns:a="http://schemas.openxmlformats.org/drawingml/2006/main">
              <a:ext uri="{FF2B5EF4-FFF2-40B4-BE49-F238E27FC236}">
                <a16:creationId xmlns:a16="http://schemas.microsoft.com/office/drawing/2014/main" id="{9759E2FE-9F02-E1B4-EBBC-AA8624ACC33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7846838" cy="103489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As viagens são reconstruídas a partir das duas tabelas</a:t>
            </a:r>
          </a:p>
        </p:txBody>
      </p:sp>
      <p:sp>
        <p:nvSpPr>
          <p:cNvPr id="17" name="Text Placeholder 16">
            <a:extLst xmlns:a="http://schemas.openxmlformats.org/drawingml/2006/main">
              <a:ext uri="{FF2B5EF4-FFF2-40B4-BE49-F238E27FC236}">
                <a16:creationId xmlns:a16="http://schemas.microsoft.com/office/drawing/2014/main" id="{986AEEE5-7F7B-65AD-1D88-9157CF0514D8}"/>
              </a:ext>
            </a:extLst>
          </p:cNvPr>
          <p:cNvSpPr>
            <a:spLocks xmlns:a="http://schemas.openxmlformats.org/drawingml/2006/main" noGrp="1"/>
          </p:cNvSpPr>
          <p:nvPr>
            <p:ph type="body" idx="12"/>
          </p:nvPr>
        </p:nvSpPr>
        <p:spPr>
          <a:xfrm xmlns:a="http://schemas.openxmlformats.org/drawingml/2006/main">
            <a:off x="4317119" y="3822700"/>
            <a:ext cx="2595934" cy="1168400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/>
              <a:buNone/>
            </a:pPr>
            <a:r>
              <a:rPr sz="1600" b="0" i="0" u="none" cap="none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Unir por atracação</a:t>
            </a:r>
          </a:p>
          <a:p xmlns:a="http://schemas.openxmlformats.org/drawingml/2006/main">
            <a:pPr marL="0" marR="0" lvl="0" indent="0" algn="l" defTabSz="91440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/>
              <a:buNone/>
            </a:pPr>
            <a:r>
              <a:rPr sz="1600" b="0" i="0" u="none" cap="none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Carga é agregada por IDAtracacao e ligada à escala correspondente.</a:t>
            </a:r>
          </a:p>
        </p:txBody>
      </p:sp>
      <p:sp>
        <p:nvSpPr>
          <p:cNvPr id="18" name="Content Placeholder 17">
            <a:extLst xmlns:a="http://schemas.openxmlformats.org/drawingml/2006/main">
              <a:ext uri="{FF2B5EF4-FFF2-40B4-BE49-F238E27FC236}">
                <a16:creationId xmlns:a16="http://schemas.microsoft.com/office/drawing/2014/main" id="{B32A8A18-E9FA-02B4-6667-53C019EC43C0}"/>
              </a:ext>
            </a:extLst>
          </p:cNvPr>
          <p:cNvSpPr>
            <a:spLocks xmlns:a="http://schemas.openxmlformats.org/drawingml/2006/main" noGrp="1"/>
          </p:cNvSpPr>
          <p:nvPr>
            <p:ph idx="13"/>
          </p:nvPr>
        </p:nvSpPr>
        <p:spPr>
          <a:xfrm xmlns:a="http://schemas.openxmlformats.org/drawingml/2006/main">
            <a:off x="8240538" y="3822700"/>
            <a:ext cx="2595934" cy="1168400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/>
              <a:buNone/>
            </a:pPr>
            <a:r>
              <a:rPr b="0" i="0" u="none" cap="none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Formar subtrechos</a:t>
            </a:r>
          </a:p>
          <a:p xmlns:a="http://schemas.openxmlformats.org/drawingml/2006/main">
            <a:pPr marL="0" marR="0" lvl="0" indent="0" algn="l" defTabSz="91440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/>
              <a:buNone/>
            </a:pPr>
            <a:r>
              <a:rPr b="0" i="0" u="none" cap="none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Escalas do mesmo navio são ordenadas cronologicamente.</a:t>
            </a:r>
          </a:p>
        </p:txBody>
      </p:sp>
      <p:cxnSp>
        <p:nvCxnSpPr>
          <p:cNvPr id="28" name="Google Shape;2259;p159"/>
          <p:cNvCxnSpPr>
            <a:stCxn xmlns:a="http://schemas.openxmlformats.org/drawingml/2006/main" id="3" idx="2"/>
          </p:cNvCxnSpPr>
          <p:nvPr/>
        </p:nvCxnSpPr>
        <p:spPr>
          <a:xfrm xmlns:a="http://schemas.openxmlformats.org/drawingml/2006/main">
            <a:off x="337718" y="3373753"/>
            <a:ext cx="12245400" cy="300"/>
          </a:xfrm>
          <a:prstGeom xmlns:a="http://schemas.openxmlformats.org/drawingml/2006/main" prst="straightConnector1">
            <a:avLst/>
          </a:prstGeom>
          <a:ln xmlns:a="http://schemas.openxmlformats.org/drawingml/2006/main" w="9525" cap="flat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" name="Google Shape;2260;p159">
            <a:extLst xmlns:a="http://schemas.openxmlformats.org/drawingml/2006/main">
              <a:ext uri="{FF2B5EF4-FFF2-40B4-BE49-F238E27FC236}">
                <a16:creationId xmlns:a16="http://schemas.microsoft.com/office/drawing/2014/main" id="{39A86B1D-EA5D-3FA6-7D83-8F21D70E3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718" y="3320203"/>
            <a:ext cx="107100" cy="107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dk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5" name="Google Shape;2261;p159">
            <a:extLst xmlns:a="http://schemas.openxmlformats.org/drawingml/2006/main">
              <a:ext uri="{FF2B5EF4-FFF2-40B4-BE49-F238E27FC236}">
                <a16:creationId xmlns:a16="http://schemas.microsoft.com/office/drawing/2014/main" id="{A1013DAF-A2C3-BC42-73D5-9D8AB55DC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1750" y="3320203"/>
            <a:ext cx="107100" cy="107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dk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6" name="Google Shape;2262;p159">
            <a:extLst xmlns:a="http://schemas.openxmlformats.org/drawingml/2006/main">
              <a:ext uri="{FF2B5EF4-FFF2-40B4-BE49-F238E27FC236}">
                <a16:creationId xmlns:a16="http://schemas.microsoft.com/office/drawing/2014/main" id="{4654A74A-2C40-A8C6-E9F9-43C58A3AD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6050" y="3320203"/>
            <a:ext cx="107100" cy="107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dk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9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76C75857-E8EA-1B37-0464-3C7048D7F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2843266"/>
            <a:ext cx="1612900" cy="2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400">
                <a:latin typeface="Helvetica Neue"/>
                <a:ea typeface="Helvetica Neue"/>
                <a:cs typeface="Helvetica Neue"/>
              </a:rPr>
              <a:t>1 · FILTRAR</a:t>
            </a:r>
          </a:p>
        </p:txBody>
      </p:sp>
      <p:sp>
        <p:nvSpPr>
          <p:cNvPr id="13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76AEECBA-C292-6302-8A8E-7EB14A54E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4187" y="2843266"/>
            <a:ext cx="1612900" cy="2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400">
                <a:latin typeface="Helvetica Neue"/>
                <a:ea typeface="Helvetica Neue"/>
                <a:cs typeface="Helvetica Neue"/>
              </a:rPr>
              <a:t>2 · ASSOCIAR</a:t>
            </a:r>
          </a:p>
        </p:txBody>
      </p:sp>
      <p:sp>
        <p:nvSpPr>
          <p:cNvPr id="14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95982BB0-2387-9BAA-9F14-F45500C04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3249" y="2843266"/>
            <a:ext cx="1612900" cy="2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400">
                <a:latin typeface="Helvetica Neue"/>
                <a:ea typeface="Helvetica Neue"/>
                <a:cs typeface="Helvetica Neue"/>
              </a:rPr>
              <a:t>3 · ORDENAR</a:t>
            </a:r>
          </a:p>
        </p:txBody>
      </p:sp>
      <p:sp>
        <p:nvSpPr>
          <p:cNvPr id="7" name="Footer Placeholder 6">
            <a:extLst xmlns:a="http://schemas.openxmlformats.org/drawingml/2006/main">
              <a:ext uri="{FF2B5EF4-FFF2-40B4-BE49-F238E27FC236}">
                <a16:creationId xmlns:a16="http://schemas.microsoft.com/office/drawing/2014/main" id="{3AC3A10F-8642-8154-9AEA-7110D289C62E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CabotageLens | Trabalho de Formatura</a:t>
            </a:r>
          </a:p>
        </p:txBody>
      </p:sp>
      <p:sp>
        <p:nvSpPr>
          <p:cNvPr id="8" name="Slide Number Placeholder 7">
            <a:extLst xmlns:a="http://schemas.openxmlformats.org/drawingml/2006/main">
              <a:ext uri="{FF2B5EF4-FFF2-40B4-BE49-F238E27FC236}">
                <a16:creationId xmlns:a16="http://schemas.microsoft.com/office/drawing/2014/main" id="{B8054922-82AE-F5B4-3254-FF8E3B11A7E5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1C6C81E-38B9-7560-621D-5A151A79DF9B}" type="slidenum">
              <a:t>18</a:t>
            </a:fld>
          </a:p>
        </p:txBody>
      </p:sp>
    </p:spTree>
    <p:extLst>
      <p:ext uri="{BB962C8B-B14F-4D97-AF65-F5344CB8AC3E}">
        <p14:creationId xmlns:p14="http://schemas.microsoft.com/office/powerpoint/2010/main" val="3446338916"/>
      </p:ext>
    </p:extLst>
  </p:cSld>
</p:sld>
</file>

<file path=ppt/slides/slide1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08EBC4B8-BBC1-7C2A-F77D-BEC6394B0F9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9"/>
            <a:ext cx="7835900" cy="58158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>Carga a bordo: o balanço não pode ficar negativo</a:t>
            </a:r>
          </a:p>
        </p:txBody>
      </p:sp>
      <p:sp>
        <p:nvSpPr>
          <p:cNvPr id="14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D81689CF-E5CF-3072-801D-DC2D321D4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939" y="1021193"/>
            <a:ext cx="11404599" cy="104855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0" indent="0" algn="l" defTabSz="914400">
              <a:lnSpc>
                <a:spcPct val="90000"/>
              </a:lnSpc>
              <a:spcBef>
                <a:spcPts val="10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1400">
                <a:solidFill>
                  <a:prstClr val="black"/>
                </a:solidFill>
                <a:latin typeface="Helvetica Neue Medium"/>
                <a:ea typeface="Helvetica Neue Medium"/>
                <a:cs typeface="Helvetica Neue Medium"/>
              </a:rPr>
              <a:t>Balanço por escala</a:t>
            </a:r>
          </a:p>
          <a:p xmlns:a="http://schemas.openxmlformats.org/drawingml/2006/main">
            <a:pPr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14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Δk = Memb − Mdes; Sk = ΣΔi; B0 = max(0, −min Sk); Bk = B0 + Sk.</a:t>
            </a:r>
          </a:p>
        </p:txBody>
      </p:sp>
      <p:graphicFrame>
        <p:nvGraphicFramePr>
          <p:cNvPr id="537" name="Google Shape;644;p93"/>
          <p:cNvGraphicFramePr/>
          <p:nvPr/>
        </p:nvGraphicFramePr>
        <p:xfrm>
          <a:off xmlns:a="http://schemas.openxmlformats.org/drawingml/2006/main" x="393700" y="2251080"/>
          <a:ext xmlns:a="http://schemas.openxmlformats.org/drawingml/2006/main" cx="11404599" cy="3932614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906063"/>
                <a:gridCol w="1874634"/>
                <a:gridCol w="1874634"/>
                <a:gridCol w="1874634"/>
                <a:gridCol w="1874634"/>
              </a:tblGrid>
              <a:tr h="437022"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 b="1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Etapa</a:t>
                      </a: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19050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sz="1400" b="1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Porto / subtrecho</a:t>
                      </a: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19050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 b="1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Emb. / Des. (t)</a:t>
                      </a: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19050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sz="1400" b="1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Δk (t)</a:t>
                      </a: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19050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sz="1400" b="1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Sk ou Bk (t)</a:t>
                      </a: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19050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</a:lnB>
                  </a:tcPr>
                </a:tc>
              </a:tr>
              <a:tr h="436949"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1</a:t>
                      </a: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Santos</a:t>
                      </a: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9.881,860 / 0</a:t>
                      </a: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9.881,860</a:t>
                      </a: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S1 = 9.881,860</a:t>
                      </a: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</a:tr>
              <a:tr h="436949"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2</a:t>
                      </a: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Suape</a:t>
                      </a: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11.862,199 / 8.002,620</a:t>
                      </a: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3.859,579</a:t>
                      </a: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S2 = 13.741,439</a:t>
                      </a: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</a:tr>
              <a:tr h="436949"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3</a:t>
                      </a: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Pecém</a:t>
                      </a: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3.231,914 / 7.624,347</a:t>
                      </a: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−4.392,433</a:t>
                      </a: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S3 = 9.349,006</a:t>
                      </a: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</a:tr>
              <a:tr h="436949"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4</a:t>
                      </a: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Manaus</a:t>
                      </a: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7.571,660 / 19.897,560</a:t>
                      </a: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−12.325,900</a:t>
                      </a: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S4 = −2.976,894</a:t>
                      </a: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</a:tr>
              <a:tr h="436949"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B0</a:t>
                      </a: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carga inicial mínima</a:t>
                      </a: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—</a:t>
                      </a: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—</a:t>
                      </a: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2.976,894</a:t>
                      </a: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</a:tr>
              <a:tr h="436949"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B1</a:t>
                      </a: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Santos–Suape</a:t>
                      </a: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—</a:t>
                      </a: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—</a:t>
                      </a: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12.858,754</a:t>
                      </a: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</a:tr>
              <a:tr h="436949"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B2</a:t>
                      </a: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Suape–Pecém</a:t>
                      </a: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—</a:t>
                      </a: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—</a:t>
                      </a: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16.718,333</a:t>
                      </a: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</a:tr>
              <a:tr h="436949"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B3</a:t>
                      </a: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Pecém–Manaus</a:t>
                      </a: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—</a:t>
                      </a: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—</a:t>
                      </a: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12.325,900</a:t>
                      </a: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B8357537-167D-0462-A21D-DD8E87444BE4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CabotageLens | Trabalho de Formatura</a:t>
            </a:r>
          </a:p>
        </p:txBody>
      </p:sp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BF440A81-02FE-A94E-7F97-15248A945F35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CF91274-D221-1BB4-3BF9-836E3AD31EBE}" type="slidenum">
              <a:t>19</a:t>
            </a:fld>
          </a:p>
        </p:txBody>
      </p:sp>
    </p:spTree>
    <p:extLst>
      <p:ext uri="{BB962C8B-B14F-4D97-AF65-F5344CB8AC3E}">
        <p14:creationId xmlns:p14="http://schemas.microsoft.com/office/powerpoint/2010/main" val="329854879"/>
      </p:ext>
    </p:extLst>
  </p:cSld>
</p:sld>
</file>

<file path=ppt/slides/slide2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9E0BC934-0157-542C-D5BB-4CBBF257CC8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74184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>O EU MRV fornece uma intensidade anual verificada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8319C0BA-A84A-2A07-E313-F86616F29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2309028"/>
            <a:ext cx="4583034" cy="10977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/>
              <a:buNone/>
            </a:pPr>
            <a:r>
              <a:rPr sz="1600" b="0" i="0" u="none" cap="none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I anual = combustível total ÷ Σ(carga × distância). A unidade é g/(t·nm).</a:t>
            </a:r>
          </a:p>
        </p:txBody>
      </p:sp>
      <p:sp>
        <p:nvSpPr>
          <p:cNvPr id="8" name="Footer Placeholder 7">
            <a:extLst xmlns:a="http://schemas.openxmlformats.org/drawingml/2006/main">
              <a:ext uri="{FF2B5EF4-FFF2-40B4-BE49-F238E27FC236}">
                <a16:creationId xmlns:a16="http://schemas.microsoft.com/office/drawing/2014/main" id="{F581A225-34F9-0D3B-555E-87AD9B04250A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CabotageLens | Trabalho de Formatura</a:t>
            </a:r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C4C369A1-27DC-4417-B82E-882C775F892B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44E025A-983C-6D44-79C6-4612AACD43FC}" type="slidenum">
              <a:t>20</a:t>
            </a:fld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FF440E49-120F-1A2F-57EB-B02934562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8620" y="1881916"/>
            <a:ext cx="6329680" cy="16566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marL="285750" marR="0" lvl="0" indent="-285750" algn="l" defTabSz="91440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/>
              <a:buChar char="•"/>
            </a:pPr>
            <a:r>
              <a:rPr sz="1400" b="0" i="0" u="none" cap="none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plano de monitoramento por navio</a:t>
            </a:r>
          </a:p>
          <a:p xmlns:a="http://schemas.openxmlformats.org/drawingml/2006/main">
            <a:pPr marL="285750" marR="0" lvl="0" indent="-285750" algn="l" defTabSz="91440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/>
              <a:buChar char="•"/>
            </a:pPr>
            <a:r>
              <a:rPr sz="1400" b="0" i="0" u="none" cap="none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fontes e métodos documentados</a:t>
            </a:r>
          </a:p>
          <a:p xmlns:a="http://schemas.openxmlformats.org/drawingml/2006/main">
            <a:pPr marL="285750" marR="0" lvl="0" indent="-285750" algn="l" defTabSz="91440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/>
              <a:buChar char="•"/>
            </a:pPr>
            <a:r>
              <a:rPr sz="1400" b="0" i="0" u="none" cap="none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verificador acreditado</a:t>
            </a:r>
          </a:p>
          <a:p xmlns:a="http://schemas.openxmlformats.org/drawingml/2006/main">
            <a:pPr marL="285750" marR="0" lvl="0" indent="-285750" algn="l" defTabSz="91440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/>
              <a:buChar char="•"/>
            </a:pPr>
            <a:r>
              <a:rPr sz="1400" b="0" i="0" u="none" cap="none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relatório anual no THETIS-MRV</a:t>
            </a:r>
          </a:p>
        </p:txBody>
      </p:sp>
      <p:sp>
        <p:nvSpPr>
          <p:cNvPr id="2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61FF1B71-7343-3428-E1A5-01301745F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940" y="1881916"/>
            <a:ext cx="4583034" cy="22879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0" indent="0" algn="l" defTabSz="914400">
              <a:lnSpc>
                <a:spcPct val="90000"/>
              </a:lnSpc>
              <a:spcBef>
                <a:spcPts val="10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1200" b="1">
                <a:solidFill>
                  <a:schemeClr val="accent1"/>
                </a:solidFill>
                <a:latin typeface="Helvetica Neue"/>
                <a:ea typeface="Helvetica Neue"/>
                <a:cs typeface="Helvetica Neue"/>
              </a:rPr>
              <a:t>CONSTRUÇÃO</a:t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8E5C8191-FF5D-721C-939A-810BF6FFA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4622601"/>
            <a:ext cx="4583034" cy="10977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/>
              <a:buNone/>
            </a:pPr>
            <a:r>
              <a:rPr sz="1600" b="0" i="0" u="none" cap="none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Desempenho histórico médio do navio — não o consumo exato de uma viagem brasileira.</a:t>
            </a: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932FB920-4338-60DE-B515-40C9397AB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8620" y="4195489"/>
            <a:ext cx="6329680" cy="16566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marL="285750" marR="0" lvl="0" indent="-285750" algn="l" defTabSz="91440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/>
              <a:buChar char="•"/>
            </a:pPr>
            <a:r>
              <a:rPr sz="1400" b="0" i="0" u="none" cap="none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IMO conecta ANTAQ e EU MRV</a:t>
            </a:r>
          </a:p>
          <a:p xmlns:a="http://schemas.openxmlformats.org/drawingml/2006/main">
            <a:pPr marL="285750" marR="0" lvl="0" indent="-285750" algn="l" defTabSz="91440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/>
              <a:buChar char="•"/>
            </a:pPr>
            <a:r>
              <a:rPr sz="1400" b="0" i="0" u="none" cap="none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valor positivo mais recente</a:t>
            </a:r>
          </a:p>
          <a:p xmlns:a="http://schemas.openxmlformats.org/drawingml/2006/main">
            <a:pPr marL="285750" marR="0" lvl="0" indent="-285750" algn="l" defTabSz="91440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/>
              <a:buChar char="•"/>
            </a:pPr>
            <a:r>
              <a:rPr sz="1400" b="0" i="0" u="none" cap="none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procedimento rastreável</a:t>
            </a:r>
          </a:p>
          <a:p xmlns:a="http://schemas.openxmlformats.org/drawingml/2006/main">
            <a:pPr marL="285750" marR="0" lvl="0" indent="-285750" algn="l" defTabSz="91440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/>
              <a:buChar char="•"/>
            </a:pPr>
            <a:r>
              <a:rPr sz="1400" b="0" i="0" u="none" cap="none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tratar o resultado como VLSFO é premissa do modelo</a:t>
            </a:r>
          </a:p>
        </p:txBody>
      </p:sp>
      <p:sp>
        <p:nvSpPr>
          <p:cNvPr id="12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88B171C2-7536-1E2D-C49E-6F245F448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940" y="4195489"/>
            <a:ext cx="4583034" cy="22879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0" indent="0" algn="l" defTabSz="914400">
              <a:lnSpc>
                <a:spcPct val="90000"/>
              </a:lnSpc>
              <a:spcBef>
                <a:spcPts val="10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1200" b="1">
                <a:solidFill>
                  <a:schemeClr val="accent1"/>
                </a:solidFill>
                <a:latin typeface="Helvetica Neue"/>
                <a:ea typeface="Helvetica Neue"/>
                <a:cs typeface="Helvetica Neue"/>
              </a:rPr>
              <a:t>INTERPRETAÇÃO</a:t>
            </a:r>
          </a:p>
        </p:txBody>
      </p:sp>
    </p:spTree>
    <p:extLst>
      <p:ext uri="{BB962C8B-B14F-4D97-AF65-F5344CB8AC3E}">
        <p14:creationId xmlns:p14="http://schemas.microsoft.com/office/powerpoint/2010/main" val="4204513895"/>
      </p:ext>
    </p:extLst>
  </p:cSld>
</p:sld>
</file>

<file path=ppt/slides/slide2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Footer Placeholder 6">
            <a:extLst xmlns:a="http://schemas.openxmlformats.org/drawingml/2006/main">
              <a:ext uri="{FF2B5EF4-FFF2-40B4-BE49-F238E27FC236}">
                <a16:creationId xmlns:a16="http://schemas.microsoft.com/office/drawing/2014/main" id="{0AD2B367-4B64-657F-20CC-D17632C47D9A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CabotageLens | Trabalho de Formatura</a:t>
            </a:r>
          </a:p>
        </p:txBody>
      </p:sp>
      <p:sp>
        <p:nvSpPr>
          <p:cNvPr id="8" name="Slide Number Placeholder 7">
            <a:extLst xmlns:a="http://schemas.openxmlformats.org/drawingml/2006/main">
              <a:ext uri="{FF2B5EF4-FFF2-40B4-BE49-F238E27FC236}">
                <a16:creationId xmlns:a16="http://schemas.microsoft.com/office/drawing/2014/main" id="{FD963F05-59C0-B501-D15E-3C6B8AAC1FB9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DF2BE2-2DFA-1C03-677D-BDC2260D6D92}" type="slidenum">
              <a:t>21</a:t>
            </a:fld>
          </a:p>
        </p:txBody>
      </p:sp>
      <p:sp>
        <p:nvSpPr>
          <p:cNvPr id="11" name="Title 10">
            <a:extLst xmlns:a="http://schemas.openxmlformats.org/drawingml/2006/main">
              <a:ext uri="{FF2B5EF4-FFF2-40B4-BE49-F238E27FC236}">
                <a16:creationId xmlns:a16="http://schemas.microsoft.com/office/drawing/2014/main" id="{D802DC3F-F6C4-90E8-847D-BA0C2E4445D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 intensidade segue uma hierarquia única e rastreável</a:t>
            </a:r>
          </a:p>
        </p:txBody>
      </p:sp>
      <p:sp>
        <p:nvSpPr>
          <p:cNvPr id="20" name="Rounded Rectangle 19">
            <a:extLst xmlns:a="http://schemas.openxmlformats.org/drawingml/2006/main">
              <a:ext uri="{FF2B5EF4-FFF2-40B4-BE49-F238E27FC236}">
                <a16:creationId xmlns:a16="http://schemas.microsoft.com/office/drawing/2014/main" id="{18323F9C-3DB1-9BB3-9462-18B6435C1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2392388"/>
            <a:ext cx="3568700" cy="1595154"/>
          </a:xfrm>
          <a:prstGeom xmlns:a="http://schemas.openxmlformats.org/drawingml/2006/main" prst="roundRect">
            <a:avLst>
              <a:gd name="adj" fmla="val 3585"/>
            </a:avLst>
          </a:prstGeom>
          <a:solidFill xmlns:a="http://schemas.openxmlformats.org/drawingml/2006/main">
            <a:srgbClr val="F9FCFF"/>
          </a:solidFill>
          <a:ln xmlns:a="http://schemas.openxmlformats.org/drawingml/2006/main">
            <a:solidFill>
              <a:srgbClr val="EFF1F5"/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1" name="Content Placeholder 8">
            <a:extLst xmlns:a="http://schemas.openxmlformats.org/drawingml/2006/main">
              <a:ext uri="{FF2B5EF4-FFF2-40B4-BE49-F238E27FC236}">
                <a16:creationId xmlns:a16="http://schemas.microsoft.com/office/drawing/2014/main" id="{052F45FF-C9C5-2664-7FF7-CFEC29737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3381" y="2708524"/>
            <a:ext cx="2949339" cy="10935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IMO encontrado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Usar a intensidade individual.</a:t>
            </a:r>
          </a:p>
        </p:txBody>
      </p:sp>
      <p:sp>
        <p:nvSpPr>
          <p:cNvPr id="22" name="Rounded Rectangle 21">
            <a:extLst xmlns:a="http://schemas.openxmlformats.org/drawingml/2006/main">
              <a:ext uri="{FF2B5EF4-FFF2-40B4-BE49-F238E27FC236}">
                <a16:creationId xmlns:a16="http://schemas.microsoft.com/office/drawing/2014/main" id="{C3E867C1-C7DA-85C7-C8DC-55F132F29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8475" y="2392388"/>
            <a:ext cx="3568700" cy="1595154"/>
          </a:xfrm>
          <a:prstGeom xmlns:a="http://schemas.openxmlformats.org/drawingml/2006/main" prst="roundRect">
            <a:avLst>
              <a:gd name="adj" fmla="val 3585"/>
            </a:avLst>
          </a:prstGeom>
          <a:solidFill xmlns:a="http://schemas.openxmlformats.org/drawingml/2006/main">
            <a:srgbClr val="F9FCFF"/>
          </a:solidFill>
          <a:ln xmlns:a="http://schemas.openxmlformats.org/drawingml/2006/main">
            <a:solidFill>
              <a:srgbClr val="EFF1F5"/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3" name="Content Placeholder 8">
            <a:extLst xmlns:a="http://schemas.openxmlformats.org/drawingml/2006/main">
              <a:ext uri="{FF2B5EF4-FFF2-40B4-BE49-F238E27FC236}">
                <a16:creationId xmlns:a16="http://schemas.microsoft.com/office/drawing/2014/main" id="{5C40FE43-DE8E-7C68-A6D4-F8D8AECE7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8156" y="2708523"/>
            <a:ext cx="2949339" cy="109356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Valor mais recente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Manter somente indicador positivo.</a:t>
            </a:r>
          </a:p>
        </p:txBody>
      </p:sp>
      <p:sp>
        <p:nvSpPr>
          <p:cNvPr id="24" name="Rounded Rectangle 23">
            <a:extLst xmlns:a="http://schemas.openxmlformats.org/drawingml/2006/main">
              <a:ext uri="{FF2B5EF4-FFF2-40B4-BE49-F238E27FC236}">
                <a16:creationId xmlns:a16="http://schemas.microsoft.com/office/drawing/2014/main" id="{EA9CAD1D-ACB2-1454-6255-0DA0ECB85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7538" y="2392388"/>
            <a:ext cx="3568700" cy="1595154"/>
          </a:xfrm>
          <a:prstGeom xmlns:a="http://schemas.openxmlformats.org/drawingml/2006/main" prst="roundRect">
            <a:avLst>
              <a:gd name="adj" fmla="val 3585"/>
            </a:avLst>
          </a:prstGeom>
          <a:solidFill xmlns:a="http://schemas.openxmlformats.org/drawingml/2006/main">
            <a:srgbClr val="F9FCFF"/>
          </a:solidFill>
          <a:ln xmlns:a="http://schemas.openxmlformats.org/drawingml/2006/main">
            <a:solidFill>
              <a:srgbClr val="EFF1F5"/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5" name="Content Placeholder 8">
            <a:extLst xmlns:a="http://schemas.openxmlformats.org/drawingml/2006/main">
              <a:ext uri="{FF2B5EF4-FFF2-40B4-BE49-F238E27FC236}">
                <a16:creationId xmlns:a16="http://schemas.microsoft.com/office/drawing/2014/main" id="{AECA4705-7C1E-A1DB-1156-729DDE0C5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7219" y="2708523"/>
            <a:ext cx="2949339" cy="109356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Mesmo tipo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Grupo definido por Ship type.</a:t>
            </a:r>
          </a:p>
        </p:txBody>
      </p:sp>
      <p:sp>
        <p:nvSpPr>
          <p:cNvPr id="55" name="Straight Connector 54">
            <a:extLst xmlns:a="http://schemas.openxmlformats.org/drawingml/2006/main">
              <a:ext uri="{FF2B5EF4-FFF2-40B4-BE49-F238E27FC236}">
                <a16:creationId xmlns:a16="http://schemas.microsoft.com/office/drawing/2014/main" id="{FD6C928C-A54C-4230-BF02-08B9AC18B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720452" y="3987542"/>
            <a:ext cx="2432" cy="640929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F9FCFF"/>
          </a:solidFill>
          <a:ln xmlns:a="http://schemas.openxmlformats.org/drawingml/2006/main">
            <a:solidFill>
              <a:srgbClr val="EFF1F5"/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57" name="Rounded Rectangle 56">
            <a:extLst xmlns:a="http://schemas.openxmlformats.org/drawingml/2006/main">
              <a:ext uri="{FF2B5EF4-FFF2-40B4-BE49-F238E27FC236}">
                <a16:creationId xmlns:a16="http://schemas.microsoft.com/office/drawing/2014/main" id="{AA9D6F9F-2033-B55E-020F-9D9CC87DB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4356100"/>
            <a:ext cx="3568700" cy="1595154"/>
          </a:xfrm>
          <a:prstGeom xmlns:a="http://schemas.openxmlformats.org/drawingml/2006/main" prst="roundRect">
            <a:avLst>
              <a:gd name="adj" fmla="val 3585"/>
            </a:avLst>
          </a:prstGeom>
          <a:solidFill xmlns:a="http://schemas.openxmlformats.org/drawingml/2006/main">
            <a:srgbClr val="F9FCFF"/>
          </a:solidFill>
          <a:ln xmlns:a="http://schemas.openxmlformats.org/drawingml/2006/main">
            <a:solidFill>
              <a:srgbClr val="EFF1F5"/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8" name="Content Placeholder 8">
            <a:extLst xmlns:a="http://schemas.openxmlformats.org/drawingml/2006/main">
              <a:ext uri="{FF2B5EF4-FFF2-40B4-BE49-F238E27FC236}">
                <a16:creationId xmlns:a16="http://schemas.microsoft.com/office/drawing/2014/main" id="{CD09C33D-5630-C27C-C1AE-F60A9FB8E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3381" y="4672236"/>
            <a:ext cx="2949339" cy="10935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P95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Aplicar se o grupo tiver 20+ navios.</a:t>
            </a:r>
          </a:p>
        </p:txBody>
      </p:sp>
      <p:sp>
        <p:nvSpPr>
          <p:cNvPr id="59" name="Rounded Rectangle 58">
            <a:extLst xmlns:a="http://schemas.openxmlformats.org/drawingml/2006/main">
              <a:ext uri="{FF2B5EF4-FFF2-40B4-BE49-F238E27FC236}">
                <a16:creationId xmlns:a16="http://schemas.microsoft.com/office/drawing/2014/main" id="{601EDC4F-645B-5208-5A2D-CB854CDE3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8475" y="4356100"/>
            <a:ext cx="3568700" cy="1595154"/>
          </a:xfrm>
          <a:prstGeom xmlns:a="http://schemas.openxmlformats.org/drawingml/2006/main" prst="roundRect">
            <a:avLst>
              <a:gd name="adj" fmla="val 3585"/>
            </a:avLst>
          </a:prstGeom>
          <a:solidFill xmlns:a="http://schemas.openxmlformats.org/drawingml/2006/main">
            <a:srgbClr val="F9FCFF"/>
          </a:solidFill>
          <a:ln xmlns:a="http://schemas.openxmlformats.org/drawingml/2006/main">
            <a:solidFill>
              <a:srgbClr val="EFF1F5"/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0" name="Content Placeholder 8">
            <a:extLst xmlns:a="http://schemas.openxmlformats.org/drawingml/2006/main">
              <a:ext uri="{FF2B5EF4-FFF2-40B4-BE49-F238E27FC236}">
                <a16:creationId xmlns:a16="http://schemas.microsoft.com/office/drawing/2014/main" id="{3F013F15-10B5-454B-F71C-A4F07D11D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8156" y="4672235"/>
            <a:ext cx="2949339" cy="109356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Fallback robusto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Média aparada ou mediana do tipo.</a:t>
            </a:r>
          </a:p>
        </p:txBody>
      </p:sp>
      <p:sp>
        <p:nvSpPr>
          <p:cNvPr id="61" name="Rounded Rectangle 60">
            <a:extLst xmlns:a="http://schemas.openxmlformats.org/drawingml/2006/main">
              <a:ext uri="{FF2B5EF4-FFF2-40B4-BE49-F238E27FC236}">
                <a16:creationId xmlns:a16="http://schemas.microsoft.com/office/drawing/2014/main" id="{7A6CB05F-986E-7BF0-DBA3-6DBB7F45D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7538" y="4356100"/>
            <a:ext cx="3568700" cy="1595154"/>
          </a:xfrm>
          <a:prstGeom xmlns:a="http://schemas.openxmlformats.org/drawingml/2006/main" prst="roundRect">
            <a:avLst>
              <a:gd name="adj" fmla="val 3585"/>
            </a:avLst>
          </a:prstGeom>
          <a:solidFill xmlns:a="http://schemas.openxmlformats.org/drawingml/2006/main">
            <a:srgbClr val="F9FCFF"/>
          </a:solidFill>
          <a:ln xmlns:a="http://schemas.openxmlformats.org/drawingml/2006/main">
            <a:solidFill>
              <a:srgbClr val="EFF1F5"/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2" name="Content Placeholder 8">
            <a:extLst xmlns:a="http://schemas.openxmlformats.org/drawingml/2006/main">
              <a:ext uri="{FF2B5EF4-FFF2-40B4-BE49-F238E27FC236}">
                <a16:creationId xmlns:a16="http://schemas.microsoft.com/office/drawing/2014/main" id="{F756CED3-B055-A43F-881D-DD3AE0C42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7219" y="4672235"/>
            <a:ext cx="2949339" cy="109356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Procedência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Registrar fonte, amostra e tratamento.</a:t>
            </a:r>
          </a:p>
        </p:txBody>
      </p:sp>
      <p:sp>
        <p:nvSpPr>
          <p:cNvPr id="66" name="Google Shape;558;p61">
            <a:extLst xmlns:a="http://schemas.openxmlformats.org/drawingml/2006/main">
              <a:ext uri="{FF2B5EF4-FFF2-40B4-BE49-F238E27FC236}">
                <a16:creationId xmlns:a16="http://schemas.microsoft.com/office/drawing/2014/main" id="{9F246653-C148-88C9-9283-2754FF399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1347685"/>
            <a:ext cx="3568700" cy="68431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1 · CORRESPONDÊNCIA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IMO liga a escala ao navio.</a:t>
            </a:r>
          </a:p>
        </p:txBody>
      </p:sp>
      <p:sp>
        <p:nvSpPr>
          <p:cNvPr id="67" name="Google Shape;559;p61">
            <a:extLst xmlns:a="http://schemas.openxmlformats.org/drawingml/2006/main">
              <a:ext uri="{FF2B5EF4-FFF2-40B4-BE49-F238E27FC236}">
                <a16:creationId xmlns:a16="http://schemas.microsoft.com/office/drawing/2014/main" id="{CBD7303B-5E68-9B10-FF89-8C5EE8EBC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8000" y="1347685"/>
            <a:ext cx="3568700" cy="67614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2 · VERIFICAÇÃO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O valor é comparado ao mesmo tipo.</a:t>
            </a:r>
          </a:p>
        </p:txBody>
      </p:sp>
      <p:sp>
        <p:nvSpPr>
          <p:cNvPr id="68" name="Google Shape;560;p61">
            <a:extLst xmlns:a="http://schemas.openxmlformats.org/drawingml/2006/main">
              <a:ext uri="{FF2B5EF4-FFF2-40B4-BE49-F238E27FC236}">
                <a16:creationId xmlns:a16="http://schemas.microsoft.com/office/drawing/2014/main" id="{C5E2B8D5-C4EB-431F-AF0C-121F9CD77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2273" y="1347685"/>
            <a:ext cx="3568700" cy="67614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3 · SUBSTITUIÇÃO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O recorte permanece no cálculo.</a:t>
            </a:r>
          </a:p>
        </p:txBody>
      </p:sp>
    </p:spTree>
    <p:extLst>
      <p:ext uri="{BB962C8B-B14F-4D97-AF65-F5344CB8AC3E}">
        <p14:creationId xmlns:p14="http://schemas.microsoft.com/office/powerpoint/2010/main" val="1678413312"/>
      </p:ext>
    </p:extLst>
  </p:cSld>
</p:sld>
</file>

<file path=ppt/slides/slide2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Footer Placeholder 3">
            <a:extLst xmlns:a="http://schemas.openxmlformats.org/drawingml/2006/main">
              <a:ext uri="{FF2B5EF4-FFF2-40B4-BE49-F238E27FC236}">
                <a16:creationId xmlns:a16="http://schemas.microsoft.com/office/drawing/2014/main" id="{99299C6E-3FDF-5AB3-E054-F3F59B33981F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t>CabotageLens | Trabalho de Formatura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233DF656-61B4-2882-D797-9122308526BC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lvl="0" indent="0" algn="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fld id="{0BB18BA8-60F4-C50D-CD9B-1BB87D3E8506}" type="slidenum">
              <a:rPr sz="1100" b="0" i="0" u="none" cap="none">
                <a:ln>
                  <a:noFill/>
                </a:ln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22</a:t>
            </a:fld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9414154B-F746-1A74-21F7-6E5F045F178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>Trabalho de transporte determina o peso de cada recorte</a:t>
            </a:r>
          </a:p>
        </p:txBody>
      </p:sp>
      <p:sp>
        <p:nvSpPr>
          <p:cNvPr id="5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5D9F23F1-48AA-5A67-CC7C-B65A7A754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1796192"/>
            <a:ext cx="11404599" cy="122640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0" indent="0" algn="l" defTabSz="914400">
              <a:lnSpc>
                <a:spcPct val="90000"/>
              </a:lnSpc>
              <a:spcBef>
                <a:spcPts val="10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marR="0" lvl="0" indent="0" algn="l" defTabSz="914400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/>
              <a:buNone/>
            </a:pPr>
            <a:r>
              <a:rPr sz="1800" b="0" i="0" u="none" cap="none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Cada viagem contribui conforme a carga a bordo e a distância, sem escolher um único corredor.</a:t>
            </a:r>
          </a:p>
        </p:txBody>
      </p:sp>
      <p:sp>
        <p:nvSpPr>
          <p:cNvPr id="7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3DB02F86-AD0D-BE24-B025-8A7BB49E0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939" y="1384301"/>
            <a:ext cx="11404599" cy="23127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0" indent="0" algn="l" defTabSz="914400">
              <a:lnSpc>
                <a:spcPct val="90000"/>
              </a:lnSpc>
              <a:spcBef>
                <a:spcPts val="10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marR="0" lvl="0" indent="0" algn="l" defTabSz="914400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/>
              <a:buNone/>
            </a:pPr>
            <a:r>
              <a:rPr sz="1200" b="1" i="0" u="none" cap="none">
                <a:ln>
                  <a:noFill/>
                </a:ln>
                <a:solidFill>
                  <a:srgbClr val="175CD4"/>
                </a:solidFill>
                <a:latin typeface="Helvetica Neue"/>
                <a:ea typeface="Helvetica Neue"/>
                <a:cs typeface="Helvetica Neue"/>
              </a:rPr>
              <a:t>TRÊS ETAPAS</a:t>
            </a:r>
          </a:p>
        </p:txBody>
      </p:sp>
      <p:sp>
        <p:nvSpPr>
          <p:cNvPr id="17" name="Rounded Rectangle 16">
            <a:extLst xmlns:a="http://schemas.openxmlformats.org/drawingml/2006/main">
              <a:ext uri="{FF2B5EF4-FFF2-40B4-BE49-F238E27FC236}">
                <a16:creationId xmlns:a16="http://schemas.microsoft.com/office/drawing/2014/main" id="{C39129E7-9749-F0E3-59EF-1B786983B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3365498"/>
            <a:ext cx="3568700" cy="2628901"/>
          </a:xfrm>
          <a:prstGeom xmlns:a="http://schemas.openxmlformats.org/drawingml/2006/main" prst="roundRect">
            <a:avLst>
              <a:gd name="adj" fmla="val 3585"/>
            </a:avLst>
          </a:prstGeom>
          <a:solidFill xmlns:a="http://schemas.openxmlformats.org/drawingml/2006/main">
            <a:srgbClr val="F9FCFF"/>
          </a:solidFill>
          <a:ln xmlns:a="http://schemas.openxmlformats.org/drawingml/2006/main">
            <a:solidFill>
              <a:srgbClr val="EFF1F5"/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</a:p>
        </p:txBody>
      </p:sp>
      <p:sp>
        <p:nvSpPr>
          <p:cNvPr id="18" name="Rounded Rectangle 17">
            <a:extLst xmlns:a="http://schemas.openxmlformats.org/drawingml/2006/main">
              <a:ext uri="{FF2B5EF4-FFF2-40B4-BE49-F238E27FC236}">
                <a16:creationId xmlns:a16="http://schemas.microsoft.com/office/drawing/2014/main" id="{98728FDE-6DD0-74E3-B860-01CB47A22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1650" y="3365498"/>
            <a:ext cx="3568700" cy="2628901"/>
          </a:xfrm>
          <a:prstGeom xmlns:a="http://schemas.openxmlformats.org/drawingml/2006/main" prst="roundRect">
            <a:avLst>
              <a:gd name="adj" fmla="val 3585"/>
            </a:avLst>
          </a:prstGeom>
          <a:solidFill xmlns:a="http://schemas.openxmlformats.org/drawingml/2006/main">
            <a:srgbClr val="F9FCFF"/>
          </a:solidFill>
          <a:ln xmlns:a="http://schemas.openxmlformats.org/drawingml/2006/main">
            <a:solidFill>
              <a:srgbClr val="EFF1F5"/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</a:p>
        </p:txBody>
      </p:sp>
      <p:sp>
        <p:nvSpPr>
          <p:cNvPr id="19" name="Rounded Rectangle 18">
            <a:extLst xmlns:a="http://schemas.openxmlformats.org/drawingml/2006/main">
              <a:ext uri="{FF2B5EF4-FFF2-40B4-BE49-F238E27FC236}">
                <a16:creationId xmlns:a16="http://schemas.microsoft.com/office/drawing/2014/main" id="{F228B342-3C4A-AE4E-4223-223CEE77A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2297" y="3365498"/>
            <a:ext cx="3568700" cy="2628901"/>
          </a:xfrm>
          <a:prstGeom xmlns:a="http://schemas.openxmlformats.org/drawingml/2006/main" prst="roundRect">
            <a:avLst>
              <a:gd name="adj" fmla="val 3585"/>
            </a:avLst>
          </a:prstGeom>
          <a:solidFill xmlns:a="http://schemas.openxmlformats.org/drawingml/2006/main">
            <a:srgbClr val="F9FCFF"/>
          </a:solidFill>
          <a:ln xmlns:a="http://schemas.openxmlformats.org/drawingml/2006/main">
            <a:solidFill>
              <a:srgbClr val="EFF1F5"/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</a:p>
        </p:txBody>
      </p:sp>
      <p:sp>
        <p:nvSpPr>
          <p:cNvPr id="20" name="Content Placeholder 8">
            <a:extLst xmlns:a="http://schemas.openxmlformats.org/drawingml/2006/main">
              <a:ext uri="{FF2B5EF4-FFF2-40B4-BE49-F238E27FC236}">
                <a16:creationId xmlns:a16="http://schemas.microsoft.com/office/drawing/2014/main" id="{A83E7952-0C3E-8CA0-CBD2-20DE64FBB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3381" y="3709346"/>
            <a:ext cx="2949339" cy="198120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marR="0" lvl="0" indent="0" algn="l" defTabSz="91440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/>
              <a:buNone/>
            </a:pPr>
            <a:r>
              <a:rPr sz="2000" b="0" i="0" u="none" cap="none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Subtrecho</a:t>
            </a:r>
          </a:p>
          <a:p xmlns:a="http://schemas.openxmlformats.org/drawingml/2006/main">
            <a:pPr marL="0" marR="0" lvl="0" indent="0" algn="l" defTabSz="91440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/>
              <a:buNone/>
            </a:pPr>
            <a:r>
              <a:rPr sz="1600" b="0" i="0" u="none" cap="none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Ws = ms × ds</a:t>
            </a:r>
          </a:p>
        </p:txBody>
      </p:sp>
      <p:sp>
        <p:nvSpPr>
          <p:cNvPr id="21" name="Content Placeholder 9">
            <a:extLst xmlns:a="http://schemas.openxmlformats.org/drawingml/2006/main">
              <a:ext uri="{FF2B5EF4-FFF2-40B4-BE49-F238E27FC236}">
                <a16:creationId xmlns:a16="http://schemas.microsoft.com/office/drawing/2014/main" id="{ED1D1552-9316-E417-6E62-1A809C636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7681" y="3709346"/>
            <a:ext cx="2949339" cy="198120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marR="0" lvl="0" indent="0" algn="l" defTabSz="91440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/>
              <a:buNone/>
            </a:pPr>
            <a:r>
              <a:rPr sz="2000" b="0" i="0" u="none" cap="none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Recorte</a:t>
            </a:r>
          </a:p>
          <a:p xmlns:a="http://schemas.openxmlformats.org/drawingml/2006/main">
            <a:pPr marL="0" marR="0" lvl="0" indent="0" algn="l" defTabSz="91440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/>
              <a:buNone/>
            </a:pPr>
            <a:r>
              <a:rPr sz="1600" b="0" i="0" u="none" cap="none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Wv = Σs ms × ds</a:t>
            </a:r>
          </a:p>
        </p:txBody>
      </p:sp>
      <p:sp>
        <p:nvSpPr>
          <p:cNvPr id="22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9E266E2C-270B-3F65-3279-162369AD9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1954" y="3709346"/>
            <a:ext cx="2949339" cy="198120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marR="0" lvl="0" indent="0" algn="l" defTabSz="91440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/>
              <a:buNone/>
            </a:pPr>
            <a:r>
              <a:rPr sz="2000" b="0" i="0" u="none" cap="none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Ligação</a:t>
            </a:r>
          </a:p>
          <a:p xmlns:a="http://schemas.openxmlformats.org/drawingml/2006/main">
            <a:pPr marL="0" marR="0" lvl="0" indent="0" algn="l" defTabSz="91440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/>
              <a:buNone/>
            </a:pPr>
            <a:r>
              <a:rPr sz="1600" b="0" i="0" u="none" cap="none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Irep = Σv Iv × Wv ÷ Σv Wv</a:t>
            </a:r>
          </a:p>
        </p:txBody>
      </p:sp>
    </p:spTree>
    <p:extLst>
      <p:ext uri="{BB962C8B-B14F-4D97-AF65-F5344CB8AC3E}">
        <p14:creationId xmlns:p14="http://schemas.microsoft.com/office/powerpoint/2010/main" val="310122253"/>
      </p:ext>
    </p:extLst>
  </p:cSld>
</p:sld>
</file>

<file path=ppt/slides/slide2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itle 10">
            <a:extLst xmlns:a="http://schemas.openxmlformats.org/drawingml/2006/main">
              <a:ext uri="{FF2B5EF4-FFF2-40B4-BE49-F238E27FC236}">
                <a16:creationId xmlns:a16="http://schemas.microsoft.com/office/drawing/2014/main" id="{8D39B68E-326B-DDEB-2069-B8BB0D01F04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9448800" cy="1047491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 distância é calculada separadamente da intensidade</a:t>
            </a:r>
          </a:p>
        </p:txBody>
      </p:sp>
      <p:sp>
        <p:nvSpPr>
          <p:cNvPr id="3" name="Rounded Rectangle 2">
            <a:extLst xmlns:a="http://schemas.openxmlformats.org/drawingml/2006/main">
              <a:ext uri="{FF2B5EF4-FFF2-40B4-BE49-F238E27FC236}">
                <a16:creationId xmlns:a16="http://schemas.microsoft.com/office/drawing/2014/main" id="{29B30B4D-AB5C-65DB-5658-753508EB3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3074698"/>
            <a:ext cx="2581975" cy="2656541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9FCFF"/>
          </a:solidFill>
          <a:ln xmlns:a="http://schemas.openxmlformats.org/drawingml/2006/main">
            <a:solidFill>
              <a:srgbClr val="EFF1F5"/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2" name="Content Placeholder 9">
            <a:extLst xmlns:a="http://schemas.openxmlformats.org/drawingml/2006/main">
              <a:ext uri="{FF2B5EF4-FFF2-40B4-BE49-F238E27FC236}">
                <a16:creationId xmlns:a16="http://schemas.microsoft.com/office/drawing/2014/main" id="{48F23094-2741-BF93-9618-593A39D42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052" y="3294588"/>
            <a:ext cx="2133315" cy="903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2540" marR="0" lvl="0" indent="0" algn="l" defTabSz="9144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Pts val="1400"/>
              <a:buNone/>
            </a:pPr>
            <a:r>
              <a:rPr sz="5000" u="none" cap="none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89</a:t>
            </a:r>
          </a:p>
        </p:txBody>
      </p:sp>
      <p:sp>
        <p:nvSpPr>
          <p:cNvPr id="16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D63831D1-6AB6-9FDC-DF3D-910C1C60EA7D}"/>
              </a:ext>
            </a:extLst>
          </p:cNvPr>
          <p:cNvSpPr>
            <a:spLocks xmlns:a="http://schemas.openxmlformats.org/drawingml/2006/main" noGrp="1"/>
          </p:cNvSpPr>
          <p:nvPr>
            <p:ph idx="4294967295"/>
          </p:nvPr>
        </p:nvSpPr>
        <p:spPr>
          <a:xfrm xmlns:a="http://schemas.openxmlformats.org/drawingml/2006/main">
            <a:off x="697670" y="4782848"/>
            <a:ext cx="2066698" cy="615950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400">
                <a:latin typeface="Helvetica Neue"/>
                <a:ea typeface="Helvetica Neue"/>
                <a:cs typeface="Helvetica Neue"/>
              </a:rPr>
              <a:t>recortes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400">
                <a:latin typeface="Helvetica Neue"/>
                <a:ea typeface="Helvetica Neue"/>
                <a:cs typeface="Helvetica Neue"/>
              </a:rPr>
              <a:t>Santos → Manaus</a:t>
            </a:r>
          </a:p>
        </p:txBody>
      </p:sp>
      <p:sp>
        <p:nvSpPr>
          <p:cNvPr id="34" name="Rounded Rectangle 33">
            <a:extLst xmlns:a="http://schemas.openxmlformats.org/drawingml/2006/main">
              <a:ext uri="{FF2B5EF4-FFF2-40B4-BE49-F238E27FC236}">
                <a16:creationId xmlns:a16="http://schemas.microsoft.com/office/drawing/2014/main" id="{D0C74EF0-61EA-0AD2-19B0-75CAAA4B8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5905" y="3074698"/>
            <a:ext cx="2581975" cy="2656541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9FCFF"/>
          </a:solidFill>
          <a:ln xmlns:a="http://schemas.openxmlformats.org/drawingml/2006/main">
            <a:solidFill>
              <a:srgbClr val="EFF1F5"/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5" name="Content Placeholder 9">
            <a:extLst xmlns:a="http://schemas.openxmlformats.org/drawingml/2006/main">
              <a:ext uri="{FF2B5EF4-FFF2-40B4-BE49-F238E27FC236}">
                <a16:creationId xmlns:a16="http://schemas.microsoft.com/office/drawing/2014/main" id="{6130B530-1157-40A3-0161-21ADDD16D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3257" y="3294588"/>
            <a:ext cx="2133315" cy="903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2540" marR="0" lvl="0" indent="0" algn="l" defTabSz="9144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Pts val="1400"/>
              <a:buNone/>
            </a:pPr>
            <a:r>
              <a:rPr sz="5000" u="none" cap="none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22</a:t>
            </a:r>
          </a:p>
        </p:txBody>
      </p:sp>
      <p:sp>
        <p:nvSpPr>
          <p:cNvPr id="36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7DE51176-FC24-C3CB-45B8-8EA48AFAF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9875" y="4782848"/>
            <a:ext cx="2066698" cy="615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400">
                <a:latin typeface="Helvetica Neue"/>
                <a:ea typeface="Helvetica Neue"/>
                <a:cs typeface="Helvetica Neue"/>
              </a:rPr>
              <a:t>corredores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400">
                <a:latin typeface="Helvetica Neue"/>
                <a:ea typeface="Helvetica Neue"/>
                <a:cs typeface="Helvetica Neue"/>
              </a:rPr>
              <a:t>1 direto · 88 com escalas</a:t>
            </a:r>
          </a:p>
        </p:txBody>
      </p:sp>
      <p:sp>
        <p:nvSpPr>
          <p:cNvPr id="37" name="Rounded Rectangle 36">
            <a:extLst xmlns:a="http://schemas.openxmlformats.org/drawingml/2006/main">
              <a:ext uri="{FF2B5EF4-FFF2-40B4-BE49-F238E27FC236}">
                <a16:creationId xmlns:a16="http://schemas.microsoft.com/office/drawing/2014/main" id="{B5992B1D-5E0E-664C-375F-216AFC12E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1986" y="3074698"/>
            <a:ext cx="2581975" cy="2656541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9FCFF"/>
          </a:solidFill>
          <a:ln xmlns:a="http://schemas.openxmlformats.org/drawingml/2006/main">
            <a:solidFill>
              <a:srgbClr val="EFF1F5"/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8" name="Content Placeholder 9">
            <a:extLst xmlns:a="http://schemas.openxmlformats.org/drawingml/2006/main">
              <a:ext uri="{FF2B5EF4-FFF2-40B4-BE49-F238E27FC236}">
                <a16:creationId xmlns:a16="http://schemas.microsoft.com/office/drawing/2014/main" id="{54A023A6-B45F-0FFE-0391-DBB435439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9338" y="3294588"/>
            <a:ext cx="2133315" cy="903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>
            <a:normAutofit fontScale="89353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2540" marR="0" lvl="0" indent="0" algn="l" defTabSz="9144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Pts val="1400"/>
              <a:buNone/>
            </a:pPr>
            <a:r>
              <a:rPr sz="5000" u="none" cap="none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6.975 km</a:t>
            </a:r>
          </a:p>
        </p:txBody>
      </p:sp>
      <p:sp>
        <p:nvSpPr>
          <p:cNvPr id="39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5E890D67-9D53-7808-5E55-E05F92307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5956" y="4782848"/>
            <a:ext cx="2066698" cy="615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400">
                <a:latin typeface="Helvetica Neue"/>
                <a:ea typeface="Helvetica Neue"/>
                <a:cs typeface="Helvetica Neue"/>
              </a:rPr>
              <a:t>P95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400">
                <a:latin typeface="Helvetica Neue"/>
                <a:ea typeface="Helvetica Neue"/>
                <a:cs typeface="Helvetica Neue"/>
              </a:rPr>
              <a:t>2 recortes acima</a:t>
            </a:r>
          </a:p>
        </p:txBody>
      </p:sp>
      <p:sp>
        <p:nvSpPr>
          <p:cNvPr id="40" name="Rounded Rectangle 39">
            <a:extLst xmlns:a="http://schemas.openxmlformats.org/drawingml/2006/main">
              <a:ext uri="{FF2B5EF4-FFF2-40B4-BE49-F238E27FC236}">
                <a16:creationId xmlns:a16="http://schemas.microsoft.com/office/drawing/2014/main" id="{DEE6595D-2709-1F7C-8B9A-47164A9A4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4191" y="3074698"/>
            <a:ext cx="2581975" cy="2656541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9FCFF"/>
          </a:solidFill>
          <a:ln xmlns:a="http://schemas.openxmlformats.org/drawingml/2006/main">
            <a:solidFill>
              <a:srgbClr val="EFF1F5"/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1" name="Content Placeholder 9">
            <a:extLst xmlns:a="http://schemas.openxmlformats.org/drawingml/2006/main">
              <a:ext uri="{FF2B5EF4-FFF2-40B4-BE49-F238E27FC236}">
                <a16:creationId xmlns:a16="http://schemas.microsoft.com/office/drawing/2014/main" id="{0DD8DA38-D646-1FA9-28D4-71AFE0F87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1543" y="3294588"/>
            <a:ext cx="2133315" cy="903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>
            <a:normAutofit fontScale="89353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2540" marR="0" lvl="0" indent="0" algn="l" defTabSz="9144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Pts val="1400"/>
              <a:buNone/>
            </a:pPr>
            <a:r>
              <a:rPr sz="5000" u="none" cap="none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6.095 km</a:t>
            </a:r>
          </a:p>
        </p:txBody>
      </p:sp>
      <p:sp>
        <p:nvSpPr>
          <p:cNvPr id="42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5D7CE5C2-7A4C-5B39-AEB6-25510E71F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8161" y="4782848"/>
            <a:ext cx="2066698" cy="615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400">
                <a:latin typeface="Helvetica Neue"/>
                <a:ea typeface="Helvetica Neue"/>
                <a:cs typeface="Helvetica Neue"/>
              </a:rPr>
              <a:t>média final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400">
                <a:latin typeface="Helvetica Neue"/>
                <a:ea typeface="Helvetica Neue"/>
                <a:cs typeface="Helvetica Neue"/>
              </a:rPr>
              <a:t>87 recortes · 20 corredores</a:t>
            </a:r>
          </a:p>
        </p:txBody>
      </p:sp>
      <p:sp>
        <p:nvSpPr>
          <p:cNvPr id="4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21B19CD8-2634-6048-888D-54374B2A6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8427" y="1938897"/>
            <a:ext cx="5539873" cy="990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600">
                <a:latin typeface="Helvetica Neue"/>
                <a:ea typeface="Helvetica Neue"/>
                <a:cs typeface="Helvetica Neue"/>
              </a:rPr>
              <a:t>Ponderação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600">
                <a:latin typeface="Helvetica Neue"/>
                <a:ea typeface="Helvetica Neue"/>
                <a:cs typeface="Helvetica Neue"/>
              </a:rPr>
              <a:t>Cada distância completa recebe o peso da carga média a bordo do próprio recorte.</a:t>
            </a:r>
          </a:p>
        </p:txBody>
      </p:sp>
      <p:sp>
        <p:nvSpPr>
          <p:cNvPr id="5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D5713544-9BEE-5C18-38B2-3D7DD243F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1027" y="1938897"/>
            <a:ext cx="5539873" cy="990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600">
                <a:latin typeface="Helvetica Neue"/>
                <a:ea typeface="Helvetica Neue"/>
                <a:cs typeface="Helvetica Neue"/>
              </a:rPr>
              <a:t>Triagem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600">
                <a:latin typeface="Helvetica Neue"/>
                <a:ea typeface="Helvetica Neue"/>
                <a:cs typeface="Helvetica Neue"/>
              </a:rPr>
              <a:t>Com 20+ recortes, distâncias acima do P95 saem apenas da média de distância.</a:t>
            </a:r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BFBBC9C7-9694-DE21-B364-07358EFB8B15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CabotageLens | Trabalho de Formatura</a:t>
            </a:r>
          </a:p>
        </p:txBody>
      </p:sp>
      <p:sp>
        <p:nvSpPr>
          <p:cNvPr id="2" name="Slide Number Placeholder 1">
            <a:extLst xmlns:a="http://schemas.openxmlformats.org/drawingml/2006/main">
              <a:ext uri="{FF2B5EF4-FFF2-40B4-BE49-F238E27FC236}">
                <a16:creationId xmlns:a16="http://schemas.microsoft.com/office/drawing/2014/main" id="{D07332E9-E6BC-DD47-F254-482EEDAF5811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A4E99CEF-AF55-BA3C-ADF8-4E52E186DD8F}" type="slidenum">
              <a:t>23</a:t>
            </a:fld>
          </a:p>
        </p:txBody>
      </p:sp>
    </p:spTree>
    <p:extLst>
      <p:ext uri="{BB962C8B-B14F-4D97-AF65-F5344CB8AC3E}">
        <p14:creationId xmlns:p14="http://schemas.microsoft.com/office/powerpoint/2010/main" val="4134999073"/>
      </p:ext>
    </p:extLst>
  </p:cSld>
</p:sld>
</file>

<file path=ppt/slides/slide2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itle 10">
            <a:extLst xmlns:a="http://schemas.openxmlformats.org/drawingml/2006/main">
              <a:ext uri="{FF2B5EF4-FFF2-40B4-BE49-F238E27FC236}">
                <a16:creationId xmlns:a16="http://schemas.microsoft.com/office/drawing/2014/main" id="{4AEA3A7D-DBCA-D3E4-FBE6-7DFA3D3F5D9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9"/>
            <a:ext cx="7835900" cy="69739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Cinco recortes mostram como as médias são formadas</a:t>
            </a:r>
          </a:p>
        </p:txBody>
      </p:sp>
      <p:sp>
        <p:nvSpPr>
          <p:cNvPr id="37" name="Rounded Rectangle 36">
            <a:extLst xmlns:a="http://schemas.openxmlformats.org/drawingml/2006/main">
              <a:ext uri="{FF2B5EF4-FFF2-40B4-BE49-F238E27FC236}">
                <a16:creationId xmlns:a16="http://schemas.microsoft.com/office/drawing/2014/main" id="{AD9F0FEC-2745-EA90-4350-ECA013967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1986" y="3360085"/>
            <a:ext cx="2581975" cy="2656541"/>
          </a:xfrm>
          <a:prstGeom xmlns:a="http://schemas.openxmlformats.org/drawingml/2006/main" prst="roundRect">
            <a:avLst>
              <a:gd name="adj" fmla="val 6087"/>
            </a:avLst>
          </a:prstGeom>
          <a:solidFill xmlns:a="http://schemas.openxmlformats.org/drawingml/2006/main">
            <a:srgbClr val="F9FCFF"/>
          </a:solidFill>
          <a:ln xmlns:a="http://schemas.openxmlformats.org/drawingml/2006/main">
            <a:solidFill>
              <a:srgbClr val="EFF1F5"/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8" name="Content Placeholder 9">
            <a:extLst xmlns:a="http://schemas.openxmlformats.org/drawingml/2006/main">
              <a:ext uri="{FF2B5EF4-FFF2-40B4-BE49-F238E27FC236}">
                <a16:creationId xmlns:a16="http://schemas.microsoft.com/office/drawing/2014/main" id="{9F2C50E3-28B0-6CBB-D0C2-A884FA6A0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9338" y="3579975"/>
            <a:ext cx="2133315" cy="903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2540" marR="0" lvl="0" indent="0" algn="l" defTabSz="9144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Pts val="1400"/>
              <a:buNone/>
            </a:pPr>
            <a:r>
              <a:rPr sz="5000" u="none" cap="none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7,337</a:t>
            </a:r>
          </a:p>
        </p:txBody>
      </p:sp>
      <p:sp>
        <p:nvSpPr>
          <p:cNvPr id="39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57309BA0-73E7-AB92-9FFA-3CB6E7D29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5956" y="5068235"/>
            <a:ext cx="2066698" cy="615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400">
                <a:latin typeface="Helvetica Neue"/>
                <a:ea typeface="Helvetica Neue"/>
                <a:cs typeface="Helvetica Neue"/>
              </a:rPr>
              <a:t>g/(t·nm)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400">
                <a:latin typeface="Helvetica Neue"/>
                <a:ea typeface="Helvetica Neue"/>
                <a:cs typeface="Helvetica Neue"/>
              </a:rPr>
              <a:t>intensidade dos cinco</a:t>
            </a:r>
          </a:p>
        </p:txBody>
      </p:sp>
      <p:sp>
        <p:nvSpPr>
          <p:cNvPr id="40" name="Rounded Rectangle 39">
            <a:extLst xmlns:a="http://schemas.openxmlformats.org/drawingml/2006/main">
              <a:ext uri="{FF2B5EF4-FFF2-40B4-BE49-F238E27FC236}">
                <a16:creationId xmlns:a16="http://schemas.microsoft.com/office/drawing/2014/main" id="{5BFE1F75-4AAC-629D-4488-BAAF31013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4191" y="3360085"/>
            <a:ext cx="2581975" cy="2656541"/>
          </a:xfrm>
          <a:prstGeom xmlns:a="http://schemas.openxmlformats.org/drawingml/2006/main" prst="roundRect">
            <a:avLst>
              <a:gd name="adj" fmla="val 4984"/>
            </a:avLst>
          </a:prstGeom>
          <a:solidFill xmlns:a="http://schemas.openxmlformats.org/drawingml/2006/main">
            <a:srgbClr val="F9FCFF"/>
          </a:solidFill>
          <a:ln xmlns:a="http://schemas.openxmlformats.org/drawingml/2006/main">
            <a:solidFill>
              <a:srgbClr val="EFF1F5"/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1" name="Content Placeholder 9">
            <a:extLst xmlns:a="http://schemas.openxmlformats.org/drawingml/2006/main">
              <a:ext uri="{FF2B5EF4-FFF2-40B4-BE49-F238E27FC236}">
                <a16:creationId xmlns:a16="http://schemas.microsoft.com/office/drawing/2014/main" id="{EDD16FA6-BF88-7DA4-7782-F905386C7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1543" y="3579975"/>
            <a:ext cx="2133315" cy="903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>
            <a:normAutofit fontScale="89353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2540" marR="0" lvl="0" indent="0" algn="l" defTabSz="9144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Pts val="1400"/>
              <a:buNone/>
            </a:pPr>
            <a:r>
              <a:rPr sz="5000" u="none" cap="none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6.120 km</a:t>
            </a:r>
          </a:p>
        </p:txBody>
      </p:sp>
      <p:sp>
        <p:nvSpPr>
          <p:cNvPr id="42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6E0E4F2E-E5BA-848F-0BB2-B4A15FA33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8161" y="5068235"/>
            <a:ext cx="2066698" cy="615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400">
                <a:latin typeface="Helvetica Neue"/>
                <a:ea typeface="Helvetica Neue"/>
                <a:cs typeface="Helvetica Neue"/>
              </a:rPr>
              <a:t>distância ponderada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400">
                <a:latin typeface="Helvetica Neue"/>
                <a:ea typeface="Helvetica Neue"/>
                <a:cs typeface="Helvetica Neue"/>
              </a:rPr>
              <a:t>dos cinco</a:t>
            </a:r>
          </a:p>
        </p:txBody>
      </p:sp>
      <p:sp>
        <p:nvSpPr>
          <p:cNvPr id="4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D1B313AA-3A24-CBDF-D666-09D42298B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1100" y="1955554"/>
            <a:ext cx="5539873" cy="990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600">
                <a:latin typeface="Helvetica Neue"/>
                <a:ea typeface="Helvetica Neue"/>
                <a:cs typeface="Helvetica Neue"/>
              </a:rPr>
              <a:t>O exemplo ilustra o processo. A aplicação repete o cálculo para todos os recortes elegíveis Santos–Manaus.</a:t>
            </a:r>
          </a:p>
        </p:txBody>
      </p:sp>
      <p:graphicFrame>
        <p:nvGraphicFramePr>
          <p:cNvPr id="55" name="Chart 2"/>
          <p:cNvGraphicFramePr/>
          <p:nvPr/>
        </p:nvGraphicFramePr>
        <p:xfrm>
          <a:off xmlns:a="http://schemas.openxmlformats.org/drawingml/2006/main" x="385834" y="1254715"/>
          <a:ext xmlns:a="http://schemas.openxmlformats.org/drawingml/2006/main" cx="5534180" cy="5259277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a5f882ba96224d29"/>
          </a:graphicData>
        </a:graphic>
      </p:graphicFrame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CA82F118-C6BB-3BC4-35D2-F1406F35370D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CabotageLens | Trabalho de Formatura</a:t>
            </a:r>
          </a:p>
        </p:txBody>
      </p:sp>
      <p:sp>
        <p:nvSpPr>
          <p:cNvPr id="2" name="Slide Number Placeholder 1">
            <a:extLst xmlns:a="http://schemas.openxmlformats.org/drawingml/2006/main">
              <a:ext uri="{FF2B5EF4-FFF2-40B4-BE49-F238E27FC236}">
                <a16:creationId xmlns:a16="http://schemas.microsoft.com/office/drawing/2014/main" id="{FEC22377-6A13-05D7-1E02-074A373A360F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A59AF09-D197-0193-A7DE-FAAF0B691058}" type="slidenum">
              <a:t>24</a:t>
            </a:fld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5817F0D0-B20A-4831-8D49-D40F24015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834" y="1254715"/>
            <a:ext cx="5534180" cy="525927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</a:ln>
        </p:spPr>
      </p:sp>
      <p:pic>
        <p:nvPicPr>
          <p:cNvPr id="5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07304955b354c4f"/>
          <a:stretch xmlns:a="http://schemas.openxmlformats.org/drawingml/2006/main"/>
        </p:blipFill>
        <p:spPr>
          <a:xfrm xmlns:a="http://schemas.openxmlformats.org/drawingml/2006/main">
            <a:off x="385834" y="1840964"/>
            <a:ext cx="5534180" cy="4086779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6809181"/>
      </p:ext>
    </p:extLst>
  </p:cSld>
</p:sld>
</file>

<file path=ppt/slides/slide2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08EBC4B8-BBC1-7C2A-F77D-BEC6394B0F9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9"/>
            <a:ext cx="7835900" cy="58158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>Resultado consolidado da alternativa multimodal</a:t>
            </a:r>
          </a:p>
        </p:txBody>
      </p:sp>
      <p:sp>
        <p:nvSpPr>
          <p:cNvPr id="14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D81689CF-E5CF-3072-801D-DC2D321D4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939" y="1021193"/>
            <a:ext cx="11404599" cy="104855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0" indent="0" algn="l" defTabSz="914400">
              <a:lnSpc>
                <a:spcPct val="90000"/>
              </a:lnSpc>
              <a:spcBef>
                <a:spcPts val="10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1400">
                <a:solidFill>
                  <a:prstClr val="black"/>
                </a:solidFill>
                <a:latin typeface="Helvetica Neue Medium"/>
                <a:ea typeface="Helvetica Neue Medium"/>
                <a:cs typeface="Helvetica Neue Medium"/>
              </a:rPr>
              <a:t>São Paulo → Santos → Manaus → Rio Branco</a:t>
            </a:r>
          </a:p>
          <a:p xmlns:a="http://schemas.openxmlformats.org/drawingml/2006/main">
            <a:pPr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14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Remessa de 14 t; combustíveis distintos são agregados somente após conversão em custo e CO₂e TTW.</a:t>
            </a:r>
          </a:p>
        </p:txBody>
      </p:sp>
      <p:graphicFrame>
        <p:nvGraphicFramePr>
          <p:cNvPr id="537" name="Google Shape;644;p93"/>
          <p:cNvGraphicFramePr/>
          <p:nvPr/>
        </p:nvGraphicFramePr>
        <p:xfrm>
          <a:off xmlns:a="http://schemas.openxmlformats.org/drawingml/2006/main" x="393700" y="2251080"/>
          <a:ext xmlns:a="http://schemas.openxmlformats.org/drawingml/2006/main" cx="11404599" cy="3932614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906063"/>
                <a:gridCol w="1874634"/>
                <a:gridCol w="1874634"/>
                <a:gridCol w="1874634"/>
                <a:gridCol w="1874634"/>
              </a:tblGrid>
              <a:tr h="437022"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 b="1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Etapa</a:t>
                      </a: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19050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sz="1400" b="1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Distância</a:t>
                      </a: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19050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 b="1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Combustível</a:t>
                      </a: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19050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sz="1400" b="1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Emissões TTW</a:t>
                      </a: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19050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sz="1400" b="1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Custo</a:t>
                      </a: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19050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</a:lnB>
                  </a:tcPr>
                </a:tc>
              </a:tr>
              <a:tr h="436949"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First mile</a:t>
                      </a: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86,170 km</a:t>
                      </a: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37,465 L diesel</a:t>
                      </a: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100,41 kg</a:t>
                      </a: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R$ 260,76</a:t>
                      </a: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</a:tr>
              <a:tr h="436949"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Navegação</a:t>
                      </a: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6.094,975 km</a:t>
                      </a: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322,801 kg VLSFO</a:t>
                      </a: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1.005,20 kg</a:t>
                      </a: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R$ 1.230,62</a:t>
                      </a: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</a:tr>
              <a:tr h="436949"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Portos</a:t>
                      </a: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—</a:t>
                      </a: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4,820 L diesel</a:t>
                      </a: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12,92 kg</a:t>
                      </a: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R$ 34,25</a:t>
                      </a: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</a:tr>
              <a:tr h="436949"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Last mile</a:t>
                      </a: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1.403,691 km</a:t>
                      </a: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610,300 L diesel</a:t>
                      </a: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1.635,60 kg</a:t>
                      </a: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R$ 5.041,08</a:t>
                      </a: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</a:tr>
              <a:tr h="436949"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TOTAL</a:t>
                      </a: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7.584,836 km</a:t>
                      </a: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—</a:t>
                      </a: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2.754,13 kg</a:t>
                      </a: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R$ 6.566,71</a:t>
                      </a: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</a:tr>
              <a:tr h="436949"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Fatores</a:t>
                      </a: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—</a:t>
                      </a: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—</a:t>
                      </a: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2,68 kg/L · 3,114 kg/kg</a:t>
                      </a: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—</a:t>
                      </a: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</a:tr>
              <a:tr h="436949"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Fronteira</a:t>
                      </a: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cadeia completa</a:t>
                      </a: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Diesel + VLSFO</a:t>
                      </a: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CO₂e TTW</a:t>
                      </a: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só combustível</a:t>
                      </a: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</a:tr>
              <a:tr h="436949"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Leitura</a:t>
                      </a: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distância somada</a:t>
                      </a: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combustíveis separados</a:t>
                      </a: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emissões agregadas</a:t>
                      </a: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custo agregado</a:t>
                      </a: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B8357537-167D-0462-A21D-DD8E87444BE4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CabotageLens | Trabalho de Formatura</a:t>
            </a:r>
          </a:p>
        </p:txBody>
      </p:sp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BF440A81-02FE-A94E-7F97-15248A945F35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3AE1AE4-D79E-94D6-E825-3FC6C21A77D2}" type="slidenum">
              <a:t>25</a:t>
            </a:fld>
          </a:p>
        </p:txBody>
      </p:sp>
    </p:spTree>
    <p:extLst>
      <p:ext uri="{BB962C8B-B14F-4D97-AF65-F5344CB8AC3E}">
        <p14:creationId xmlns:p14="http://schemas.microsoft.com/office/powerpoint/2010/main" val="329854879"/>
      </p:ext>
    </p:extLst>
  </p:cSld>
</p:sld>
</file>

<file path=ppt/slides/slide2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Rounded Rectangle 5">
            <a:extLst xmlns:a="http://schemas.openxmlformats.org/drawingml/2006/main">
              <a:ext uri="{FF2B5EF4-FFF2-40B4-BE49-F238E27FC236}">
                <a16:creationId xmlns:a16="http://schemas.microsoft.com/office/drawing/2014/main" id="{3595FF69-AA88-8653-2D13-3E0289A12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3022600"/>
            <a:ext cx="3568700" cy="2971800"/>
          </a:xfrm>
          <a:prstGeom xmlns:a="http://schemas.openxmlformats.org/drawingml/2006/main" prst="roundRect">
            <a:avLst>
              <a:gd name="adj" fmla="val 3585"/>
            </a:avLst>
          </a:prstGeom>
          <a:solidFill xmlns:a="http://schemas.openxmlformats.org/drawingml/2006/main">
            <a:srgbClr val="F9FCFF"/>
          </a:solidFill>
          <a:ln xmlns:a="http://schemas.openxmlformats.org/drawingml/2006/main">
            <a:solidFill>
              <a:srgbClr val="EFF1F5"/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Rounded Rectangle 6">
            <a:extLst xmlns:a="http://schemas.openxmlformats.org/drawingml/2006/main">
              <a:ext uri="{FF2B5EF4-FFF2-40B4-BE49-F238E27FC236}">
                <a16:creationId xmlns:a16="http://schemas.microsoft.com/office/drawing/2014/main" id="{E3AFD29D-9AD2-841D-0915-B4BDDC09C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1650" y="3022600"/>
            <a:ext cx="3568700" cy="2971800"/>
          </a:xfrm>
          <a:prstGeom xmlns:a="http://schemas.openxmlformats.org/drawingml/2006/main" prst="roundRect">
            <a:avLst>
              <a:gd name="adj" fmla="val 3585"/>
            </a:avLst>
          </a:prstGeom>
          <a:solidFill xmlns:a="http://schemas.openxmlformats.org/drawingml/2006/main">
            <a:srgbClr val="F9FCFF"/>
          </a:solidFill>
          <a:ln xmlns:a="http://schemas.openxmlformats.org/drawingml/2006/main">
            <a:solidFill>
              <a:srgbClr val="EFF1F5"/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Rounded Rectangle 7">
            <a:extLst xmlns:a="http://schemas.openxmlformats.org/drawingml/2006/main">
              <a:ext uri="{FF2B5EF4-FFF2-40B4-BE49-F238E27FC236}">
                <a16:creationId xmlns:a16="http://schemas.microsoft.com/office/drawing/2014/main" id="{7A10D6BE-4B8A-E31D-9AC6-AEB4FCD51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2297" y="3022600"/>
            <a:ext cx="3568700" cy="2971800"/>
          </a:xfrm>
          <a:prstGeom xmlns:a="http://schemas.openxmlformats.org/drawingml/2006/main" prst="roundRect">
            <a:avLst>
              <a:gd name="adj" fmla="val 3585"/>
            </a:avLst>
          </a:prstGeom>
          <a:solidFill xmlns:a="http://schemas.openxmlformats.org/drawingml/2006/main">
            <a:srgbClr val="F9FCFF"/>
          </a:solidFill>
          <a:ln xmlns:a="http://schemas.openxmlformats.org/drawingml/2006/main">
            <a:solidFill>
              <a:srgbClr val="EFF1F5"/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0" name="Content Placeholder 9">
            <a:extLst xmlns:a="http://schemas.openxmlformats.org/drawingml/2006/main">
              <a:ext uri="{FF2B5EF4-FFF2-40B4-BE49-F238E27FC236}">
                <a16:creationId xmlns:a16="http://schemas.microsoft.com/office/drawing/2014/main" id="{E8352425-466B-B7C0-4556-B12F3F4F6DB3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703381" y="3554174"/>
            <a:ext cx="2949339" cy="818677"/>
          </a:xfrm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ClrTx/>
              <a:buSzTx/>
              <a:buFontTx/>
              <a:buNone/>
            </a:pPr>
            <a:r>
              <a:rPr sz="1600" b="0" i="0" u="none" cap="none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Distância</a:t>
            </a:r>
          </a:p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ClrTx/>
              <a:buSzTx/>
              <a:buFontTx/>
              <a:buNone/>
            </a:pPr>
            <a:r>
              <a:rPr sz="1600" b="0" i="0" u="none" cap="none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multimodal vs rodovia</a:t>
            </a:r>
          </a:p>
        </p:txBody>
      </p:sp>
      <p:sp>
        <p:nvSpPr>
          <p:cNvPr id="11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9D1B4876-C319-B371-36B9-745CADB662E1}"/>
              </a:ext>
            </a:extLst>
          </p:cNvPr>
          <p:cNvSpPr>
            <a:spLocks xmlns:a="http://schemas.openxmlformats.org/drawingml/2006/main" noGrp="1"/>
          </p:cNvSpPr>
          <p:nvPr>
            <p:ph idx="10"/>
          </p:nvPr>
        </p:nvSpPr>
        <p:spPr>
          <a:xfrm xmlns:a="http://schemas.openxmlformats.org/drawingml/2006/main">
            <a:off x="4627681" y="3554174"/>
            <a:ext cx="2949339" cy="818677"/>
          </a:xfrm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ClrTx/>
              <a:buSzTx/>
              <a:buFontTx/>
              <a:buNone/>
            </a:pPr>
            <a:r>
              <a:rPr sz="1600" b="0" i="0" u="none" cap="none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Emissões TTW</a:t>
            </a:r>
          </a:p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ClrTx/>
              <a:buSzTx/>
              <a:buFontTx/>
              <a:buNone/>
            </a:pPr>
            <a:r>
              <a:rPr sz="1600" b="0" i="0" u="none" cap="none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multimodal vs rodovia</a:t>
            </a:r>
          </a:p>
        </p:txBody>
      </p:sp>
      <p:sp>
        <p:nvSpPr>
          <p:cNvPr id="12" name="Content Placeholder 11">
            <a:extLst xmlns:a="http://schemas.openxmlformats.org/drawingml/2006/main">
              <a:ext uri="{FF2B5EF4-FFF2-40B4-BE49-F238E27FC236}">
                <a16:creationId xmlns:a16="http://schemas.microsoft.com/office/drawing/2014/main" id="{1BDFAF15-9B61-BA2E-0381-0DE8F578A81F}"/>
              </a:ext>
            </a:extLst>
          </p:cNvPr>
          <p:cNvSpPr>
            <a:spLocks xmlns:a="http://schemas.openxmlformats.org/drawingml/2006/main" noGrp="1"/>
          </p:cNvSpPr>
          <p:nvPr>
            <p:ph idx="11"/>
          </p:nvPr>
        </p:nvSpPr>
        <p:spPr>
          <a:xfrm xmlns:a="http://schemas.openxmlformats.org/drawingml/2006/main">
            <a:off x="8541954" y="3554174"/>
            <a:ext cx="2949339" cy="818677"/>
          </a:xfrm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ClrTx/>
              <a:buSzTx/>
              <a:buFontTx/>
              <a:buNone/>
            </a:pPr>
            <a:r>
              <a:rPr sz="1600" b="0" i="0" u="none" cap="none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Custo de combustível</a:t>
            </a:r>
          </a:p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ClrTx/>
              <a:buSzTx/>
              <a:buFontTx/>
              <a:buNone/>
            </a:pPr>
            <a:r>
              <a:rPr sz="1600" b="0" i="0" u="none" cap="none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multimodal vs rodovia</a:t>
            </a:r>
          </a:p>
        </p:txBody>
      </p:sp>
      <p:sp>
        <p:nvSpPr>
          <p:cNvPr id="3" name="Title 2">
            <a:extLst xmlns:a="http://schemas.openxmlformats.org/drawingml/2006/main">
              <a:ext uri="{FF2B5EF4-FFF2-40B4-BE49-F238E27FC236}">
                <a16:creationId xmlns:a16="http://schemas.microsoft.com/office/drawing/2014/main" id="{B64EBD68-6C7C-E1E5-F754-A2CABD28D4B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62794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 multimodal percorre mais, mas reduz emissões e custo</a:t>
            </a:r>
          </a:p>
        </p:txBody>
      </p:sp>
      <p:sp>
        <p:nvSpPr>
          <p:cNvPr id="13" name="Content Placeholder 9">
            <a:extLst xmlns:a="http://schemas.openxmlformats.org/drawingml/2006/main">
              <a:ext uri="{FF2B5EF4-FFF2-40B4-BE49-F238E27FC236}">
                <a16:creationId xmlns:a16="http://schemas.microsoft.com/office/drawing/2014/main" id="{EDBA9068-3E52-4988-B608-4CED930E4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413" y="4356100"/>
            <a:ext cx="2940124" cy="122955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>
            <a:normAutofit fontScale="91967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2540" marR="0" lvl="0" indent="0" algn="l" defTabSz="9144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Pts val="1400"/>
              <a:buNone/>
            </a:pPr>
            <a:r>
              <a:rPr sz="7200" b="0" i="0" u="none" cap="none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+117,2%</a:t>
            </a:r>
          </a:p>
        </p:txBody>
      </p:sp>
      <p:sp>
        <p:nvSpPr>
          <p:cNvPr id="4" name="Content Placeholder 9">
            <a:extLst xmlns:a="http://schemas.openxmlformats.org/drawingml/2006/main">
              <a:ext uri="{FF2B5EF4-FFF2-40B4-BE49-F238E27FC236}">
                <a16:creationId xmlns:a16="http://schemas.microsoft.com/office/drawing/2014/main" id="{553D01BD-BEDA-E1D7-8112-CCD78E0BB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2932" y="4356100"/>
            <a:ext cx="2940124" cy="122955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>
            <a:normAutofit fontScale="91967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2540" marR="0" lvl="0" indent="0" algn="l" defTabSz="9144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Pts val="1400"/>
              <a:buNone/>
            </a:pPr>
            <a:r>
              <a:rPr sz="7200" b="0" i="0" u="none" cap="none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−32,30%</a:t>
            </a:r>
          </a:p>
        </p:txBody>
      </p:sp>
      <p:sp>
        <p:nvSpPr>
          <p:cNvPr id="5" name="Content Placeholder 9">
            <a:extLst xmlns:a="http://schemas.openxmlformats.org/drawingml/2006/main">
              <a:ext uri="{FF2B5EF4-FFF2-40B4-BE49-F238E27FC236}">
                <a16:creationId xmlns:a16="http://schemas.microsoft.com/office/drawing/2014/main" id="{5AE7C386-15B3-0C22-BD29-DB00B9F7F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2362" y="4356100"/>
            <a:ext cx="2940124" cy="122955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>
            <a:normAutofit fontScale="91967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2540" marR="0" lvl="0" indent="0" algn="l" defTabSz="9144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Pts val="1400"/>
              <a:buNone/>
            </a:pPr>
            <a:r>
              <a:rPr sz="7200" b="0" i="0" u="none" cap="none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−46,69%</a:t>
            </a:r>
          </a:p>
        </p:txBody>
      </p:sp>
      <p:sp>
        <p:nvSpPr>
          <p:cNvPr id="14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45E38982-B0CA-BEBE-C656-B7F62835A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1138300"/>
            <a:ext cx="11404599" cy="159940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0" indent="0" algn="l" defTabSz="914400">
              <a:lnSpc>
                <a:spcPct val="90000"/>
              </a:lnSpc>
              <a:spcBef>
                <a:spcPts val="10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1800">
                <a:solidFill>
                  <a:prstClr val="black"/>
                </a:solidFill>
                <a:latin typeface="Helvetica Neue Medium"/>
                <a:ea typeface="Helvetica Neue Medium"/>
                <a:cs typeface="Helvetica Neue Medium"/>
              </a:rPr>
              <a:t>Mesma remessa de 14 t</a:t>
            </a:r>
          </a:p>
          <a:p xmlns:a="http://schemas.openxmlformats.org/drawingml/2006/main">
            <a:pPr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Comparação porta a porta entre São Paulo e Rio Branco.</a:t>
            </a:r>
          </a:p>
        </p:txBody>
      </p:sp>
      <p:sp>
        <p:nvSpPr>
          <p:cNvPr id="15" name="Footer Placeholder 14">
            <a:extLst xmlns:a="http://schemas.openxmlformats.org/drawingml/2006/main">
              <a:ext uri="{FF2B5EF4-FFF2-40B4-BE49-F238E27FC236}">
                <a16:creationId xmlns:a16="http://schemas.microsoft.com/office/drawing/2014/main" id="{2A6376E7-C0FC-2608-D121-2037E3C1CDF9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CabotageLens | Trabalho de Formatura</a:t>
            </a:r>
          </a:p>
        </p:txBody>
      </p:sp>
      <p:sp>
        <p:nvSpPr>
          <p:cNvPr id="9" name="Slide Number Placeholder 8">
            <a:extLst xmlns:a="http://schemas.openxmlformats.org/drawingml/2006/main">
              <a:ext uri="{FF2B5EF4-FFF2-40B4-BE49-F238E27FC236}">
                <a16:creationId xmlns:a16="http://schemas.microsoft.com/office/drawing/2014/main" id="{2A285ADF-608D-E057-1D6B-3F7AD810768D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AB55966-FA28-BC73-EA9E-53DF014DF033}" type="slidenum">
              <a:t>26</a:t>
            </a:fld>
          </a:p>
        </p:txBody>
      </p:sp>
    </p:spTree>
    <p:extLst>
      <p:ext uri="{BB962C8B-B14F-4D97-AF65-F5344CB8AC3E}">
        <p14:creationId xmlns:p14="http://schemas.microsoft.com/office/powerpoint/2010/main" val="2369616825"/>
      </p:ext>
    </p:extLst>
  </p:cSld>
</p:sld>
</file>

<file path=ppt/slides/slide27.xml><?xml version="1.0" encoding="utf-8"?>
<p:sld xmlns:p="http://schemas.openxmlformats.org/presentationml/2006/main">
  <p:cSld>
    <p:bg>
      <p:bgPr>
        <a:gradFill xmlns:a="http://schemas.openxmlformats.org/drawingml/2006/main" rotWithShape="1">
          <a:gsLst>
            <a:gs pos="0">
              <a:srgbClr val="0C3666"/>
            </a:gs>
            <a:gs pos="100000">
              <a:srgbClr val="061C39"/>
            </a:gs>
          </a:gsLst>
          <a:lin ang="13500000" scaled="1"/>
          <a:tileRect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 3">
            <a:extLst xmlns:a="http://schemas.openxmlformats.org/drawingml/2006/main">
              <a:ext uri="{FF2B5EF4-FFF2-40B4-BE49-F238E27FC236}">
                <a16:creationId xmlns:a16="http://schemas.microsoft.com/office/drawing/2014/main" id="{0F24658D-7578-8E1B-095D-2634178665BE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384537" y="1850746"/>
            <a:ext cx="9448800" cy="2491490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r>
              <a:rPr sz="6500">
                <a:solidFill>
                  <a:schemeClr val="accent3"/>
                </a:solidFill>
              </a:rPr>
              <a:t>Do método</a:t>
            </a:r>
          </a:p>
          <a:p xmlns:a="http://schemas.openxmlformats.org/drawingml/2006/main">
            <a:r>
              <a:rPr sz="6500">
                <a:solidFill>
                  <a:schemeClr val="accent3"/>
                </a:solidFill>
              </a:rPr>
              <a:t>à aplicação web</a:t>
            </a:r>
          </a:p>
        </p:txBody>
      </p:sp>
      <p:sp>
        <p:nvSpPr>
          <p:cNvPr id="5" name="Subtitle 4">
            <a:extLst xmlns:a="http://schemas.openxmlformats.org/drawingml/2006/main">
              <a:ext uri="{FF2B5EF4-FFF2-40B4-BE49-F238E27FC236}">
                <a16:creationId xmlns:a16="http://schemas.microsoft.com/office/drawing/2014/main" id="{9CFCDDD1-6B62-D648-FCD8-F519A8EBFE03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393700" y="5170707"/>
            <a:ext cx="3568700" cy="647700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r>
              <a:rPr sz="1800">
                <a:solidFill>
                  <a:schemeClr val="bg2">
                    <a:lumMod val="75000"/>
                  </a:schemeClr>
                </a:solidFill>
              </a:rPr>
              <a:t>Python + Streamlit</a:t>
            </a:r>
          </a:p>
          <a:p xmlns:a="http://schemas.openxmlformats.org/drawingml/2006/main">
            <a:r>
              <a:rPr sz="1800">
                <a:solidFill>
                  <a:schemeClr val="accent3"/>
                </a:solidFill>
              </a:rPr>
              <a:t>Supabase</a:t>
            </a:r>
          </a:p>
        </p:txBody>
      </p:sp>
      <p:sp>
        <p:nvSpPr>
          <p:cNvPr id="2" name="Subtitle 4">
            <a:extLst xmlns:a="http://schemas.openxmlformats.org/drawingml/2006/main">
              <a:ext uri="{FF2B5EF4-FFF2-40B4-BE49-F238E27FC236}">
                <a16:creationId xmlns:a16="http://schemas.microsoft.com/office/drawing/2014/main" id="{7DE36FE5-F5E6-DBA2-7BCD-BDE05B2A1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0789" y="5170707"/>
            <a:ext cx="35687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0" indent="0" algn="l" defTabSz="914400">
              <a:lnSpc>
                <a:spcPct val="90000"/>
              </a:lnSpc>
              <a:spcBef>
                <a:spcPts val="1000"/>
              </a:spcBef>
              <a:buFont typeface="Arial"/>
              <a:buNone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r>
              <a:rPr sz="1800">
                <a:solidFill>
                  <a:schemeClr val="bg2">
                    <a:lumMod val="75000"/>
                  </a:schemeClr>
                </a:solidFill>
              </a:rPr>
              <a:t>Execução auditável</a:t>
            </a:r>
          </a:p>
          <a:p xmlns:a="http://schemas.openxmlformats.org/drawingml/2006/main">
            <a:r>
              <a:rPr sz="1800">
                <a:solidFill>
                  <a:schemeClr val="accent3"/>
                </a:solidFill>
              </a:rPr>
              <a:t>Artefatos reutilizáveis</a:t>
            </a:r>
          </a:p>
        </p:txBody>
      </p:sp>
      <p:sp>
        <p:nvSpPr>
          <p:cNvPr id="3" name="Subtitle 4">
            <a:extLst xmlns:a="http://schemas.openxmlformats.org/drawingml/2006/main">
              <a:ext uri="{FF2B5EF4-FFF2-40B4-BE49-F238E27FC236}">
                <a16:creationId xmlns:a16="http://schemas.microsoft.com/office/drawing/2014/main" id="{1855E0C5-A5E4-590B-0D77-15A6F24D0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08228" y="623595"/>
            <a:ext cx="3199235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0" indent="0" algn="l" defTabSz="914400">
              <a:lnSpc>
                <a:spcPct val="90000"/>
              </a:lnSpc>
              <a:spcBef>
                <a:spcPts val="1000"/>
              </a:spcBef>
              <a:buFont typeface="Arial"/>
              <a:buNone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algn="r">
              <a:buNone/>
            </a:pPr>
            <a:r>
              <a:rPr sz="1800">
                <a:solidFill>
                  <a:srgbClr val="EDF5FE">
                    <a:alpha val="50000"/>
                  </a:srgbClr>
                </a:solidFill>
                <a:latin typeface="Helvetica Neue"/>
                <a:ea typeface="Helvetica Neue"/>
                <a:cs typeface="Helvetica Neue"/>
              </a:rPr>
              <a:t>Implementação</a:t>
            </a:r>
          </a:p>
        </p:txBody>
      </p:sp>
      <p:sp>
        <p:nvSpPr>
          <p:cNvPr id="7" name="Subtitle 4">
            <a:extLst xmlns:a="http://schemas.openxmlformats.org/drawingml/2006/main">
              <a:ext uri="{FF2B5EF4-FFF2-40B4-BE49-F238E27FC236}">
                <a16:creationId xmlns:a16="http://schemas.microsoft.com/office/drawing/2014/main" id="{5794C0B2-4912-64A0-21CF-60B66252E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623595"/>
            <a:ext cx="5537200" cy="64915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0" indent="0" algn="l" defTabSz="914400">
              <a:lnSpc>
                <a:spcPct val="90000"/>
              </a:lnSpc>
              <a:spcBef>
                <a:spcPts val="1000"/>
              </a:spcBef>
              <a:buFont typeface="Arial"/>
              <a:buNone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>
              <a:buNone/>
            </a:pPr>
            <a:r>
              <a:rPr sz="1800">
                <a:solidFill>
                  <a:srgbClr val="EDF5FE">
                    <a:alpha val="50000"/>
                  </a:srgbClr>
                </a:solidFill>
                <a:latin typeface="Helvetica Neue"/>
                <a:ea typeface="Helvetica Neue"/>
                <a:cs typeface="Helvetica Neue"/>
              </a:rPr>
              <a:t>SEÇÃO 5</a:t>
            </a:r>
          </a:p>
        </p:txBody>
      </p:sp>
      <p:sp>
        <p:nvSpPr>
          <p:cNvPr id="8" name="Straight Connector 7">
            <a:extLst xmlns:a="http://schemas.openxmlformats.org/drawingml/2006/main">
              <a:ext uri="{FF2B5EF4-FFF2-40B4-BE49-F238E27FC236}">
                <a16:creationId xmlns:a16="http://schemas.microsoft.com/office/drawing/2014/main" id="{045DC4F7-0007-418F-A84D-346AAB870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537" y="374574"/>
            <a:ext cx="11422926" cy="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rgbClr val="7A8CA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</p:spTree>
    <p:extLst>
      <p:ext uri="{BB962C8B-B14F-4D97-AF65-F5344CB8AC3E}">
        <p14:creationId xmlns:p14="http://schemas.microsoft.com/office/powerpoint/2010/main" val="1986947201"/>
      </p:ext>
    </p:extLst>
  </p:cSld>
</p:sld>
</file>

<file path=ppt/slides/slide2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58" name="Google Shape;558;p61">
            <a:extLst xmlns:a="http://schemas.openxmlformats.org/drawingml/2006/main">
              <a:ext uri="{FF2B5EF4-FFF2-40B4-BE49-F238E27FC236}">
                <a16:creationId xmlns:a16="http://schemas.microsoft.com/office/drawing/2014/main" id="{4D765FCF-56FA-8EE2-65DF-D8A5321F3C29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4656666"/>
            <a:ext cx="3568700" cy="110239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SeaMatrix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ANTAQ + EU MRV preparados previamente.</a:t>
            </a:r>
          </a:p>
        </p:txBody>
      </p:sp>
      <p:sp>
        <p:nvSpPr>
          <p:cNvPr id="559" name="Google Shape;559;p61">
            <a:extLst xmlns:a="http://schemas.openxmlformats.org/drawingml/2006/main">
              <a:ext uri="{FF2B5EF4-FFF2-40B4-BE49-F238E27FC236}">
                <a16:creationId xmlns:a16="http://schemas.microsoft.com/office/drawing/2014/main" id="{BFA1AD57-2515-3263-71AA-F5510D72450E}"/>
              </a:ext>
            </a:extLst>
          </p:cNvPr>
          <p:cNvSpPr>
            <a:spLocks xmlns:a="http://schemas.openxmlformats.org/drawingml/2006/main" noGrp="1"/>
          </p:cNvSpPr>
          <p:nvPr>
            <p:ph idx="10"/>
          </p:nvPr>
        </p:nvSpPr>
        <p:spPr>
          <a:xfrm xmlns:a="http://schemas.openxmlformats.org/drawingml/2006/main">
            <a:off x="4318000" y="4656666"/>
            <a:ext cx="3568700" cy="110239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Multimodal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Portos, acessos, terminais e navegação.</a:t>
            </a:r>
          </a:p>
        </p:txBody>
      </p:sp>
      <p:sp>
        <p:nvSpPr>
          <p:cNvPr id="560" name="Google Shape;560;p61">
            <a:extLst xmlns:a="http://schemas.openxmlformats.org/drawingml/2006/main">
              <a:ext uri="{FF2B5EF4-FFF2-40B4-BE49-F238E27FC236}">
                <a16:creationId xmlns:a16="http://schemas.microsoft.com/office/drawing/2014/main" id="{F4CF59D7-297B-30C8-431E-585575A55EC7}"/>
              </a:ext>
            </a:extLst>
          </p:cNvPr>
          <p:cNvSpPr>
            <a:spLocks xmlns:a="http://schemas.openxmlformats.org/drawingml/2006/main" noGrp="1"/>
          </p:cNvSpPr>
          <p:nvPr>
            <p:ph idx="11"/>
          </p:nvPr>
        </p:nvSpPr>
        <p:spPr>
          <a:xfrm xmlns:a="http://schemas.openxmlformats.org/drawingml/2006/main">
            <a:off x="8232273" y="4656666"/>
            <a:ext cx="3568700" cy="110239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Persistência e interface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Supabase, logs, Streamlit e Git.</a:t>
            </a:r>
          </a:p>
        </p:txBody>
      </p:sp>
      <p:sp>
        <p:nvSpPr>
          <p:cNvPr id="557" name="Google Shape;557;p61">
            <a:extLst xmlns:a="http://schemas.openxmlformats.org/drawingml/2006/main">
              <a:ext uri="{FF2B5EF4-FFF2-40B4-BE49-F238E27FC236}">
                <a16:creationId xmlns:a16="http://schemas.microsoft.com/office/drawing/2014/main" id="{252743B9-4592-4663-CAD2-40CC23D409B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>A implementação separa preparação e execução</a:t>
            </a:r>
          </a:p>
        </p:txBody>
      </p:sp>
      <p:sp>
        <p:nvSpPr>
          <p:cNvPr id="2" name="Google Shape;558;p61">
            <a:extLst xmlns:a="http://schemas.openxmlformats.org/drawingml/2006/main">
              <a:ext uri="{FF2B5EF4-FFF2-40B4-BE49-F238E27FC236}">
                <a16:creationId xmlns:a16="http://schemas.microsoft.com/office/drawing/2014/main" id="{0018B0C7-DC20-D7FE-2D99-C8372B90A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2653452"/>
            <a:ext cx="3568700" cy="110239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Entrada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Origem, destino e massa são normalizados.</a:t>
            </a:r>
          </a:p>
        </p:txBody>
      </p:sp>
      <p:sp>
        <p:nvSpPr>
          <p:cNvPr id="3" name="Google Shape;559;p61">
            <a:extLst xmlns:a="http://schemas.openxmlformats.org/drawingml/2006/main">
              <a:ext uri="{FF2B5EF4-FFF2-40B4-BE49-F238E27FC236}">
                <a16:creationId xmlns:a16="http://schemas.microsoft.com/office/drawing/2014/main" id="{142AC269-69D2-161D-AD16-2E5D7B8A9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8000" y="2653452"/>
            <a:ext cx="3568700" cy="110239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Geocodificação e rotas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ORS; LocationIQ como alternativa; cache.</a:t>
            </a:r>
          </a:p>
        </p:txBody>
      </p:sp>
      <p:sp>
        <p:nvSpPr>
          <p:cNvPr id="4" name="Google Shape;560;p61">
            <a:extLst xmlns:a="http://schemas.openxmlformats.org/drawingml/2006/main">
              <a:ext uri="{FF2B5EF4-FFF2-40B4-BE49-F238E27FC236}">
                <a16:creationId xmlns:a16="http://schemas.microsoft.com/office/drawing/2014/main" id="{7E988850-5A60-A9C4-B928-BDFEC4FE4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2273" y="2653452"/>
            <a:ext cx="3568700" cy="110239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Rodovia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Veículo, distância, diesel, custo e TTW.</a:t>
            </a:r>
          </a:p>
        </p:txBody>
      </p:sp>
      <p:sp>
        <p:nvSpPr>
          <p:cNvPr id="5" name="Google Shape;561;p61">
            <a:extLst xmlns:a="http://schemas.openxmlformats.org/drawingml/2006/main">
              <a:ext uri="{FF2B5EF4-FFF2-40B4-BE49-F238E27FC236}">
                <a16:creationId xmlns:a16="http://schemas.microsoft.com/office/drawing/2014/main" id="{43830694-5B70-1E3A-562E-A57DE1DE0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9904" y="2022554"/>
            <a:ext cx="315580" cy="353873"/>
          </a:xfrm>
          <a:custGeom xmlns:a="http://schemas.openxmlformats.org/drawingml/2006/main">
            <a:rect l="l" t="t" r="r" b="b"/>
            <a:pathLst>
              <a:path w="20236" h="20115">
                <a:moveTo>
                  <a:pt x="11303" y="2594"/>
                </a:moveTo>
                <a:lnTo>
                  <a:pt x="2175" y="11983"/>
                </a:lnTo>
                <a:lnTo>
                  <a:pt x="9033" y="11983"/>
                </a:lnTo>
                <a:cubicBezTo>
                  <a:pt x="9364" y="11983"/>
                  <a:pt x="9678" y="12118"/>
                  <a:pt x="9883" y="12348"/>
                </a:cubicBezTo>
                <a:cubicBezTo>
                  <a:pt x="10089" y="12579"/>
                  <a:pt x="10165" y="12880"/>
                  <a:pt x="10089" y="13166"/>
                </a:cubicBezTo>
                <a:lnTo>
                  <a:pt x="8933" y="17522"/>
                </a:lnTo>
                <a:lnTo>
                  <a:pt x="18061" y="8133"/>
                </a:lnTo>
                <a:lnTo>
                  <a:pt x="11203" y="8133"/>
                </a:lnTo>
                <a:cubicBezTo>
                  <a:pt x="10872" y="8133"/>
                  <a:pt x="10558" y="7999"/>
                  <a:pt x="10353" y="7768"/>
                </a:cubicBezTo>
                <a:cubicBezTo>
                  <a:pt x="10147" y="7537"/>
                  <a:pt x="10071" y="7236"/>
                  <a:pt x="10147" y="6950"/>
                </a:cubicBezTo>
                <a:lnTo>
                  <a:pt x="11303" y="2594"/>
                </a:lnTo>
                <a:close/>
                <a:moveTo>
                  <a:pt x="10382" y="593"/>
                </a:moveTo>
                <a:cubicBezTo>
                  <a:pt x="11679" y="-742"/>
                  <a:pt x="14125" y="363"/>
                  <a:pt x="13670" y="2078"/>
                </a:cubicBezTo>
                <a:lnTo>
                  <a:pt x="12574" y="6208"/>
                </a:lnTo>
                <a:lnTo>
                  <a:pt x="18061" y="6208"/>
                </a:lnTo>
                <a:cubicBezTo>
                  <a:pt x="19918" y="6208"/>
                  <a:pt x="20918" y="8142"/>
                  <a:pt x="19705" y="9390"/>
                </a:cubicBezTo>
                <a:lnTo>
                  <a:pt x="9854" y="19523"/>
                </a:lnTo>
                <a:cubicBezTo>
                  <a:pt x="8557" y="20858"/>
                  <a:pt x="6111" y="19753"/>
                  <a:pt x="6566" y="18038"/>
                </a:cubicBezTo>
                <a:lnTo>
                  <a:pt x="7662" y="13908"/>
                </a:lnTo>
                <a:lnTo>
                  <a:pt x="2175" y="13908"/>
                </a:lnTo>
                <a:cubicBezTo>
                  <a:pt x="318" y="13908"/>
                  <a:pt x="-682" y="11974"/>
                  <a:pt x="531" y="10726"/>
                </a:cubicBezTo>
                <a:lnTo>
                  <a:pt x="10382" y="593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7725" tIns="67725" rIns="67725" bIns="677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Clr>
                <a:srgbClr val="FFFFFF"/>
              </a:buClr>
              <a:buSzPts val="4300"/>
              <a:buNone/>
            </a:pPr>
          </a:p>
        </p:txBody>
      </p:sp>
      <p:sp>
        <p:nvSpPr>
          <p:cNvPr id="6" name="Google Shape;562;p61">
            <a:extLst xmlns:a="http://schemas.openxmlformats.org/drawingml/2006/main">
              <a:ext uri="{FF2B5EF4-FFF2-40B4-BE49-F238E27FC236}">
                <a16:creationId xmlns:a16="http://schemas.microsoft.com/office/drawing/2014/main" id="{7C8ADA23-5610-C31E-B048-A0886EDC2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398" y="2018463"/>
            <a:ext cx="327078" cy="362074"/>
          </a:xfrm>
          <a:custGeom xmlns:a="http://schemas.openxmlformats.org/drawingml/2006/main">
            <a:rect l="l" t="t" r="r" b="b"/>
            <a:pathLst>
              <a:path w="21600" h="21333">
                <a:moveTo>
                  <a:pt x="11359" y="2130"/>
                </a:moveTo>
                <a:cubicBezTo>
                  <a:pt x="11014" y="1951"/>
                  <a:pt x="10588" y="1951"/>
                  <a:pt x="10241" y="2130"/>
                </a:cubicBezTo>
                <a:lnTo>
                  <a:pt x="3250" y="5732"/>
                </a:lnTo>
                <a:lnTo>
                  <a:pt x="10817" y="9530"/>
                </a:lnTo>
                <a:lnTo>
                  <a:pt x="18593" y="5856"/>
                </a:lnTo>
                <a:lnTo>
                  <a:pt x="11359" y="2130"/>
                </a:lnTo>
                <a:close/>
                <a:moveTo>
                  <a:pt x="19364" y="7749"/>
                </a:moveTo>
                <a:lnTo>
                  <a:pt x="11918" y="11267"/>
                </a:lnTo>
                <a:lnTo>
                  <a:pt x="11918" y="18916"/>
                </a:lnTo>
                <a:lnTo>
                  <a:pt x="18805" y="15367"/>
                </a:lnTo>
                <a:cubicBezTo>
                  <a:pt x="19152" y="15189"/>
                  <a:pt x="19364" y="14860"/>
                  <a:pt x="19364" y="14503"/>
                </a:cubicBezTo>
                <a:lnTo>
                  <a:pt x="19364" y="7749"/>
                </a:lnTo>
                <a:close/>
                <a:moveTo>
                  <a:pt x="9682" y="18916"/>
                </a:moveTo>
                <a:lnTo>
                  <a:pt x="9682" y="11250"/>
                </a:lnTo>
                <a:lnTo>
                  <a:pt x="2236" y="7513"/>
                </a:lnTo>
                <a:lnTo>
                  <a:pt x="2236" y="14503"/>
                </a:lnTo>
                <a:cubicBezTo>
                  <a:pt x="2236" y="14860"/>
                  <a:pt x="2448" y="15189"/>
                  <a:pt x="2795" y="15367"/>
                </a:cubicBezTo>
                <a:lnTo>
                  <a:pt x="9682" y="18916"/>
                </a:lnTo>
                <a:close/>
                <a:moveTo>
                  <a:pt x="9123" y="401"/>
                </a:moveTo>
                <a:cubicBezTo>
                  <a:pt x="10160" y="-133"/>
                  <a:pt x="11440" y="-133"/>
                  <a:pt x="12477" y="401"/>
                </a:cubicBezTo>
                <a:lnTo>
                  <a:pt x="19923" y="4238"/>
                </a:lnTo>
                <a:cubicBezTo>
                  <a:pt x="20962" y="4773"/>
                  <a:pt x="21600" y="5761"/>
                  <a:pt x="21600" y="6830"/>
                </a:cubicBezTo>
                <a:lnTo>
                  <a:pt x="21600" y="14503"/>
                </a:lnTo>
                <a:cubicBezTo>
                  <a:pt x="21600" y="15572"/>
                  <a:pt x="20962" y="16561"/>
                  <a:pt x="19923" y="17096"/>
                </a:cubicBezTo>
                <a:lnTo>
                  <a:pt x="12477" y="20932"/>
                </a:lnTo>
                <a:cubicBezTo>
                  <a:pt x="11440" y="21467"/>
                  <a:pt x="10160" y="21467"/>
                  <a:pt x="9123" y="20932"/>
                </a:cubicBezTo>
                <a:lnTo>
                  <a:pt x="1677" y="17096"/>
                </a:lnTo>
                <a:cubicBezTo>
                  <a:pt x="640" y="16561"/>
                  <a:pt x="0" y="15572"/>
                  <a:pt x="0" y="14503"/>
                </a:cubicBezTo>
                <a:lnTo>
                  <a:pt x="0" y="6830"/>
                </a:lnTo>
                <a:cubicBezTo>
                  <a:pt x="0" y="5761"/>
                  <a:pt x="640" y="4773"/>
                  <a:pt x="1677" y="4238"/>
                </a:cubicBezTo>
                <a:lnTo>
                  <a:pt x="9123" y="401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7725" tIns="67725" rIns="67725" bIns="677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Clr>
                <a:srgbClr val="FFFFFF"/>
              </a:buClr>
              <a:buSzPts val="4300"/>
              <a:buNone/>
            </a:pPr>
          </a:p>
        </p:txBody>
      </p:sp>
      <p:sp>
        <p:nvSpPr>
          <p:cNvPr id="11" name="Google Shape;1369;p101">
            <a:extLst xmlns:a="http://schemas.openxmlformats.org/drawingml/2006/main">
              <a:ext uri="{FF2B5EF4-FFF2-40B4-BE49-F238E27FC236}">
                <a16:creationId xmlns:a16="http://schemas.microsoft.com/office/drawing/2014/main" id="{41FBCA7C-C2E7-AFB5-3B6C-4D9C9E154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030146"/>
            <a:ext cx="338580" cy="338688"/>
          </a:xfrm>
          <a:custGeom xmlns:a="http://schemas.openxmlformats.org/drawingml/2006/main">
            <a:rect l="l" t="t" r="r" b="b"/>
            <a:pathLst>
              <a:path w="21600" h="21600"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10784" y="2163"/>
                </a:moveTo>
                <a:cubicBezTo>
                  <a:pt x="10772" y="2167"/>
                  <a:pt x="10749" y="2175"/>
                  <a:pt x="10715" y="2196"/>
                </a:cubicBezTo>
                <a:cubicBezTo>
                  <a:pt x="10574" y="2281"/>
                  <a:pt x="10340" y="2510"/>
                  <a:pt x="10071" y="2999"/>
                </a:cubicBezTo>
                <a:cubicBezTo>
                  <a:pt x="9811" y="3472"/>
                  <a:pt x="9560" y="4109"/>
                  <a:pt x="9344" y="4895"/>
                </a:cubicBezTo>
                <a:cubicBezTo>
                  <a:pt x="8980" y="6213"/>
                  <a:pt x="8731" y="7875"/>
                  <a:pt x="8661" y="9720"/>
                </a:cubicBezTo>
                <a:lnTo>
                  <a:pt x="12939" y="9720"/>
                </a:lnTo>
                <a:cubicBezTo>
                  <a:pt x="12869" y="7875"/>
                  <a:pt x="12620" y="6213"/>
                  <a:pt x="12256" y="4895"/>
                </a:cubicBezTo>
                <a:cubicBezTo>
                  <a:pt x="12040" y="4109"/>
                  <a:pt x="11789" y="3472"/>
                  <a:pt x="11529" y="2999"/>
                </a:cubicBezTo>
                <a:cubicBezTo>
                  <a:pt x="11260" y="2510"/>
                  <a:pt x="11026" y="2281"/>
                  <a:pt x="10885" y="2196"/>
                </a:cubicBezTo>
                <a:cubicBezTo>
                  <a:pt x="10851" y="2175"/>
                  <a:pt x="10828" y="2167"/>
                  <a:pt x="10816" y="2163"/>
                </a:cubicBezTo>
                <a:cubicBezTo>
                  <a:pt x="10807" y="2161"/>
                  <a:pt x="10801" y="2160"/>
                  <a:pt x="10800" y="2160"/>
                </a:cubicBezTo>
                <a:cubicBezTo>
                  <a:pt x="10798" y="2160"/>
                  <a:pt x="10793" y="2161"/>
                  <a:pt x="10784" y="2163"/>
                </a:cubicBezTo>
                <a:close/>
                <a:moveTo>
                  <a:pt x="6499" y="9720"/>
                </a:moveTo>
                <a:cubicBezTo>
                  <a:pt x="6571" y="7704"/>
                  <a:pt x="6841" y="5845"/>
                  <a:pt x="7261" y="4321"/>
                </a:cubicBezTo>
                <a:cubicBezTo>
                  <a:pt x="7424" y="3732"/>
                  <a:pt x="7611" y="3182"/>
                  <a:pt x="7825" y="2686"/>
                </a:cubicBezTo>
                <a:cubicBezTo>
                  <a:pt x="4843" y="3779"/>
                  <a:pt x="2632" y="6469"/>
                  <a:pt x="2227" y="9720"/>
                </a:cubicBezTo>
                <a:lnTo>
                  <a:pt x="6499" y="9720"/>
                </a:lnTo>
                <a:close/>
                <a:moveTo>
                  <a:pt x="2227" y="11880"/>
                </a:moveTo>
                <a:lnTo>
                  <a:pt x="6499" y="11880"/>
                </a:lnTo>
                <a:cubicBezTo>
                  <a:pt x="6582" y="14228"/>
                  <a:pt x="6936" y="16368"/>
                  <a:pt x="7484" y="18014"/>
                </a:cubicBezTo>
                <a:cubicBezTo>
                  <a:pt x="7589" y="18327"/>
                  <a:pt x="7702" y="18628"/>
                  <a:pt x="7825" y="18914"/>
                </a:cubicBezTo>
                <a:cubicBezTo>
                  <a:pt x="4843" y="17821"/>
                  <a:pt x="2632" y="15131"/>
                  <a:pt x="2227" y="11880"/>
                </a:cubicBezTo>
                <a:close/>
                <a:moveTo>
                  <a:pt x="8661" y="11880"/>
                </a:moveTo>
                <a:cubicBezTo>
                  <a:pt x="8743" y="14037"/>
                  <a:pt x="9069" y="15938"/>
                  <a:pt x="9534" y="17332"/>
                </a:cubicBezTo>
                <a:cubicBezTo>
                  <a:pt x="9806" y="18148"/>
                  <a:pt x="10106" y="18732"/>
                  <a:pt x="10387" y="19088"/>
                </a:cubicBezTo>
                <a:cubicBezTo>
                  <a:pt x="10525" y="19263"/>
                  <a:pt x="10637" y="19356"/>
                  <a:pt x="10712" y="19402"/>
                </a:cubicBezTo>
                <a:cubicBezTo>
                  <a:pt x="10748" y="19424"/>
                  <a:pt x="10771" y="19434"/>
                  <a:pt x="10783" y="19437"/>
                </a:cubicBezTo>
                <a:cubicBezTo>
                  <a:pt x="10794" y="19440"/>
                  <a:pt x="10800" y="19440"/>
                  <a:pt x="10800" y="19440"/>
                </a:cubicBezTo>
                <a:cubicBezTo>
                  <a:pt x="10800" y="19440"/>
                  <a:pt x="10805" y="19440"/>
                  <a:pt x="10817" y="19437"/>
                </a:cubicBezTo>
                <a:cubicBezTo>
                  <a:pt x="10829" y="19434"/>
                  <a:pt x="10852" y="19424"/>
                  <a:pt x="10888" y="19402"/>
                </a:cubicBezTo>
                <a:cubicBezTo>
                  <a:pt x="10963" y="19356"/>
                  <a:pt x="11075" y="19263"/>
                  <a:pt x="11213" y="19088"/>
                </a:cubicBezTo>
                <a:cubicBezTo>
                  <a:pt x="11494" y="18732"/>
                  <a:pt x="11794" y="18148"/>
                  <a:pt x="12066" y="17332"/>
                </a:cubicBezTo>
                <a:cubicBezTo>
                  <a:pt x="12531" y="15938"/>
                  <a:pt x="12857" y="14037"/>
                  <a:pt x="12939" y="11880"/>
                </a:cubicBezTo>
                <a:lnTo>
                  <a:pt x="8661" y="11880"/>
                </a:lnTo>
                <a:close/>
                <a:moveTo>
                  <a:pt x="15101" y="11880"/>
                </a:moveTo>
                <a:cubicBezTo>
                  <a:pt x="15018" y="14228"/>
                  <a:pt x="14664" y="16368"/>
                  <a:pt x="14116" y="18014"/>
                </a:cubicBezTo>
                <a:cubicBezTo>
                  <a:pt x="14011" y="18327"/>
                  <a:pt x="13898" y="18628"/>
                  <a:pt x="13775" y="18914"/>
                </a:cubicBezTo>
                <a:cubicBezTo>
                  <a:pt x="16757" y="17821"/>
                  <a:pt x="18968" y="15131"/>
                  <a:pt x="19373" y="11880"/>
                </a:cubicBezTo>
                <a:lnTo>
                  <a:pt x="15101" y="11880"/>
                </a:lnTo>
                <a:close/>
                <a:moveTo>
                  <a:pt x="19373" y="9720"/>
                </a:moveTo>
                <a:cubicBezTo>
                  <a:pt x="18968" y="6469"/>
                  <a:pt x="16757" y="3779"/>
                  <a:pt x="13775" y="2686"/>
                </a:cubicBezTo>
                <a:cubicBezTo>
                  <a:pt x="13989" y="3182"/>
                  <a:pt x="14176" y="3732"/>
                  <a:pt x="14339" y="4321"/>
                </a:cubicBezTo>
                <a:cubicBezTo>
                  <a:pt x="14759" y="5845"/>
                  <a:pt x="15029" y="7704"/>
                  <a:pt x="15101" y="9720"/>
                </a:cubicBezTo>
                <a:lnTo>
                  <a:pt x="19373" y="9720"/>
                </a:lnTo>
                <a:close/>
              </a:path>
            </a:pathLst>
          </a:custGeom>
          <a:solidFill xmlns:a="http://schemas.openxmlformats.org/drawingml/2006/main">
            <a:schemeClr val="dk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7725" tIns="67725" rIns="67725" bIns="677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300"/>
              <a:buFont typeface="Arial"/>
              <a:buNone/>
            </a:pPr>
          </a:p>
        </p:txBody>
      </p:sp>
      <p:sp>
        <p:nvSpPr>
          <p:cNvPr id="13" name="Google Shape;1415;p101">
            <a:extLst xmlns:a="http://schemas.openxmlformats.org/drawingml/2006/main">
              <a:ext uri="{FF2B5EF4-FFF2-40B4-BE49-F238E27FC236}">
                <a16:creationId xmlns:a16="http://schemas.microsoft.com/office/drawing/2014/main" id="{8574D0ED-7640-B4E7-7B56-C1CA61B9E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885" y="4050316"/>
            <a:ext cx="389340" cy="304776"/>
          </a:xfrm>
          <a:custGeom xmlns:a="http://schemas.openxmlformats.org/drawingml/2006/main">
            <a:rect l="l" t="t" r="r" b="b"/>
            <a:pathLst>
              <a:path w="21600" h="21600">
                <a:moveTo>
                  <a:pt x="6574" y="2400"/>
                </a:moveTo>
                <a:cubicBezTo>
                  <a:pt x="5277" y="2400"/>
                  <a:pt x="4226" y="3743"/>
                  <a:pt x="4226" y="5400"/>
                </a:cubicBezTo>
                <a:cubicBezTo>
                  <a:pt x="4226" y="7057"/>
                  <a:pt x="5277" y="8400"/>
                  <a:pt x="6574" y="8400"/>
                </a:cubicBezTo>
                <a:cubicBezTo>
                  <a:pt x="7871" y="8400"/>
                  <a:pt x="8922" y="7057"/>
                  <a:pt x="8922" y="5400"/>
                </a:cubicBezTo>
                <a:cubicBezTo>
                  <a:pt x="8922" y="3743"/>
                  <a:pt x="7871" y="2400"/>
                  <a:pt x="6574" y="2400"/>
                </a:cubicBezTo>
                <a:close/>
                <a:moveTo>
                  <a:pt x="2348" y="5400"/>
                </a:moveTo>
                <a:cubicBezTo>
                  <a:pt x="2348" y="2418"/>
                  <a:pt x="4240" y="0"/>
                  <a:pt x="6574" y="0"/>
                </a:cubicBezTo>
                <a:cubicBezTo>
                  <a:pt x="8908" y="0"/>
                  <a:pt x="10800" y="2418"/>
                  <a:pt x="10800" y="5400"/>
                </a:cubicBezTo>
                <a:cubicBezTo>
                  <a:pt x="10800" y="8382"/>
                  <a:pt x="8908" y="10800"/>
                  <a:pt x="6574" y="10800"/>
                </a:cubicBezTo>
                <a:cubicBezTo>
                  <a:pt x="4240" y="10800"/>
                  <a:pt x="2348" y="8382"/>
                  <a:pt x="2348" y="5400"/>
                </a:cubicBezTo>
                <a:close/>
                <a:moveTo>
                  <a:pt x="15496" y="3600"/>
                </a:moveTo>
                <a:cubicBezTo>
                  <a:pt x="14458" y="3600"/>
                  <a:pt x="13617" y="4674"/>
                  <a:pt x="13617" y="6000"/>
                </a:cubicBezTo>
                <a:cubicBezTo>
                  <a:pt x="13617" y="7326"/>
                  <a:pt x="14458" y="8400"/>
                  <a:pt x="15496" y="8400"/>
                </a:cubicBezTo>
                <a:cubicBezTo>
                  <a:pt x="16533" y="8400"/>
                  <a:pt x="17374" y="7326"/>
                  <a:pt x="17374" y="6000"/>
                </a:cubicBezTo>
                <a:cubicBezTo>
                  <a:pt x="17374" y="4674"/>
                  <a:pt x="16533" y="3600"/>
                  <a:pt x="15496" y="3600"/>
                </a:cubicBezTo>
                <a:close/>
                <a:moveTo>
                  <a:pt x="11739" y="6000"/>
                </a:moveTo>
                <a:cubicBezTo>
                  <a:pt x="11739" y="3349"/>
                  <a:pt x="13421" y="1200"/>
                  <a:pt x="15496" y="1200"/>
                </a:cubicBezTo>
                <a:cubicBezTo>
                  <a:pt x="17570" y="1200"/>
                  <a:pt x="19252" y="3349"/>
                  <a:pt x="19252" y="6000"/>
                </a:cubicBezTo>
                <a:cubicBezTo>
                  <a:pt x="19252" y="8651"/>
                  <a:pt x="17570" y="10800"/>
                  <a:pt x="15496" y="10800"/>
                </a:cubicBezTo>
                <a:cubicBezTo>
                  <a:pt x="13421" y="10800"/>
                  <a:pt x="11739" y="8651"/>
                  <a:pt x="11739" y="6000"/>
                </a:cubicBezTo>
                <a:close/>
                <a:moveTo>
                  <a:pt x="3324" y="15896"/>
                </a:moveTo>
                <a:cubicBezTo>
                  <a:pt x="2477" y="16858"/>
                  <a:pt x="1878" y="18325"/>
                  <a:pt x="1878" y="20400"/>
                </a:cubicBezTo>
                <a:cubicBezTo>
                  <a:pt x="1878" y="21062"/>
                  <a:pt x="1458" y="21600"/>
                  <a:pt x="939" y="21600"/>
                </a:cubicBezTo>
                <a:cubicBezTo>
                  <a:pt x="421" y="21600"/>
                  <a:pt x="0" y="21062"/>
                  <a:pt x="0" y="20400"/>
                </a:cubicBezTo>
                <a:cubicBezTo>
                  <a:pt x="0" y="17675"/>
                  <a:pt x="810" y="15542"/>
                  <a:pt x="2076" y="14102"/>
                </a:cubicBezTo>
                <a:cubicBezTo>
                  <a:pt x="3325" y="12684"/>
                  <a:pt x="4965" y="12000"/>
                  <a:pt x="6574" y="12000"/>
                </a:cubicBezTo>
                <a:cubicBezTo>
                  <a:pt x="8183" y="12000"/>
                  <a:pt x="9822" y="12684"/>
                  <a:pt x="11071" y="14102"/>
                </a:cubicBezTo>
                <a:cubicBezTo>
                  <a:pt x="12338" y="15542"/>
                  <a:pt x="13148" y="17675"/>
                  <a:pt x="13148" y="20400"/>
                </a:cubicBezTo>
                <a:cubicBezTo>
                  <a:pt x="13148" y="21062"/>
                  <a:pt x="12727" y="21600"/>
                  <a:pt x="12209" y="21600"/>
                </a:cubicBezTo>
                <a:cubicBezTo>
                  <a:pt x="11690" y="21600"/>
                  <a:pt x="11270" y="21062"/>
                  <a:pt x="11270" y="20400"/>
                </a:cubicBezTo>
                <a:cubicBezTo>
                  <a:pt x="11270" y="18325"/>
                  <a:pt x="10670" y="16858"/>
                  <a:pt x="9824" y="15896"/>
                </a:cubicBezTo>
                <a:cubicBezTo>
                  <a:pt x="8960" y="14916"/>
                  <a:pt x="7783" y="14400"/>
                  <a:pt x="6574" y="14400"/>
                </a:cubicBezTo>
                <a:cubicBezTo>
                  <a:pt x="5365" y="14400"/>
                  <a:pt x="4188" y="14916"/>
                  <a:pt x="3324" y="15896"/>
                </a:cubicBezTo>
                <a:close/>
                <a:moveTo>
                  <a:pt x="18122" y="15168"/>
                </a:moveTo>
                <a:cubicBezTo>
                  <a:pt x="17175" y="14402"/>
                  <a:pt x="15927" y="14200"/>
                  <a:pt x="14811" y="14602"/>
                </a:cubicBezTo>
                <a:cubicBezTo>
                  <a:pt x="14312" y="14782"/>
                  <a:pt x="13793" y="14411"/>
                  <a:pt x="13653" y="13772"/>
                </a:cubicBezTo>
                <a:cubicBezTo>
                  <a:pt x="13512" y="13134"/>
                  <a:pt x="13802" y="12472"/>
                  <a:pt x="14302" y="12292"/>
                </a:cubicBezTo>
                <a:cubicBezTo>
                  <a:pt x="15894" y="11718"/>
                  <a:pt x="17698" y="11986"/>
                  <a:pt x="19125" y="13139"/>
                </a:cubicBezTo>
                <a:cubicBezTo>
                  <a:pt x="20589" y="14320"/>
                  <a:pt x="21600" y="16387"/>
                  <a:pt x="21600" y="19200"/>
                </a:cubicBezTo>
                <a:cubicBezTo>
                  <a:pt x="21600" y="19862"/>
                  <a:pt x="21179" y="20400"/>
                  <a:pt x="20661" y="20400"/>
                </a:cubicBezTo>
                <a:cubicBezTo>
                  <a:pt x="20142" y="20400"/>
                  <a:pt x="19722" y="19862"/>
                  <a:pt x="19722" y="19200"/>
                </a:cubicBezTo>
                <a:cubicBezTo>
                  <a:pt x="19722" y="17202"/>
                  <a:pt x="19034" y="15905"/>
                  <a:pt x="18122" y="15168"/>
                </a:cubicBezTo>
                <a:close/>
              </a:path>
            </a:pathLst>
          </a:custGeom>
          <a:solidFill xmlns:a="http://schemas.openxmlformats.org/drawingml/2006/main">
            <a:schemeClr val="dk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7725" tIns="67725" rIns="67725" bIns="677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300"/>
              <a:buFont typeface="Arial"/>
              <a:buNone/>
            </a:pPr>
          </a:p>
        </p:txBody>
      </p:sp>
      <p:sp>
        <p:nvSpPr>
          <p:cNvPr id="15" name="Google Shape;1512;p103">
            <a:extLst xmlns:a="http://schemas.openxmlformats.org/drawingml/2006/main">
              <a:ext uri="{FF2B5EF4-FFF2-40B4-BE49-F238E27FC236}">
                <a16:creationId xmlns:a16="http://schemas.microsoft.com/office/drawing/2014/main" id="{D015E4E0-1777-A560-A6C2-AEDA1FADF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1936" y="4025768"/>
            <a:ext cx="305570" cy="338652"/>
          </a:xfrm>
          <a:custGeom xmlns:a="http://schemas.openxmlformats.org/drawingml/2006/main">
            <a:rect l="l" t="t" r="r" b="b"/>
            <a:pathLst>
              <a:path w="21538" h="21553">
                <a:moveTo>
                  <a:pt x="10897" y="543"/>
                </a:moveTo>
                <a:cubicBezTo>
                  <a:pt x="11135" y="165"/>
                  <a:pt x="11603" y="-46"/>
                  <a:pt x="12081" y="8"/>
                </a:cubicBezTo>
                <a:lnTo>
                  <a:pt x="12622" y="69"/>
                </a:lnTo>
                <a:cubicBezTo>
                  <a:pt x="15566" y="401"/>
                  <a:pt x="17464" y="3053"/>
                  <a:pt x="16592" y="5614"/>
                </a:cubicBezTo>
                <a:lnTo>
                  <a:pt x="15932" y="7551"/>
                </a:lnTo>
                <a:cubicBezTo>
                  <a:pt x="16337" y="7557"/>
                  <a:pt x="16701" y="7570"/>
                  <a:pt x="17029" y="7593"/>
                </a:cubicBezTo>
                <a:cubicBezTo>
                  <a:pt x="17750" y="7644"/>
                  <a:pt x="18413" y="7753"/>
                  <a:pt x="19016" y="8039"/>
                </a:cubicBezTo>
                <a:cubicBezTo>
                  <a:pt x="20257" y="8629"/>
                  <a:pt x="21148" y="9683"/>
                  <a:pt x="21451" y="10920"/>
                </a:cubicBezTo>
                <a:cubicBezTo>
                  <a:pt x="21599" y="11520"/>
                  <a:pt x="21541" y="12127"/>
                  <a:pt x="21406" y="12769"/>
                </a:cubicBezTo>
                <a:cubicBezTo>
                  <a:pt x="21273" y="13395"/>
                  <a:pt x="21043" y="14161"/>
                  <a:pt x="20759" y="15099"/>
                </a:cubicBezTo>
                <a:lnTo>
                  <a:pt x="20202" y="16946"/>
                </a:lnTo>
                <a:cubicBezTo>
                  <a:pt x="20181" y="17013"/>
                  <a:pt x="20161" y="17078"/>
                  <a:pt x="20142" y="17143"/>
                </a:cubicBezTo>
                <a:cubicBezTo>
                  <a:pt x="19789" y="18315"/>
                  <a:pt x="19524" y="19196"/>
                  <a:pt x="18943" y="19876"/>
                </a:cubicBezTo>
                <a:cubicBezTo>
                  <a:pt x="18432" y="20473"/>
                  <a:pt x="17757" y="20939"/>
                  <a:pt x="16986" y="21226"/>
                </a:cubicBezTo>
                <a:cubicBezTo>
                  <a:pt x="16107" y="21554"/>
                  <a:pt x="15095" y="21553"/>
                  <a:pt x="13750" y="21552"/>
                </a:cubicBezTo>
                <a:cubicBezTo>
                  <a:pt x="11456" y="21551"/>
                  <a:pt x="9164" y="21552"/>
                  <a:pt x="6872" y="21552"/>
                </a:cubicBezTo>
                <a:cubicBezTo>
                  <a:pt x="5911" y="21552"/>
                  <a:pt x="5118" y="21552"/>
                  <a:pt x="4472" y="21505"/>
                </a:cubicBezTo>
                <a:cubicBezTo>
                  <a:pt x="3802" y="21455"/>
                  <a:pt x="3185" y="21349"/>
                  <a:pt x="2606" y="21082"/>
                </a:cubicBezTo>
                <a:cubicBezTo>
                  <a:pt x="1708" y="20669"/>
                  <a:pt x="979" y="20010"/>
                  <a:pt x="520" y="19199"/>
                </a:cubicBezTo>
                <a:cubicBezTo>
                  <a:pt x="226" y="18676"/>
                  <a:pt x="108" y="18119"/>
                  <a:pt x="53" y="17513"/>
                </a:cubicBezTo>
                <a:cubicBezTo>
                  <a:pt x="0" y="16930"/>
                  <a:pt x="0" y="16214"/>
                  <a:pt x="0" y="15346"/>
                </a:cubicBezTo>
                <a:lnTo>
                  <a:pt x="0" y="12931"/>
                </a:lnTo>
                <a:cubicBezTo>
                  <a:pt x="0" y="12881"/>
                  <a:pt x="0" y="12832"/>
                  <a:pt x="0" y="12783"/>
                </a:cubicBezTo>
                <a:cubicBezTo>
                  <a:pt x="0" y="11926"/>
                  <a:pt x="-1" y="11289"/>
                  <a:pt x="162" y="10738"/>
                </a:cubicBezTo>
                <a:cubicBezTo>
                  <a:pt x="604" y="9250"/>
                  <a:pt x="1890" y="8088"/>
                  <a:pt x="3538" y="7690"/>
                </a:cubicBezTo>
                <a:cubicBezTo>
                  <a:pt x="4148" y="7542"/>
                  <a:pt x="4853" y="7542"/>
                  <a:pt x="5803" y="7543"/>
                </a:cubicBezTo>
                <a:cubicBezTo>
                  <a:pt x="5857" y="7543"/>
                  <a:pt x="5911" y="7543"/>
                  <a:pt x="5966" y="7543"/>
                </a:cubicBezTo>
                <a:cubicBezTo>
                  <a:pt x="6277" y="7543"/>
                  <a:pt x="6562" y="7393"/>
                  <a:pt x="6716" y="7150"/>
                </a:cubicBezTo>
                <a:lnTo>
                  <a:pt x="10897" y="543"/>
                </a:lnTo>
                <a:close/>
                <a:moveTo>
                  <a:pt x="5407" y="19388"/>
                </a:moveTo>
                <a:cubicBezTo>
                  <a:pt x="5204" y="19068"/>
                  <a:pt x="5044" y="18723"/>
                  <a:pt x="4935" y="18357"/>
                </a:cubicBezTo>
                <a:cubicBezTo>
                  <a:pt x="4772" y="17806"/>
                  <a:pt x="4773" y="17169"/>
                  <a:pt x="4773" y="16312"/>
                </a:cubicBezTo>
                <a:cubicBezTo>
                  <a:pt x="4773" y="16264"/>
                  <a:pt x="4773" y="16214"/>
                  <a:pt x="4773" y="16164"/>
                </a:cubicBezTo>
                <a:lnTo>
                  <a:pt x="4773" y="9709"/>
                </a:lnTo>
                <a:cubicBezTo>
                  <a:pt x="4466" y="9719"/>
                  <a:pt x="4297" y="9737"/>
                  <a:pt x="4155" y="9772"/>
                </a:cubicBezTo>
                <a:cubicBezTo>
                  <a:pt x="3332" y="9971"/>
                  <a:pt x="2689" y="10552"/>
                  <a:pt x="2468" y="11296"/>
                </a:cubicBezTo>
                <a:cubicBezTo>
                  <a:pt x="2397" y="11535"/>
                  <a:pt x="2387" y="11860"/>
                  <a:pt x="2387" y="12931"/>
                </a:cubicBezTo>
                <a:lnTo>
                  <a:pt x="2387" y="15302"/>
                </a:lnTo>
                <a:cubicBezTo>
                  <a:pt x="2387" y="16225"/>
                  <a:pt x="2388" y="16853"/>
                  <a:pt x="2432" y="17338"/>
                </a:cubicBezTo>
                <a:cubicBezTo>
                  <a:pt x="2474" y="17810"/>
                  <a:pt x="2551" y="18052"/>
                  <a:pt x="2647" y="18220"/>
                </a:cubicBezTo>
                <a:cubicBezTo>
                  <a:pt x="2876" y="18626"/>
                  <a:pt x="3241" y="18955"/>
                  <a:pt x="3690" y="19162"/>
                </a:cubicBezTo>
                <a:cubicBezTo>
                  <a:pt x="3877" y="19248"/>
                  <a:pt x="4144" y="19318"/>
                  <a:pt x="4667" y="19356"/>
                </a:cubicBezTo>
                <a:cubicBezTo>
                  <a:pt x="4884" y="19372"/>
                  <a:pt x="5128" y="19382"/>
                  <a:pt x="5407" y="19388"/>
                </a:cubicBezTo>
                <a:close/>
                <a:moveTo>
                  <a:pt x="7160" y="9493"/>
                </a:moveTo>
                <a:lnTo>
                  <a:pt x="7160" y="16164"/>
                </a:lnTo>
                <a:cubicBezTo>
                  <a:pt x="7160" y="17236"/>
                  <a:pt x="7170" y="17560"/>
                  <a:pt x="7241" y="17799"/>
                </a:cubicBezTo>
                <a:cubicBezTo>
                  <a:pt x="7462" y="18543"/>
                  <a:pt x="8105" y="19124"/>
                  <a:pt x="8928" y="19324"/>
                </a:cubicBezTo>
                <a:cubicBezTo>
                  <a:pt x="9194" y="19388"/>
                  <a:pt x="9553" y="19397"/>
                  <a:pt x="10739" y="19397"/>
                </a:cubicBezTo>
                <a:lnTo>
                  <a:pt x="13524" y="19397"/>
                </a:lnTo>
                <a:cubicBezTo>
                  <a:pt x="15200" y="19397"/>
                  <a:pt x="15691" y="19377"/>
                  <a:pt x="16076" y="19234"/>
                </a:cubicBezTo>
                <a:cubicBezTo>
                  <a:pt x="16461" y="19090"/>
                  <a:pt x="16799" y="18857"/>
                  <a:pt x="17054" y="18559"/>
                </a:cubicBezTo>
                <a:cubicBezTo>
                  <a:pt x="17307" y="18262"/>
                  <a:pt x="17458" y="17839"/>
                  <a:pt x="17899" y="16379"/>
                </a:cubicBezTo>
                <a:lnTo>
                  <a:pt x="18444" y="14575"/>
                </a:lnTo>
                <a:cubicBezTo>
                  <a:pt x="18744" y="13583"/>
                  <a:pt x="18949" y="12899"/>
                  <a:pt x="19061" y="12366"/>
                </a:cubicBezTo>
                <a:cubicBezTo>
                  <a:pt x="19172" y="11837"/>
                  <a:pt x="19166" y="11567"/>
                  <a:pt x="19122" y="11387"/>
                </a:cubicBezTo>
                <a:cubicBezTo>
                  <a:pt x="18970" y="10768"/>
                  <a:pt x="18524" y="10241"/>
                  <a:pt x="17904" y="9946"/>
                </a:cubicBezTo>
                <a:cubicBezTo>
                  <a:pt x="17722" y="9860"/>
                  <a:pt x="17436" y="9783"/>
                  <a:pt x="16842" y="9741"/>
                </a:cubicBezTo>
                <a:cubicBezTo>
                  <a:pt x="16243" y="9699"/>
                  <a:pt x="15457" y="9698"/>
                  <a:pt x="14319" y="9698"/>
                </a:cubicBezTo>
                <a:cubicBezTo>
                  <a:pt x="13941" y="9698"/>
                  <a:pt x="13584" y="9536"/>
                  <a:pt x="13360" y="9261"/>
                </a:cubicBezTo>
                <a:cubicBezTo>
                  <a:pt x="13134" y="8986"/>
                  <a:pt x="13067" y="8631"/>
                  <a:pt x="13178" y="8304"/>
                </a:cubicBezTo>
                <a:lnTo>
                  <a:pt x="14311" y="4980"/>
                </a:lnTo>
                <a:cubicBezTo>
                  <a:pt x="14722" y="3771"/>
                  <a:pt x="13900" y="2522"/>
                  <a:pt x="12567" y="2246"/>
                </a:cubicBezTo>
                <a:lnTo>
                  <a:pt x="8787" y="8220"/>
                </a:lnTo>
                <a:cubicBezTo>
                  <a:pt x="8415" y="8808"/>
                  <a:pt x="7836" y="9252"/>
                  <a:pt x="7160" y="9493"/>
                </a:cubicBezTo>
                <a:close/>
              </a:path>
            </a:pathLst>
          </a:custGeom>
          <a:solidFill xmlns:a="http://schemas.openxmlformats.org/drawingml/2006/main">
            <a:schemeClr val="dk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7725" tIns="67725" rIns="67725" bIns="677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300"/>
              <a:buFont typeface="Arial"/>
              <a:buNone/>
            </a:pPr>
          </a:p>
        </p:txBody>
      </p:sp>
      <p:sp>
        <p:nvSpPr>
          <p:cNvPr id="18" name="Google Shape;1266;p99">
            <a:extLst xmlns:a="http://schemas.openxmlformats.org/drawingml/2006/main">
              <a:ext uri="{FF2B5EF4-FFF2-40B4-BE49-F238E27FC236}">
                <a16:creationId xmlns:a16="http://schemas.microsoft.com/office/drawing/2014/main" id="{A7463D0C-45D0-FAD2-0C32-032165767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4485" y="4029083"/>
            <a:ext cx="321663" cy="321771"/>
          </a:xfrm>
          <a:custGeom xmlns:a="http://schemas.openxmlformats.org/drawingml/2006/main">
            <a:rect l="l" t="t" r="r" b="b"/>
            <a:pathLst>
              <a:path w="21599" h="21599">
                <a:moveTo>
                  <a:pt x="6252" y="0"/>
                </a:moveTo>
                <a:cubicBezTo>
                  <a:pt x="6880" y="0"/>
                  <a:pt x="7389" y="509"/>
                  <a:pt x="7389" y="1137"/>
                </a:cubicBezTo>
                <a:lnTo>
                  <a:pt x="14210" y="1137"/>
                </a:lnTo>
                <a:cubicBezTo>
                  <a:pt x="14210" y="509"/>
                  <a:pt x="14719" y="0"/>
                  <a:pt x="15347" y="0"/>
                </a:cubicBezTo>
                <a:cubicBezTo>
                  <a:pt x="15974" y="0"/>
                  <a:pt x="16483" y="509"/>
                  <a:pt x="16483" y="1137"/>
                </a:cubicBezTo>
                <a:lnTo>
                  <a:pt x="16483" y="1146"/>
                </a:lnTo>
                <a:cubicBezTo>
                  <a:pt x="16839" y="1155"/>
                  <a:pt x="17162" y="1170"/>
                  <a:pt x="17456" y="1197"/>
                </a:cubicBezTo>
                <a:cubicBezTo>
                  <a:pt x="18049" y="1254"/>
                  <a:pt x="18598" y="1369"/>
                  <a:pt x="19116" y="1632"/>
                </a:cubicBezTo>
                <a:cubicBezTo>
                  <a:pt x="19972" y="2068"/>
                  <a:pt x="20668" y="2764"/>
                  <a:pt x="21103" y="3620"/>
                </a:cubicBezTo>
                <a:cubicBezTo>
                  <a:pt x="21384" y="4171"/>
                  <a:pt x="21497" y="4759"/>
                  <a:pt x="21549" y="5397"/>
                </a:cubicBezTo>
                <a:cubicBezTo>
                  <a:pt x="21599" y="6012"/>
                  <a:pt x="21599" y="6768"/>
                  <a:pt x="21599" y="7684"/>
                </a:cubicBezTo>
                <a:lnTo>
                  <a:pt x="21599" y="13655"/>
                </a:lnTo>
                <a:cubicBezTo>
                  <a:pt x="21599" y="13694"/>
                  <a:pt x="21599" y="13732"/>
                  <a:pt x="21599" y="13771"/>
                </a:cubicBezTo>
                <a:cubicBezTo>
                  <a:pt x="21599" y="14493"/>
                  <a:pt x="21600" y="15037"/>
                  <a:pt x="21473" y="15564"/>
                </a:cubicBezTo>
                <a:cubicBezTo>
                  <a:pt x="21361" y="16027"/>
                  <a:pt x="21178" y="16471"/>
                  <a:pt x="20929" y="16878"/>
                </a:cubicBezTo>
                <a:cubicBezTo>
                  <a:pt x="20646" y="17339"/>
                  <a:pt x="20261" y="17725"/>
                  <a:pt x="19749" y="18235"/>
                </a:cubicBezTo>
                <a:cubicBezTo>
                  <a:pt x="19723" y="18262"/>
                  <a:pt x="19696" y="18290"/>
                  <a:pt x="19667" y="18317"/>
                </a:cubicBezTo>
                <a:lnTo>
                  <a:pt x="18317" y="19667"/>
                </a:lnTo>
                <a:cubicBezTo>
                  <a:pt x="18290" y="19696"/>
                  <a:pt x="18262" y="19723"/>
                  <a:pt x="18235" y="19749"/>
                </a:cubicBezTo>
                <a:cubicBezTo>
                  <a:pt x="17725" y="20260"/>
                  <a:pt x="17339" y="20646"/>
                  <a:pt x="16878" y="20929"/>
                </a:cubicBezTo>
                <a:cubicBezTo>
                  <a:pt x="16471" y="21178"/>
                  <a:pt x="16027" y="21361"/>
                  <a:pt x="15564" y="21473"/>
                </a:cubicBezTo>
                <a:cubicBezTo>
                  <a:pt x="15037" y="21600"/>
                  <a:pt x="14493" y="21599"/>
                  <a:pt x="13771" y="21599"/>
                </a:cubicBezTo>
                <a:cubicBezTo>
                  <a:pt x="13732" y="21599"/>
                  <a:pt x="13694" y="21599"/>
                  <a:pt x="13655" y="21599"/>
                </a:cubicBezTo>
                <a:lnTo>
                  <a:pt x="6547" y="21599"/>
                </a:lnTo>
                <a:cubicBezTo>
                  <a:pt x="5632" y="21599"/>
                  <a:pt x="4876" y="21599"/>
                  <a:pt x="4261" y="21549"/>
                </a:cubicBezTo>
                <a:cubicBezTo>
                  <a:pt x="3622" y="21497"/>
                  <a:pt x="3034" y="21384"/>
                  <a:pt x="2483" y="21103"/>
                </a:cubicBezTo>
                <a:cubicBezTo>
                  <a:pt x="1627" y="20668"/>
                  <a:pt x="931" y="19972"/>
                  <a:pt x="496" y="19116"/>
                </a:cubicBezTo>
                <a:cubicBezTo>
                  <a:pt x="215" y="18565"/>
                  <a:pt x="102" y="17977"/>
                  <a:pt x="50" y="17338"/>
                </a:cubicBezTo>
                <a:cubicBezTo>
                  <a:pt x="0" y="16723"/>
                  <a:pt x="0" y="15967"/>
                  <a:pt x="0" y="15052"/>
                </a:cubicBezTo>
                <a:lnTo>
                  <a:pt x="0" y="7684"/>
                </a:lnTo>
                <a:cubicBezTo>
                  <a:pt x="0" y="6768"/>
                  <a:pt x="0" y="6012"/>
                  <a:pt x="50" y="5397"/>
                </a:cubicBezTo>
                <a:cubicBezTo>
                  <a:pt x="102" y="4759"/>
                  <a:pt x="215" y="4171"/>
                  <a:pt x="496" y="3620"/>
                </a:cubicBezTo>
                <a:cubicBezTo>
                  <a:pt x="931" y="2764"/>
                  <a:pt x="1627" y="2068"/>
                  <a:pt x="2483" y="1632"/>
                </a:cubicBezTo>
                <a:cubicBezTo>
                  <a:pt x="3001" y="1369"/>
                  <a:pt x="3550" y="1254"/>
                  <a:pt x="4142" y="1197"/>
                </a:cubicBezTo>
                <a:cubicBezTo>
                  <a:pt x="4437" y="1170"/>
                  <a:pt x="4760" y="1155"/>
                  <a:pt x="5116" y="1146"/>
                </a:cubicBezTo>
                <a:lnTo>
                  <a:pt x="5116" y="1137"/>
                </a:lnTo>
                <a:cubicBezTo>
                  <a:pt x="5116" y="509"/>
                  <a:pt x="5625" y="0"/>
                  <a:pt x="6252" y="0"/>
                </a:cubicBezTo>
                <a:close/>
                <a:moveTo>
                  <a:pt x="5116" y="3421"/>
                </a:moveTo>
                <a:cubicBezTo>
                  <a:pt x="4822" y="3427"/>
                  <a:pt x="4576" y="3440"/>
                  <a:pt x="4358" y="3460"/>
                </a:cubicBezTo>
                <a:cubicBezTo>
                  <a:pt x="3916" y="3502"/>
                  <a:pt x="3681" y="3573"/>
                  <a:pt x="3515" y="3658"/>
                </a:cubicBezTo>
                <a:cubicBezTo>
                  <a:pt x="3088" y="3876"/>
                  <a:pt x="2740" y="4224"/>
                  <a:pt x="2521" y="4652"/>
                </a:cubicBezTo>
                <a:cubicBezTo>
                  <a:pt x="2430" y="4829"/>
                  <a:pt x="2357" y="5085"/>
                  <a:pt x="2317" y="5583"/>
                </a:cubicBezTo>
                <a:cubicBezTo>
                  <a:pt x="2275" y="6094"/>
                  <a:pt x="2274" y="6756"/>
                  <a:pt x="2274" y="7730"/>
                </a:cubicBezTo>
                <a:lnTo>
                  <a:pt x="2274" y="15006"/>
                </a:lnTo>
                <a:cubicBezTo>
                  <a:pt x="2274" y="15980"/>
                  <a:pt x="2275" y="16641"/>
                  <a:pt x="2317" y="17153"/>
                </a:cubicBezTo>
                <a:cubicBezTo>
                  <a:pt x="2357" y="17651"/>
                  <a:pt x="2430" y="17907"/>
                  <a:pt x="2521" y="18084"/>
                </a:cubicBezTo>
                <a:cubicBezTo>
                  <a:pt x="2740" y="18511"/>
                  <a:pt x="3088" y="18859"/>
                  <a:pt x="3515" y="19077"/>
                </a:cubicBezTo>
                <a:cubicBezTo>
                  <a:pt x="3692" y="19168"/>
                  <a:pt x="3948" y="19242"/>
                  <a:pt x="4446" y="19282"/>
                </a:cubicBezTo>
                <a:cubicBezTo>
                  <a:pt x="4958" y="19324"/>
                  <a:pt x="5619" y="19325"/>
                  <a:pt x="6593" y="19325"/>
                </a:cubicBezTo>
                <a:lnTo>
                  <a:pt x="13073" y="19325"/>
                </a:lnTo>
                <a:lnTo>
                  <a:pt x="13073" y="18189"/>
                </a:lnTo>
                <a:cubicBezTo>
                  <a:pt x="13073" y="15677"/>
                  <a:pt x="15109" y="13641"/>
                  <a:pt x="17620" y="13641"/>
                </a:cubicBezTo>
                <a:lnTo>
                  <a:pt x="18757" y="13641"/>
                </a:lnTo>
                <a:cubicBezTo>
                  <a:pt x="18964" y="13641"/>
                  <a:pt x="19158" y="13697"/>
                  <a:pt x="19325" y="13794"/>
                </a:cubicBezTo>
                <a:cubicBezTo>
                  <a:pt x="19325" y="13749"/>
                  <a:pt x="19325" y="13703"/>
                  <a:pt x="19325" y="13655"/>
                </a:cubicBezTo>
                <a:lnTo>
                  <a:pt x="19325" y="7730"/>
                </a:lnTo>
                <a:cubicBezTo>
                  <a:pt x="19325" y="6756"/>
                  <a:pt x="19324" y="6094"/>
                  <a:pt x="19282" y="5583"/>
                </a:cubicBezTo>
                <a:cubicBezTo>
                  <a:pt x="19242" y="5085"/>
                  <a:pt x="19168" y="4829"/>
                  <a:pt x="19077" y="4652"/>
                </a:cubicBezTo>
                <a:cubicBezTo>
                  <a:pt x="18859" y="4224"/>
                  <a:pt x="18511" y="3876"/>
                  <a:pt x="18084" y="3658"/>
                </a:cubicBezTo>
                <a:cubicBezTo>
                  <a:pt x="17918" y="3573"/>
                  <a:pt x="17683" y="3502"/>
                  <a:pt x="17240" y="3460"/>
                </a:cubicBezTo>
                <a:cubicBezTo>
                  <a:pt x="17023" y="3440"/>
                  <a:pt x="16777" y="3427"/>
                  <a:pt x="16483" y="3421"/>
                </a:cubicBezTo>
                <a:lnTo>
                  <a:pt x="16483" y="4547"/>
                </a:lnTo>
                <a:cubicBezTo>
                  <a:pt x="16483" y="5175"/>
                  <a:pt x="15974" y="5684"/>
                  <a:pt x="15347" y="5684"/>
                </a:cubicBezTo>
                <a:cubicBezTo>
                  <a:pt x="14719" y="5684"/>
                  <a:pt x="14210" y="5175"/>
                  <a:pt x="14210" y="4547"/>
                </a:cubicBezTo>
                <a:lnTo>
                  <a:pt x="14210" y="3410"/>
                </a:lnTo>
                <a:lnTo>
                  <a:pt x="7389" y="3410"/>
                </a:lnTo>
                <a:lnTo>
                  <a:pt x="7389" y="4547"/>
                </a:lnTo>
                <a:cubicBezTo>
                  <a:pt x="7389" y="5175"/>
                  <a:pt x="6880" y="5684"/>
                  <a:pt x="6252" y="5684"/>
                </a:cubicBezTo>
                <a:cubicBezTo>
                  <a:pt x="5625" y="5684"/>
                  <a:pt x="5116" y="5175"/>
                  <a:pt x="5116" y="4547"/>
                </a:cubicBezTo>
                <a:lnTo>
                  <a:pt x="5116" y="3421"/>
                </a:lnTo>
                <a:close/>
                <a:moveTo>
                  <a:pt x="18827" y="15913"/>
                </a:moveTo>
                <a:cubicBezTo>
                  <a:pt x="18804" y="15914"/>
                  <a:pt x="18781" y="15915"/>
                  <a:pt x="18757" y="15915"/>
                </a:cubicBezTo>
                <a:lnTo>
                  <a:pt x="17620" y="15915"/>
                </a:lnTo>
                <a:cubicBezTo>
                  <a:pt x="16364" y="15915"/>
                  <a:pt x="15347" y="16932"/>
                  <a:pt x="15347" y="18189"/>
                </a:cubicBezTo>
                <a:lnTo>
                  <a:pt x="15347" y="19163"/>
                </a:lnTo>
                <a:cubicBezTo>
                  <a:pt x="15466" y="19115"/>
                  <a:pt x="15581" y="19057"/>
                  <a:pt x="15690" y="18990"/>
                </a:cubicBezTo>
                <a:cubicBezTo>
                  <a:pt x="15893" y="18866"/>
                  <a:pt x="16081" y="18689"/>
                  <a:pt x="16710" y="18060"/>
                </a:cubicBezTo>
                <a:lnTo>
                  <a:pt x="18060" y="16710"/>
                </a:lnTo>
                <a:cubicBezTo>
                  <a:pt x="18472" y="16297"/>
                  <a:pt x="18690" y="16074"/>
                  <a:pt x="18827" y="15913"/>
                </a:cubicBezTo>
                <a:close/>
              </a:path>
            </a:pathLst>
          </a:custGeom>
          <a:solidFill xmlns:a="http://schemas.openxmlformats.org/drawingml/2006/main">
            <a:schemeClr val="dk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7725" tIns="67725" rIns="67725" bIns="677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300"/>
              <a:buFont typeface="Arial"/>
              <a:buNone/>
            </a:pPr>
          </a:p>
        </p:txBody>
      </p:sp>
      <p:sp>
        <p:nvSpPr>
          <p:cNvPr id="19" name="Footer Placeholder 18">
            <a:extLst xmlns:a="http://schemas.openxmlformats.org/drawingml/2006/main">
              <a:ext uri="{FF2B5EF4-FFF2-40B4-BE49-F238E27FC236}">
                <a16:creationId xmlns:a16="http://schemas.microsoft.com/office/drawing/2014/main" id="{A7C685AE-794E-F9C0-C7B3-7E956842DD9D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CabotageLens | Trabalho de Formatura</a:t>
            </a:r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9892F439-FAFA-E9E4-AA65-F7A04500A779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8AD4375-9F50-F53A-6F9F-DD8473067C05}" type="slidenum">
              <a:t>28</a:t>
            </a:fld>
          </a:p>
        </p:txBody>
      </p:sp>
    </p:spTree>
    <p:extLst>
      <p:ext uri="{BB962C8B-B14F-4D97-AF65-F5344CB8AC3E}">
        <p14:creationId xmlns:p14="http://schemas.microsoft.com/office/powerpoint/2010/main" val="2342105169"/>
      </p:ext>
    </p:extLst>
  </p:cSld>
</p:sld>
</file>

<file path=ppt/slides/slide2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D8F52456-F75C-B2FE-6F65-55BF4CD0987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5549230" cy="69739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> Router | Mapa de calor</a:t>
            </a:r>
          </a:p>
        </p:txBody>
      </p:sp>
      <p:graphicFrame>
        <p:nvGraphicFramePr>
          <p:cNvPr id="543" name="Chart 3"/>
          <p:cNvGraphicFramePr/>
          <p:nvPr/>
        </p:nvGraphicFramePr>
        <p:xfrm>
          <a:off xmlns:a="http://schemas.openxmlformats.org/drawingml/2006/main" x="408690" y="1054100"/>
          <a:ext xmlns:a="http://schemas.openxmlformats.org/drawingml/2006/main" cx="5124182" cy="545200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37979f30f728412a"/>
          </a:graphicData>
        </a:graphic>
      </p:graphicFrame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D9083A7E-FB02-6980-1ACB-51927A1B24AA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CabotageLens | Trabalho de Formatura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A8A5B219-39E0-D9D9-5794-FED4436FF114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1680313-6E64-04FF-399A-57B7CADE95A9}" type="slidenum">
              <a:t>29</a:t>
            </a:fld>
          </a:p>
        </p:txBody>
      </p:sp>
      <p:graphicFrame>
        <p:nvGraphicFramePr>
          <p:cNvPr id="546" name="Chart 10"/>
          <p:cNvGraphicFramePr/>
          <p:nvPr/>
        </p:nvGraphicFramePr>
        <p:xfrm>
          <a:off xmlns:a="http://schemas.openxmlformats.org/drawingml/2006/main" x="6543094" y="1054100"/>
          <a:ext xmlns:a="http://schemas.openxmlformats.org/drawingml/2006/main" cx="5131647" cy="5459891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bdbd14622ad64f0b"/>
          </a:graphicData>
        </a:graphic>
      </p:graphicFrame>
      <p:sp>
        <p:nvSpPr>
          <p:cNvPr id="13" name="Straight Connector 12">
            <a:extLst xmlns:a="http://schemas.openxmlformats.org/drawingml/2006/main">
              <a:ext uri="{FF2B5EF4-FFF2-40B4-BE49-F238E27FC236}">
                <a16:creationId xmlns:a16="http://schemas.microsoft.com/office/drawing/2014/main" id="{755B84C7-4CCC-4A8E-AD8A-073C3FBB2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-123568"/>
            <a:ext cx="0" cy="7129849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tx2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536" name="">
            <a:extLst xmlns:a="http://schemas.openxmlformats.org/drawingml/2006/main">
              <a:ext uri="{FF2B5EF4-FFF2-40B4-BE49-F238E27FC236}">
                <a16:creationId xmlns:a16="http://schemas.microsoft.com/office/drawing/2014/main" id="{E10B9EDB-8714-47F0-8F8E-1F81E20B2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8690" y="1054100"/>
            <a:ext cx="5124182" cy="545200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</a:ln>
        </p:spPr>
      </p:sp>
      <p:pic>
        <p:nvPicPr>
          <p:cNvPr id="54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ea75451221c4395"/>
          <a:stretch xmlns:a="http://schemas.openxmlformats.org/drawingml/2006/main"/>
        </p:blipFill>
        <p:spPr>
          <a:xfrm xmlns:a="http://schemas.openxmlformats.org/drawingml/2006/main">
            <a:off x="408690" y="2158228"/>
            <a:ext cx="5124182" cy="3243748"/>
          </a:xfrm>
          <a:prstGeom xmlns:a="http://schemas.openxmlformats.org/drawingml/2006/main" prst="rect">
            <a:avLst/>
          </a:prstGeom>
        </p:spPr>
      </p:pic>
      <p:sp>
        <p:nvSpPr>
          <p:cNvPr id="538" name="">
            <a:extLst xmlns:a="http://schemas.openxmlformats.org/drawingml/2006/main">
              <a:ext uri="{FF2B5EF4-FFF2-40B4-BE49-F238E27FC236}">
                <a16:creationId xmlns:a16="http://schemas.microsoft.com/office/drawing/2014/main" id="{20B5BA49-EAE3-4010-B75F-7CE7828FE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3094" y="1054100"/>
            <a:ext cx="5131647" cy="54598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</a:ln>
        </p:spPr>
      </p:sp>
      <p:pic>
        <p:nvPicPr>
          <p:cNvPr id="55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15203c7e6604f71"/>
          <a:stretch xmlns:a="http://schemas.openxmlformats.org/drawingml/2006/main"/>
        </p:blipFill>
        <p:spPr>
          <a:xfrm xmlns:a="http://schemas.openxmlformats.org/drawingml/2006/main">
            <a:off x="6543094" y="1266909"/>
            <a:ext cx="5131647" cy="5034272"/>
          </a:xfrm>
          <a:prstGeom xmlns:a="http://schemas.openxmlformats.org/drawingml/2006/main" prst="rect">
            <a:avLst/>
          </a:prstGeom>
        </p:spPr>
      </p:pic>
      <p:sp>
        <p:nvSpPr>
          <p:cNvPr id="540" name="">
            <a:extLst xmlns:a="http://schemas.openxmlformats.org/drawingml/2006/main">
              <a:ext uri="{FF2B5EF4-FFF2-40B4-BE49-F238E27FC236}">
                <a16:creationId xmlns:a16="http://schemas.microsoft.com/office/drawing/2014/main" id="{257D82E5-B727-4E76-B93B-CF071C0F1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0"/>
            <a:ext cx="762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</a:ln>
        </p:spPr>
      </p:sp>
      <p:sp>
        <p:nvSpPr>
          <p:cNvPr id="541" name="">
            <a:extLst xmlns:a="http://schemas.openxmlformats.org/drawingml/2006/main">
              <a:ext uri="{FF2B5EF4-FFF2-40B4-BE49-F238E27FC236}">
                <a16:creationId xmlns:a16="http://schemas.microsoft.com/office/drawing/2014/main" id="{ECC5C50F-82D7-458D-A2C0-15CC4B92F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905500"/>
            <a:ext cx="600075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</a:ln>
        </p:spPr>
      </p:sp>
    </p:spTree>
    <p:extLst>
      <p:ext uri="{BB962C8B-B14F-4D97-AF65-F5344CB8AC3E}">
        <p14:creationId xmlns:p14="http://schemas.microsoft.com/office/powerpoint/2010/main" val="335452124"/>
      </p:ext>
    </p:extLst>
  </p:cSld>
</p:sld>
</file>

<file path=ppt/slides/slide3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4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92B9D060-8F6B-685E-C699-7CF3FDA228BA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1722684"/>
            <a:ext cx="5537200" cy="86542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>
                <a:latin typeface="Helvetica Neue"/>
                <a:ea typeface="Helvetica Neue"/>
                <a:cs typeface="Helvetica Neue"/>
              </a:rPr>
              <a:t>Resultado auditável,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>
                <a:latin typeface="Helvetica Neue"/>
                <a:ea typeface="Helvetica Neue"/>
                <a:cs typeface="Helvetica Neue"/>
              </a:rPr>
              <a:t>não apenas um total</a:t>
            </a:r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451E053B-8CD7-DAF7-BA60-B58D00D61D0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7835900" cy="10402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>Cada execução registra a procedência do resultado</a:t>
            </a:r>
          </a:p>
        </p:txBody>
      </p:sp>
      <p:sp>
        <p:nvSpPr>
          <p:cNvPr id="2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F1357382-F889-8A40-7C64-C4E276E66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990317"/>
            <a:ext cx="3911600" cy="548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0000"/>
              </a:lnSpc>
              <a:spcBef>
                <a:spcPts val="0"/>
              </a:spcBef>
              <a:buFontTx/>
              <a:buNone/>
            </a:pP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Rota rodoviária e provedor</a:t>
            </a:r>
          </a:p>
        </p:txBody>
      </p:sp>
      <p:sp>
        <p:nvSpPr>
          <p:cNvPr id="3" name="Google Shape;340;p61">
            <a:extLst xmlns:a="http://schemas.openxmlformats.org/drawingml/2006/main">
              <a:ext uri="{FF2B5EF4-FFF2-40B4-BE49-F238E27FC236}">
                <a16:creationId xmlns:a16="http://schemas.microsoft.com/office/drawing/2014/main" id="{DECE1942-1885-9577-DF5F-685A8B1C7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7725" y="3015150"/>
            <a:ext cx="212551" cy="212470"/>
          </a:xfrm>
          <a:custGeom xmlns:a="http://schemas.openxmlformats.org/drawingml/2006/main">
            <a:rect l="l" t="t" r="r" b="b"/>
            <a:pathLst>
              <a:path w="21600" h="21600">
                <a:moveTo>
                  <a:pt x="10800" y="2160"/>
                </a:moveTo>
                <a:cubicBezTo>
                  <a:pt x="6029" y="2160"/>
                  <a:pt x="2160" y="6029"/>
                  <a:pt x="2160" y="10800"/>
                </a:cubicBezTo>
                <a:cubicBezTo>
                  <a:pt x="2160" y="15571"/>
                  <a:pt x="6029" y="19440"/>
                  <a:pt x="10800" y="19440"/>
                </a:cubicBezTo>
                <a:cubicBezTo>
                  <a:pt x="15571" y="19440"/>
                  <a:pt x="19440" y="15571"/>
                  <a:pt x="19440" y="10800"/>
                </a:cubicBezTo>
                <a:cubicBezTo>
                  <a:pt x="19440" y="6029"/>
                  <a:pt x="15571" y="2160"/>
                  <a:pt x="10800" y="2160"/>
                </a:cubicBezTo>
                <a:close/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15201" y="6407"/>
                </a:moveTo>
                <a:cubicBezTo>
                  <a:pt x="15689" y="6750"/>
                  <a:pt x="15807" y="7424"/>
                  <a:pt x="15463" y="7911"/>
                </a:cubicBezTo>
                <a:lnTo>
                  <a:pt x="10333" y="15201"/>
                </a:lnTo>
                <a:cubicBezTo>
                  <a:pt x="10144" y="15470"/>
                  <a:pt x="9844" y="15637"/>
                  <a:pt x="9517" y="15658"/>
                </a:cubicBezTo>
                <a:cubicBezTo>
                  <a:pt x="9190" y="15678"/>
                  <a:pt x="8871" y="15549"/>
                  <a:pt x="8651" y="15307"/>
                </a:cubicBezTo>
                <a:lnTo>
                  <a:pt x="5951" y="12337"/>
                </a:lnTo>
                <a:cubicBezTo>
                  <a:pt x="5550" y="11895"/>
                  <a:pt x="5583" y="11213"/>
                  <a:pt x="6023" y="10811"/>
                </a:cubicBezTo>
                <a:cubicBezTo>
                  <a:pt x="6465" y="10410"/>
                  <a:pt x="7147" y="10443"/>
                  <a:pt x="7549" y="10883"/>
                </a:cubicBezTo>
                <a:lnTo>
                  <a:pt x="9342" y="12856"/>
                </a:lnTo>
                <a:lnTo>
                  <a:pt x="13697" y="6669"/>
                </a:lnTo>
                <a:cubicBezTo>
                  <a:pt x="14040" y="6181"/>
                  <a:pt x="14714" y="6063"/>
                  <a:pt x="15201" y="6407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38100" tIns="38100" rIns="381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Clr>
                <a:srgbClr val="FFFFFF"/>
              </a:buClr>
              <a:buSzPts val="2400"/>
              <a:buNone/>
            </a:pP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70BD0609-EAC0-DFEC-8761-6C5A72DB2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2990316"/>
            <a:ext cx="5537200" cy="28846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/>
              <a:buNone/>
            </a:pPr>
            <a:r>
              <a:rPr sz="1600" b="0" i="0" u="none" cap="none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O pipeline preserva entradas, rotas, portos, ligação marítima, preços, fatores, fallbacks e avisos. Git registra as regras; Supabase permite reutilizar dados e resultados.</a:t>
            </a:r>
          </a:p>
        </p:txBody>
      </p:sp>
      <p:sp>
        <p:nvSpPr>
          <p:cNvPr id="16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01B260BF-9264-3C70-DF2D-2E6EA83AC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599916"/>
            <a:ext cx="3911600" cy="548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0000"/>
              </a:lnSpc>
              <a:spcBef>
                <a:spcPts val="0"/>
              </a:spcBef>
              <a:buFontTx/>
              <a:buNone/>
            </a:pP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Portos e acessos</a:t>
            </a:r>
          </a:p>
        </p:txBody>
      </p:sp>
      <p:sp>
        <p:nvSpPr>
          <p:cNvPr id="17" name="Google Shape;340;p61">
            <a:extLst xmlns:a="http://schemas.openxmlformats.org/drawingml/2006/main">
              <a:ext uri="{FF2B5EF4-FFF2-40B4-BE49-F238E27FC236}">
                <a16:creationId xmlns:a16="http://schemas.microsoft.com/office/drawing/2014/main" id="{A6CF1E9A-BF4C-E7B2-D556-8AB5FB2B6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7725" y="3624749"/>
            <a:ext cx="212551" cy="212470"/>
          </a:xfrm>
          <a:custGeom xmlns:a="http://schemas.openxmlformats.org/drawingml/2006/main">
            <a:rect l="l" t="t" r="r" b="b"/>
            <a:pathLst>
              <a:path w="21600" h="21600">
                <a:moveTo>
                  <a:pt x="10800" y="2160"/>
                </a:moveTo>
                <a:cubicBezTo>
                  <a:pt x="6029" y="2160"/>
                  <a:pt x="2160" y="6029"/>
                  <a:pt x="2160" y="10800"/>
                </a:cubicBezTo>
                <a:cubicBezTo>
                  <a:pt x="2160" y="15571"/>
                  <a:pt x="6029" y="19440"/>
                  <a:pt x="10800" y="19440"/>
                </a:cubicBezTo>
                <a:cubicBezTo>
                  <a:pt x="15571" y="19440"/>
                  <a:pt x="19440" y="15571"/>
                  <a:pt x="19440" y="10800"/>
                </a:cubicBezTo>
                <a:cubicBezTo>
                  <a:pt x="19440" y="6029"/>
                  <a:pt x="15571" y="2160"/>
                  <a:pt x="10800" y="2160"/>
                </a:cubicBezTo>
                <a:close/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15201" y="6407"/>
                </a:moveTo>
                <a:cubicBezTo>
                  <a:pt x="15689" y="6750"/>
                  <a:pt x="15807" y="7424"/>
                  <a:pt x="15463" y="7911"/>
                </a:cubicBezTo>
                <a:lnTo>
                  <a:pt x="10333" y="15201"/>
                </a:lnTo>
                <a:cubicBezTo>
                  <a:pt x="10144" y="15470"/>
                  <a:pt x="9844" y="15637"/>
                  <a:pt x="9517" y="15658"/>
                </a:cubicBezTo>
                <a:cubicBezTo>
                  <a:pt x="9190" y="15678"/>
                  <a:pt x="8871" y="15549"/>
                  <a:pt x="8651" y="15307"/>
                </a:cubicBezTo>
                <a:lnTo>
                  <a:pt x="5951" y="12337"/>
                </a:lnTo>
                <a:cubicBezTo>
                  <a:pt x="5550" y="11895"/>
                  <a:pt x="5583" y="11213"/>
                  <a:pt x="6023" y="10811"/>
                </a:cubicBezTo>
                <a:cubicBezTo>
                  <a:pt x="6465" y="10410"/>
                  <a:pt x="7147" y="10443"/>
                  <a:pt x="7549" y="10883"/>
                </a:cubicBezTo>
                <a:lnTo>
                  <a:pt x="9342" y="12856"/>
                </a:lnTo>
                <a:lnTo>
                  <a:pt x="13697" y="6669"/>
                </a:lnTo>
                <a:cubicBezTo>
                  <a:pt x="14040" y="6181"/>
                  <a:pt x="14714" y="6063"/>
                  <a:pt x="15201" y="6407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38100" tIns="38100" rIns="381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Clr>
                <a:srgbClr val="FFFFFF"/>
              </a:buClr>
              <a:buSzPts val="2400"/>
              <a:buNone/>
            </a:pPr>
          </a:p>
        </p:txBody>
      </p:sp>
      <p:sp>
        <p:nvSpPr>
          <p:cNvPr id="18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FE696631-18B5-8115-E5AD-ACCFD6221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4214765"/>
            <a:ext cx="3911600" cy="548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0000"/>
              </a:lnSpc>
              <a:spcBef>
                <a:spcPts val="0"/>
              </a:spcBef>
              <a:buFontTx/>
              <a:buNone/>
            </a:pP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Ligação marítima e cobertura</a:t>
            </a:r>
          </a:p>
        </p:txBody>
      </p:sp>
      <p:sp>
        <p:nvSpPr>
          <p:cNvPr id="19" name="Google Shape;340;p61">
            <a:extLst xmlns:a="http://schemas.openxmlformats.org/drawingml/2006/main">
              <a:ext uri="{FF2B5EF4-FFF2-40B4-BE49-F238E27FC236}">
                <a16:creationId xmlns:a16="http://schemas.microsoft.com/office/drawing/2014/main" id="{6ECBDA1E-6C7D-6B0F-A430-DF8A0965C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7725" y="4239598"/>
            <a:ext cx="212551" cy="212470"/>
          </a:xfrm>
          <a:custGeom xmlns:a="http://schemas.openxmlformats.org/drawingml/2006/main">
            <a:rect l="l" t="t" r="r" b="b"/>
            <a:pathLst>
              <a:path w="21600" h="21600">
                <a:moveTo>
                  <a:pt x="10800" y="2160"/>
                </a:moveTo>
                <a:cubicBezTo>
                  <a:pt x="6029" y="2160"/>
                  <a:pt x="2160" y="6029"/>
                  <a:pt x="2160" y="10800"/>
                </a:cubicBezTo>
                <a:cubicBezTo>
                  <a:pt x="2160" y="15571"/>
                  <a:pt x="6029" y="19440"/>
                  <a:pt x="10800" y="19440"/>
                </a:cubicBezTo>
                <a:cubicBezTo>
                  <a:pt x="15571" y="19440"/>
                  <a:pt x="19440" y="15571"/>
                  <a:pt x="19440" y="10800"/>
                </a:cubicBezTo>
                <a:cubicBezTo>
                  <a:pt x="19440" y="6029"/>
                  <a:pt x="15571" y="2160"/>
                  <a:pt x="10800" y="2160"/>
                </a:cubicBezTo>
                <a:close/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15201" y="6407"/>
                </a:moveTo>
                <a:cubicBezTo>
                  <a:pt x="15689" y="6750"/>
                  <a:pt x="15807" y="7424"/>
                  <a:pt x="15463" y="7911"/>
                </a:cubicBezTo>
                <a:lnTo>
                  <a:pt x="10333" y="15201"/>
                </a:lnTo>
                <a:cubicBezTo>
                  <a:pt x="10144" y="15470"/>
                  <a:pt x="9844" y="15637"/>
                  <a:pt x="9517" y="15658"/>
                </a:cubicBezTo>
                <a:cubicBezTo>
                  <a:pt x="9190" y="15678"/>
                  <a:pt x="8871" y="15549"/>
                  <a:pt x="8651" y="15307"/>
                </a:cubicBezTo>
                <a:lnTo>
                  <a:pt x="5951" y="12337"/>
                </a:lnTo>
                <a:cubicBezTo>
                  <a:pt x="5550" y="11895"/>
                  <a:pt x="5583" y="11213"/>
                  <a:pt x="6023" y="10811"/>
                </a:cubicBezTo>
                <a:cubicBezTo>
                  <a:pt x="6465" y="10410"/>
                  <a:pt x="7147" y="10443"/>
                  <a:pt x="7549" y="10883"/>
                </a:cubicBezTo>
                <a:lnTo>
                  <a:pt x="9342" y="12856"/>
                </a:lnTo>
                <a:lnTo>
                  <a:pt x="13697" y="6669"/>
                </a:lnTo>
                <a:cubicBezTo>
                  <a:pt x="14040" y="6181"/>
                  <a:pt x="14714" y="6063"/>
                  <a:pt x="15201" y="6407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38100" tIns="38100" rIns="381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Clr>
                <a:srgbClr val="FFFFFF"/>
              </a:buClr>
              <a:buSzPts val="2400"/>
              <a:buNone/>
            </a:pPr>
          </a:p>
        </p:txBody>
      </p:sp>
      <p:sp>
        <p:nvSpPr>
          <p:cNvPr id="20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9FC4B09F-4593-687E-52A3-7E683F7FE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4824364"/>
            <a:ext cx="3911600" cy="548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0000"/>
              </a:lnSpc>
              <a:spcBef>
                <a:spcPts val="0"/>
              </a:spcBef>
              <a:buFontTx/>
              <a:buNone/>
            </a:pP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Preços, fatores e datas</a:t>
            </a:r>
          </a:p>
        </p:txBody>
      </p:sp>
      <p:sp>
        <p:nvSpPr>
          <p:cNvPr id="21" name="Google Shape;340;p61">
            <a:extLst xmlns:a="http://schemas.openxmlformats.org/drawingml/2006/main">
              <a:ext uri="{FF2B5EF4-FFF2-40B4-BE49-F238E27FC236}">
                <a16:creationId xmlns:a16="http://schemas.microsoft.com/office/drawing/2014/main" id="{006032E6-DDFC-FA22-4D08-3BFFC755B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7725" y="4849197"/>
            <a:ext cx="212551" cy="212470"/>
          </a:xfrm>
          <a:custGeom xmlns:a="http://schemas.openxmlformats.org/drawingml/2006/main">
            <a:rect l="l" t="t" r="r" b="b"/>
            <a:pathLst>
              <a:path w="21600" h="21600">
                <a:moveTo>
                  <a:pt x="10800" y="2160"/>
                </a:moveTo>
                <a:cubicBezTo>
                  <a:pt x="6029" y="2160"/>
                  <a:pt x="2160" y="6029"/>
                  <a:pt x="2160" y="10800"/>
                </a:cubicBezTo>
                <a:cubicBezTo>
                  <a:pt x="2160" y="15571"/>
                  <a:pt x="6029" y="19440"/>
                  <a:pt x="10800" y="19440"/>
                </a:cubicBezTo>
                <a:cubicBezTo>
                  <a:pt x="15571" y="19440"/>
                  <a:pt x="19440" y="15571"/>
                  <a:pt x="19440" y="10800"/>
                </a:cubicBezTo>
                <a:cubicBezTo>
                  <a:pt x="19440" y="6029"/>
                  <a:pt x="15571" y="2160"/>
                  <a:pt x="10800" y="2160"/>
                </a:cubicBezTo>
                <a:close/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15201" y="6407"/>
                </a:moveTo>
                <a:cubicBezTo>
                  <a:pt x="15689" y="6750"/>
                  <a:pt x="15807" y="7424"/>
                  <a:pt x="15463" y="7911"/>
                </a:cubicBezTo>
                <a:lnTo>
                  <a:pt x="10333" y="15201"/>
                </a:lnTo>
                <a:cubicBezTo>
                  <a:pt x="10144" y="15470"/>
                  <a:pt x="9844" y="15637"/>
                  <a:pt x="9517" y="15658"/>
                </a:cubicBezTo>
                <a:cubicBezTo>
                  <a:pt x="9190" y="15678"/>
                  <a:pt x="8871" y="15549"/>
                  <a:pt x="8651" y="15307"/>
                </a:cubicBezTo>
                <a:lnTo>
                  <a:pt x="5951" y="12337"/>
                </a:lnTo>
                <a:cubicBezTo>
                  <a:pt x="5550" y="11895"/>
                  <a:pt x="5583" y="11213"/>
                  <a:pt x="6023" y="10811"/>
                </a:cubicBezTo>
                <a:cubicBezTo>
                  <a:pt x="6465" y="10410"/>
                  <a:pt x="7147" y="10443"/>
                  <a:pt x="7549" y="10883"/>
                </a:cubicBezTo>
                <a:lnTo>
                  <a:pt x="9342" y="12856"/>
                </a:lnTo>
                <a:lnTo>
                  <a:pt x="13697" y="6669"/>
                </a:lnTo>
                <a:cubicBezTo>
                  <a:pt x="14040" y="6181"/>
                  <a:pt x="14714" y="6063"/>
                  <a:pt x="15201" y="6407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38100" tIns="38100" rIns="381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Clr>
                <a:srgbClr val="FFFFFF"/>
              </a:buClr>
              <a:buSzPts val="2400"/>
              <a:buNone/>
            </a:pPr>
          </a:p>
        </p:txBody>
      </p:sp>
      <p:sp>
        <p:nvSpPr>
          <p:cNvPr id="23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EDAB1F81-E12B-29DC-E09F-27F129E42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5446664"/>
            <a:ext cx="3911600" cy="548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0000"/>
              </a:lnSpc>
              <a:spcBef>
                <a:spcPts val="0"/>
              </a:spcBef>
              <a:buFontTx/>
              <a:buNone/>
            </a:pP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Avisos e fallbacks</a:t>
            </a:r>
          </a:p>
        </p:txBody>
      </p:sp>
      <p:sp>
        <p:nvSpPr>
          <p:cNvPr id="24" name="Google Shape;340;p61">
            <a:extLst xmlns:a="http://schemas.openxmlformats.org/drawingml/2006/main">
              <a:ext uri="{FF2B5EF4-FFF2-40B4-BE49-F238E27FC236}">
                <a16:creationId xmlns:a16="http://schemas.microsoft.com/office/drawing/2014/main" id="{A052337A-4696-49F7-A089-E21DA71AD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7725" y="5471497"/>
            <a:ext cx="212551" cy="212470"/>
          </a:xfrm>
          <a:custGeom xmlns:a="http://schemas.openxmlformats.org/drawingml/2006/main">
            <a:rect l="l" t="t" r="r" b="b"/>
            <a:pathLst>
              <a:path w="21600" h="21600">
                <a:moveTo>
                  <a:pt x="10800" y="2160"/>
                </a:moveTo>
                <a:cubicBezTo>
                  <a:pt x="6029" y="2160"/>
                  <a:pt x="2160" y="6029"/>
                  <a:pt x="2160" y="10800"/>
                </a:cubicBezTo>
                <a:cubicBezTo>
                  <a:pt x="2160" y="15571"/>
                  <a:pt x="6029" y="19440"/>
                  <a:pt x="10800" y="19440"/>
                </a:cubicBezTo>
                <a:cubicBezTo>
                  <a:pt x="15571" y="19440"/>
                  <a:pt x="19440" y="15571"/>
                  <a:pt x="19440" y="10800"/>
                </a:cubicBezTo>
                <a:cubicBezTo>
                  <a:pt x="19440" y="6029"/>
                  <a:pt x="15571" y="2160"/>
                  <a:pt x="10800" y="2160"/>
                </a:cubicBezTo>
                <a:close/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15201" y="6407"/>
                </a:moveTo>
                <a:cubicBezTo>
                  <a:pt x="15689" y="6750"/>
                  <a:pt x="15807" y="7424"/>
                  <a:pt x="15463" y="7911"/>
                </a:cubicBezTo>
                <a:lnTo>
                  <a:pt x="10333" y="15201"/>
                </a:lnTo>
                <a:cubicBezTo>
                  <a:pt x="10144" y="15470"/>
                  <a:pt x="9844" y="15637"/>
                  <a:pt x="9517" y="15658"/>
                </a:cubicBezTo>
                <a:cubicBezTo>
                  <a:pt x="9190" y="15678"/>
                  <a:pt x="8871" y="15549"/>
                  <a:pt x="8651" y="15307"/>
                </a:cubicBezTo>
                <a:lnTo>
                  <a:pt x="5951" y="12337"/>
                </a:lnTo>
                <a:cubicBezTo>
                  <a:pt x="5550" y="11895"/>
                  <a:pt x="5583" y="11213"/>
                  <a:pt x="6023" y="10811"/>
                </a:cubicBezTo>
                <a:cubicBezTo>
                  <a:pt x="6465" y="10410"/>
                  <a:pt x="7147" y="10443"/>
                  <a:pt x="7549" y="10883"/>
                </a:cubicBezTo>
                <a:lnTo>
                  <a:pt x="9342" y="12856"/>
                </a:lnTo>
                <a:lnTo>
                  <a:pt x="13697" y="6669"/>
                </a:lnTo>
                <a:cubicBezTo>
                  <a:pt x="14040" y="6181"/>
                  <a:pt x="14714" y="6063"/>
                  <a:pt x="15201" y="6407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38100" tIns="38100" rIns="381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Clr>
                <a:srgbClr val="FFFFFF"/>
              </a:buClr>
              <a:buSzPts val="2400"/>
              <a:buNone/>
            </a:pPr>
          </a:p>
        </p:txBody>
      </p:sp>
      <p:sp>
        <p:nvSpPr>
          <p:cNvPr id="4" name="Footer Placeholder 3">
            <a:extLst xmlns:a="http://schemas.openxmlformats.org/drawingml/2006/main">
              <a:ext uri="{FF2B5EF4-FFF2-40B4-BE49-F238E27FC236}">
                <a16:creationId xmlns:a16="http://schemas.microsoft.com/office/drawing/2014/main" id="{8C44867F-CEA9-06EF-47ED-8F63A6DAE692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CabotageLens | Trabalho de Formatura</a:t>
            </a:r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1567BC5C-65A7-7445-018D-E76E0A94416A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FEBBBCE-9E16-527A-0EE3-E5839422D847}" type="slidenum">
              <a:t>30</a:t>
            </a:fld>
          </a:p>
        </p:txBody>
      </p:sp>
    </p:spTree>
    <p:extLst>
      <p:ext uri="{BB962C8B-B14F-4D97-AF65-F5344CB8AC3E}">
        <p14:creationId xmlns:p14="http://schemas.microsoft.com/office/powerpoint/2010/main" val="3331879134"/>
      </p:ext>
    </p:extLst>
  </p:cSld>
</p:sld>
</file>

<file path=ppt/slides/slide3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Footer Placeholder 3">
            <a:extLst xmlns:a="http://schemas.openxmlformats.org/drawingml/2006/main">
              <a:ext uri="{FF2B5EF4-FFF2-40B4-BE49-F238E27FC236}">
                <a16:creationId xmlns:a16="http://schemas.microsoft.com/office/drawing/2014/main" id="{99299C6E-3FDF-5AB3-E054-F3F59B33981F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t>CabotageLens | Trabalho de Formatura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233DF656-61B4-2882-D797-9122308526BC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lvl="0" indent="0" algn="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fld id="{D172A7C5-A0CC-7B36-F236-345181E6AD72}" type="slidenum">
              <a:rPr sz="1100" b="0" i="0" u="none" cap="none">
                <a:ln>
                  <a:noFill/>
                </a:ln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31</a:t>
            </a:fld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9414154B-F746-1A74-21F7-6E5F045F178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>Comparações externas contextualizam — não validam o modelo</a:t>
            </a:r>
          </a:p>
        </p:txBody>
      </p:sp>
      <p:sp>
        <p:nvSpPr>
          <p:cNvPr id="5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5D9F23F1-48AA-5A67-CC7C-B65A7A754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1796192"/>
            <a:ext cx="11404599" cy="122640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0" indent="0" algn="l" defTabSz="914400">
              <a:lnSpc>
                <a:spcPct val="90000"/>
              </a:lnSpc>
              <a:spcBef>
                <a:spcPts val="10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marR="0" lvl="0" indent="0" algn="l" defTabSz="914400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/>
              <a:buNone/>
            </a:pPr>
            <a:r>
              <a:rPr sz="1800" b="0" i="0" u="none" cap="none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Diferenças de fronteira, rota e método permanecem explícitas; os valores não são ajustados para produzir equivalência artificial.</a:t>
            </a:r>
          </a:p>
        </p:txBody>
      </p:sp>
      <p:sp>
        <p:nvSpPr>
          <p:cNvPr id="7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3DB02F86-AD0D-BE24-B025-8A7BB49E0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939" y="1384301"/>
            <a:ext cx="11404599" cy="23127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0" indent="0" algn="l" defTabSz="914400">
              <a:lnSpc>
                <a:spcPct val="90000"/>
              </a:lnSpc>
              <a:spcBef>
                <a:spcPts val="10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marR="0" lvl="0" indent="0" algn="l" defTabSz="914400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/>
              <a:buNone/>
            </a:pPr>
            <a:r>
              <a:rPr sz="1200" b="1" i="0" u="none" cap="none">
                <a:ln>
                  <a:noFill/>
                </a:ln>
                <a:solidFill>
                  <a:srgbClr val="175CD4"/>
                </a:solidFill>
                <a:latin typeface="Helvetica Neue"/>
                <a:ea typeface="Helvetica Neue"/>
                <a:cs typeface="Helvetica Neue"/>
              </a:rPr>
              <a:t>RESULTADOS OBSERVADOS</a:t>
            </a:r>
          </a:p>
        </p:txBody>
      </p:sp>
      <p:sp>
        <p:nvSpPr>
          <p:cNvPr id="17" name="Rounded Rectangle 16">
            <a:extLst xmlns:a="http://schemas.openxmlformats.org/drawingml/2006/main">
              <a:ext uri="{FF2B5EF4-FFF2-40B4-BE49-F238E27FC236}">
                <a16:creationId xmlns:a16="http://schemas.microsoft.com/office/drawing/2014/main" id="{C39129E7-9749-F0E3-59EF-1B786983B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3365498"/>
            <a:ext cx="3568700" cy="2628901"/>
          </a:xfrm>
          <a:prstGeom xmlns:a="http://schemas.openxmlformats.org/drawingml/2006/main" prst="roundRect">
            <a:avLst>
              <a:gd name="adj" fmla="val 3585"/>
            </a:avLst>
          </a:prstGeom>
          <a:solidFill xmlns:a="http://schemas.openxmlformats.org/drawingml/2006/main">
            <a:srgbClr val="F9FCFF"/>
          </a:solidFill>
          <a:ln xmlns:a="http://schemas.openxmlformats.org/drawingml/2006/main">
            <a:solidFill>
              <a:srgbClr val="EFF1F5"/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</a:p>
        </p:txBody>
      </p:sp>
      <p:sp>
        <p:nvSpPr>
          <p:cNvPr id="18" name="Rounded Rectangle 17">
            <a:extLst xmlns:a="http://schemas.openxmlformats.org/drawingml/2006/main">
              <a:ext uri="{FF2B5EF4-FFF2-40B4-BE49-F238E27FC236}">
                <a16:creationId xmlns:a16="http://schemas.microsoft.com/office/drawing/2014/main" id="{98728FDE-6DD0-74E3-B860-01CB47A22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1650" y="3365498"/>
            <a:ext cx="3568700" cy="2628901"/>
          </a:xfrm>
          <a:prstGeom xmlns:a="http://schemas.openxmlformats.org/drawingml/2006/main" prst="roundRect">
            <a:avLst>
              <a:gd name="adj" fmla="val 3585"/>
            </a:avLst>
          </a:prstGeom>
          <a:solidFill xmlns:a="http://schemas.openxmlformats.org/drawingml/2006/main">
            <a:srgbClr val="F9FCFF"/>
          </a:solidFill>
          <a:ln xmlns:a="http://schemas.openxmlformats.org/drawingml/2006/main">
            <a:solidFill>
              <a:srgbClr val="EFF1F5"/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</a:p>
        </p:txBody>
      </p:sp>
      <p:sp>
        <p:nvSpPr>
          <p:cNvPr id="19" name="Rounded Rectangle 18">
            <a:extLst xmlns:a="http://schemas.openxmlformats.org/drawingml/2006/main">
              <a:ext uri="{FF2B5EF4-FFF2-40B4-BE49-F238E27FC236}">
                <a16:creationId xmlns:a16="http://schemas.microsoft.com/office/drawing/2014/main" id="{F228B342-3C4A-AE4E-4223-223CEE77A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2297" y="3365498"/>
            <a:ext cx="3568700" cy="2628901"/>
          </a:xfrm>
          <a:prstGeom xmlns:a="http://schemas.openxmlformats.org/drawingml/2006/main" prst="roundRect">
            <a:avLst>
              <a:gd name="adj" fmla="val 3585"/>
            </a:avLst>
          </a:prstGeom>
          <a:solidFill xmlns:a="http://schemas.openxmlformats.org/drawingml/2006/main">
            <a:srgbClr val="F9FCFF"/>
          </a:solidFill>
          <a:ln xmlns:a="http://schemas.openxmlformats.org/drawingml/2006/main">
            <a:solidFill>
              <a:srgbClr val="EFF1F5"/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</a:p>
        </p:txBody>
      </p:sp>
      <p:sp>
        <p:nvSpPr>
          <p:cNvPr id="20" name="Content Placeholder 8">
            <a:extLst xmlns:a="http://schemas.openxmlformats.org/drawingml/2006/main">
              <a:ext uri="{FF2B5EF4-FFF2-40B4-BE49-F238E27FC236}">
                <a16:creationId xmlns:a16="http://schemas.microsoft.com/office/drawing/2014/main" id="{A83E7952-0C3E-8CA0-CBD2-20DE64FBB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3381" y="3709346"/>
            <a:ext cx="2949339" cy="198120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marR="0" lvl="0" indent="0" algn="l" defTabSz="91440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/>
              <a:buNone/>
            </a:pPr>
            <a:r>
              <a:rPr sz="2000" b="0" i="0" u="none" cap="none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Aliança</a:t>
            </a:r>
          </a:p>
          <a:p xmlns:a="http://schemas.openxmlformats.org/drawingml/2006/main">
            <a:pPr marL="0" marR="0" lvl="0" indent="0" algn="l" defTabSz="91440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/>
              <a:buNone/>
            </a:pPr>
            <a:r>
              <a:rPr sz="1600" b="0" i="0" u="none" cap="none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Redução TTW: 70,9% no CabotageLens e 76,0% na calculadora.</a:t>
            </a:r>
          </a:p>
        </p:txBody>
      </p:sp>
      <p:sp>
        <p:nvSpPr>
          <p:cNvPr id="21" name="Content Placeholder 9">
            <a:extLst xmlns:a="http://schemas.openxmlformats.org/drawingml/2006/main">
              <a:ext uri="{FF2B5EF4-FFF2-40B4-BE49-F238E27FC236}">
                <a16:creationId xmlns:a16="http://schemas.microsoft.com/office/drawing/2014/main" id="{ED1D1552-9316-E417-6E62-1A809C636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7681" y="3709346"/>
            <a:ext cx="2949339" cy="198120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marR="0" lvl="0" indent="0" algn="l" defTabSz="91440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/>
              <a:buNone/>
            </a:pPr>
            <a:r>
              <a:rPr sz="2000" b="0" i="0" u="none" cap="none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Log-In</a:t>
            </a:r>
          </a:p>
          <a:p xmlns:a="http://schemas.openxmlformats.org/drawingml/2006/main">
            <a:pPr marL="0" marR="0" lvl="0" indent="0" algn="l" defTabSz="91440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/>
              <a:buNone/>
            </a:pPr>
            <a:r>
              <a:rPr sz="1600" b="0" i="0" u="none" cap="none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Diferença multimodal: 0,15% em distância e 5,3% em emissões; não é validação independente.</a:t>
            </a:r>
          </a:p>
        </p:txBody>
      </p:sp>
      <p:sp>
        <p:nvSpPr>
          <p:cNvPr id="22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9E266E2C-270B-3F65-3279-162369AD9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1954" y="3709346"/>
            <a:ext cx="2949339" cy="198120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marR="0" lvl="0" indent="0" algn="l" defTabSz="91440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/>
              <a:buNone/>
            </a:pPr>
            <a:r>
              <a:rPr sz="2000" b="0" i="0" u="none" cap="none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ANTT</a:t>
            </a:r>
          </a:p>
          <a:p xmlns:a="http://schemas.openxmlformats.org/drawingml/2006/main">
            <a:pPr marL="0" marR="0" lvl="0" indent="0" algn="l" defTabSz="91440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/>
              <a:buNone/>
            </a:pPr>
            <a:r>
              <a:rPr sz="1600" b="0" i="0" u="none" cap="none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O combustível equivale a 57,8% do piso mínimo; os escopos não são cotações equivalentes.</a:t>
            </a:r>
          </a:p>
        </p:txBody>
      </p:sp>
    </p:spTree>
    <p:extLst>
      <p:ext uri="{BB962C8B-B14F-4D97-AF65-F5344CB8AC3E}">
        <p14:creationId xmlns:p14="http://schemas.microsoft.com/office/powerpoint/2010/main" val="310122253"/>
      </p:ext>
    </p:extLst>
  </p:cSld>
</p:sld>
</file>

<file path=ppt/slides/slide3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itle 10">
            <a:extLst xmlns:a="http://schemas.openxmlformats.org/drawingml/2006/main">
              <a:ext uri="{FF2B5EF4-FFF2-40B4-BE49-F238E27FC236}">
                <a16:creationId xmlns:a16="http://schemas.microsoft.com/office/drawing/2014/main" id="{8D39B68E-326B-DDEB-2069-B8BB0D01F04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9448800" cy="1047491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Quatro limites orientam a leitura dos resultados</a:t>
            </a:r>
          </a:p>
        </p:txBody>
      </p:sp>
      <p:sp>
        <p:nvSpPr>
          <p:cNvPr id="3" name="Rounded Rectangle 2">
            <a:extLst xmlns:a="http://schemas.openxmlformats.org/drawingml/2006/main">
              <a:ext uri="{FF2B5EF4-FFF2-40B4-BE49-F238E27FC236}">
                <a16:creationId xmlns:a16="http://schemas.microsoft.com/office/drawing/2014/main" id="{29B30B4D-AB5C-65DB-5658-753508EB3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3074698"/>
            <a:ext cx="2581975" cy="2656541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9FCFF"/>
          </a:solidFill>
          <a:ln xmlns:a="http://schemas.openxmlformats.org/drawingml/2006/main">
            <a:solidFill>
              <a:srgbClr val="EFF1F5"/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2" name="Content Placeholder 9">
            <a:extLst xmlns:a="http://schemas.openxmlformats.org/drawingml/2006/main">
              <a:ext uri="{FF2B5EF4-FFF2-40B4-BE49-F238E27FC236}">
                <a16:creationId xmlns:a16="http://schemas.microsoft.com/office/drawing/2014/main" id="{48F23094-2741-BF93-9618-593A39D42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052" y="3294588"/>
            <a:ext cx="2133315" cy="903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2540" marR="0" lvl="0" indent="0" algn="l" defTabSz="9144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Pts val="1400"/>
              <a:buNone/>
            </a:pPr>
            <a:r>
              <a:rPr sz="5000" u="none" cap="none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TTW</a:t>
            </a:r>
          </a:p>
        </p:txBody>
      </p:sp>
      <p:sp>
        <p:nvSpPr>
          <p:cNvPr id="16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D63831D1-6AB6-9FDC-DF3D-910C1C60EA7D}"/>
              </a:ext>
            </a:extLst>
          </p:cNvPr>
          <p:cNvSpPr>
            <a:spLocks xmlns:a="http://schemas.openxmlformats.org/drawingml/2006/main" noGrp="1"/>
          </p:cNvSpPr>
          <p:nvPr>
            <p:ph idx="4294967295"/>
          </p:nvPr>
        </p:nvSpPr>
        <p:spPr>
          <a:xfrm xmlns:a="http://schemas.openxmlformats.org/drawingml/2006/main">
            <a:off x="697670" y="4782848"/>
            <a:ext cx="2066698" cy="615950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400">
                <a:latin typeface="Helvetica Neue"/>
                <a:ea typeface="Helvetica Neue"/>
                <a:cs typeface="Helvetica Neue"/>
              </a:rPr>
              <a:t>não WTW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400">
                <a:latin typeface="Helvetica Neue"/>
                <a:ea typeface="Helvetica Neue"/>
                <a:cs typeface="Helvetica Neue"/>
              </a:rPr>
              <a:t>ou LCA</a:t>
            </a:r>
          </a:p>
        </p:txBody>
      </p:sp>
      <p:sp>
        <p:nvSpPr>
          <p:cNvPr id="34" name="Rounded Rectangle 33">
            <a:extLst xmlns:a="http://schemas.openxmlformats.org/drawingml/2006/main">
              <a:ext uri="{FF2B5EF4-FFF2-40B4-BE49-F238E27FC236}">
                <a16:creationId xmlns:a16="http://schemas.microsoft.com/office/drawing/2014/main" id="{D0C74EF0-61EA-0AD2-19B0-75CAAA4B8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5905" y="3074698"/>
            <a:ext cx="2581975" cy="2656541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9FCFF"/>
          </a:solidFill>
          <a:ln xmlns:a="http://schemas.openxmlformats.org/drawingml/2006/main">
            <a:solidFill>
              <a:srgbClr val="EFF1F5"/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5" name="Content Placeholder 9">
            <a:extLst xmlns:a="http://schemas.openxmlformats.org/drawingml/2006/main">
              <a:ext uri="{FF2B5EF4-FFF2-40B4-BE49-F238E27FC236}">
                <a16:creationId xmlns:a16="http://schemas.microsoft.com/office/drawing/2014/main" id="{6130B530-1157-40A3-0161-21ADDD16D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3257" y="3294588"/>
            <a:ext cx="2133315" cy="903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2540" marR="0" lvl="0" indent="0" algn="l" defTabSz="9144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Pts val="1400"/>
              <a:buNone/>
            </a:pPr>
            <a:r>
              <a:rPr sz="5000" u="none" cap="none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MÉDIA</a:t>
            </a:r>
          </a:p>
        </p:txBody>
      </p:sp>
      <p:sp>
        <p:nvSpPr>
          <p:cNvPr id="36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7DE51176-FC24-C3CB-45B8-8EA48AFAF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9875" y="4782848"/>
            <a:ext cx="2066698" cy="615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400">
                <a:latin typeface="Helvetica Neue"/>
                <a:ea typeface="Helvetica Neue"/>
                <a:cs typeface="Helvetica Neue"/>
              </a:rPr>
              <a:t>não uma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400">
                <a:latin typeface="Helvetica Neue"/>
                <a:ea typeface="Helvetica Neue"/>
                <a:cs typeface="Helvetica Neue"/>
              </a:rPr>
              <a:t>viagem exata</a:t>
            </a:r>
          </a:p>
        </p:txBody>
      </p:sp>
      <p:sp>
        <p:nvSpPr>
          <p:cNvPr id="37" name="Rounded Rectangle 36">
            <a:extLst xmlns:a="http://schemas.openxmlformats.org/drawingml/2006/main">
              <a:ext uri="{FF2B5EF4-FFF2-40B4-BE49-F238E27FC236}">
                <a16:creationId xmlns:a16="http://schemas.microsoft.com/office/drawing/2014/main" id="{B5992B1D-5E0E-664C-375F-216AFC12E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1986" y="3074698"/>
            <a:ext cx="2581975" cy="2656541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9FCFF"/>
          </a:solidFill>
          <a:ln xmlns:a="http://schemas.openxmlformats.org/drawingml/2006/main">
            <a:solidFill>
              <a:srgbClr val="EFF1F5"/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8" name="Content Placeholder 9">
            <a:extLst xmlns:a="http://schemas.openxmlformats.org/drawingml/2006/main">
              <a:ext uri="{FF2B5EF4-FFF2-40B4-BE49-F238E27FC236}">
                <a16:creationId xmlns:a16="http://schemas.microsoft.com/office/drawing/2014/main" id="{54A023A6-B45F-0FFE-0391-DBB435439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9338" y="3294588"/>
            <a:ext cx="2133315" cy="903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2540" marR="0" lvl="0" indent="0" algn="l" defTabSz="9144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Pts val="1400"/>
              <a:buNone/>
            </a:pPr>
            <a:r>
              <a:rPr sz="5000" u="none" cap="none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CUSTO</a:t>
            </a:r>
          </a:p>
        </p:txBody>
      </p:sp>
      <p:sp>
        <p:nvSpPr>
          <p:cNvPr id="39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5E890D67-9D53-7808-5E55-E05F92307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5956" y="4782848"/>
            <a:ext cx="2066698" cy="615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400">
                <a:latin typeface="Helvetica Neue"/>
                <a:ea typeface="Helvetica Neue"/>
                <a:cs typeface="Helvetica Neue"/>
              </a:rPr>
              <a:t>só combustível;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400">
                <a:latin typeface="Helvetica Neue"/>
                <a:ea typeface="Helvetica Neue"/>
                <a:cs typeface="Helvetica Neue"/>
              </a:rPr>
              <a:t>não frete ou tarifa</a:t>
            </a:r>
          </a:p>
        </p:txBody>
      </p:sp>
      <p:sp>
        <p:nvSpPr>
          <p:cNvPr id="40" name="Rounded Rectangle 39">
            <a:extLst xmlns:a="http://schemas.openxmlformats.org/drawingml/2006/main">
              <a:ext uri="{FF2B5EF4-FFF2-40B4-BE49-F238E27FC236}">
                <a16:creationId xmlns:a16="http://schemas.microsoft.com/office/drawing/2014/main" id="{DEE6595D-2709-1F7C-8B9A-47164A9A4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4191" y="3074698"/>
            <a:ext cx="2581975" cy="2656541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9FCFF"/>
          </a:solidFill>
          <a:ln xmlns:a="http://schemas.openxmlformats.org/drawingml/2006/main">
            <a:solidFill>
              <a:srgbClr val="EFF1F5"/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1" name="Content Placeholder 9">
            <a:extLst xmlns:a="http://schemas.openxmlformats.org/drawingml/2006/main">
              <a:ext uri="{FF2B5EF4-FFF2-40B4-BE49-F238E27FC236}">
                <a16:creationId xmlns:a16="http://schemas.microsoft.com/office/drawing/2014/main" id="{0DD8DA38-D646-1FA9-28D4-71AFE0F87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1543" y="3294588"/>
            <a:ext cx="2133315" cy="903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2540" marR="0" lvl="0" indent="0" algn="l" defTabSz="9144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Pts val="1400"/>
              <a:buNone/>
            </a:pPr>
            <a:r>
              <a:rPr sz="5000" u="none" cap="none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OFERTA</a:t>
            </a:r>
          </a:p>
        </p:txBody>
      </p:sp>
      <p:sp>
        <p:nvSpPr>
          <p:cNvPr id="42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5D7CE5C2-7A4C-5B39-AEB6-25510E71F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8161" y="4782848"/>
            <a:ext cx="2066698" cy="615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400">
                <a:latin typeface="Helvetica Neue"/>
                <a:ea typeface="Helvetica Neue"/>
                <a:cs typeface="Helvetica Neue"/>
              </a:rPr>
              <a:t>observada;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400">
                <a:latin typeface="Helvetica Neue"/>
                <a:ea typeface="Helvetica Neue"/>
                <a:cs typeface="Helvetica Neue"/>
              </a:rPr>
              <a:t>não garantia futura</a:t>
            </a:r>
          </a:p>
        </p:txBody>
      </p:sp>
      <p:sp>
        <p:nvSpPr>
          <p:cNvPr id="4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21B19CD8-2634-6048-888D-54374B2A6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8427" y="1938897"/>
            <a:ext cx="5539873" cy="990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600">
                <a:latin typeface="Helvetica Neue"/>
                <a:ea typeface="Helvetica Neue"/>
                <a:cs typeface="Helvetica Neue"/>
              </a:rPr>
              <a:t>Nenhum cenário demonstra superioridade universal da cabotagem.</a:t>
            </a:r>
          </a:p>
        </p:txBody>
      </p:sp>
      <p:sp>
        <p:nvSpPr>
          <p:cNvPr id="5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D5713544-9BEE-5C18-38B2-3D7DD243F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1027" y="1938897"/>
            <a:ext cx="5539873" cy="990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600">
                <a:latin typeface="Helvetica Neue"/>
                <a:ea typeface="Helvetica Neue"/>
                <a:cs typeface="Helvetica Neue"/>
              </a:rPr>
              <a:t>Os resultados são comparativos, médios e condicionados à rota, carga e premissas.</a:t>
            </a:r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BFBBC9C7-9694-DE21-B364-07358EFB8B15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CabotageLens | Trabalho de Formatura</a:t>
            </a:r>
          </a:p>
        </p:txBody>
      </p:sp>
      <p:sp>
        <p:nvSpPr>
          <p:cNvPr id="2" name="Slide Number Placeholder 1">
            <a:extLst xmlns:a="http://schemas.openxmlformats.org/drawingml/2006/main">
              <a:ext uri="{FF2B5EF4-FFF2-40B4-BE49-F238E27FC236}">
                <a16:creationId xmlns:a16="http://schemas.microsoft.com/office/drawing/2014/main" id="{D07332E9-E6BC-DD47-F254-482EEDAF5811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6C3428B-053E-6B4E-39FF-75B44F3F33F6}" type="slidenum">
              <a:t>32</a:t>
            </a:fld>
          </a:p>
        </p:txBody>
      </p:sp>
    </p:spTree>
    <p:extLst>
      <p:ext uri="{BB962C8B-B14F-4D97-AF65-F5344CB8AC3E}">
        <p14:creationId xmlns:p14="http://schemas.microsoft.com/office/powerpoint/2010/main" val="4134999073"/>
      </p:ext>
    </p:extLst>
  </p:cSld>
</p:sld>
</file>

<file path=ppt/slides/slide33.xml><?xml version="1.0" encoding="utf-8"?>
<p:sld xmlns:p="http://schemas.openxmlformats.org/presentationml/2006/main">
  <p:cSld>
    <p:bg>
      <p:bgPr>
        <a:gradFill xmlns:a="http://schemas.openxmlformats.org/drawingml/2006/main" rotWithShape="1">
          <a:gsLst>
            <a:gs pos="0">
              <a:srgbClr val="0C3666"/>
            </a:gs>
            <a:gs pos="100000">
              <a:srgbClr val="061C39"/>
            </a:gs>
          </a:gsLst>
          <a:lin ang="13500000" scaled="1"/>
          <a:tileRect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 3">
            <a:extLst xmlns:a="http://schemas.openxmlformats.org/drawingml/2006/main">
              <a:ext uri="{FF2B5EF4-FFF2-40B4-BE49-F238E27FC236}">
                <a16:creationId xmlns:a16="http://schemas.microsoft.com/office/drawing/2014/main" id="{516E6E18-DCB5-27BF-4701-D93C82ECBFD6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384537" y="1681498"/>
            <a:ext cx="9448800" cy="2491490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r>
              <a:rPr sz="6800">
                <a:solidFill>
                  <a:schemeClr val="accent3"/>
                </a:solidFill>
              </a:rPr>
              <a:t>Distância isolada</a:t>
            </a:r>
          </a:p>
          <a:p xmlns:a="http://schemas.openxmlformats.org/drawingml/2006/main">
            <a:r>
              <a:rPr sz="6800">
                <a:solidFill>
                  <a:schemeClr val="accent3"/>
                </a:solidFill>
              </a:rPr>
              <a:t>não decide o modal</a:t>
            </a:r>
          </a:p>
        </p:txBody>
      </p:sp>
      <p:sp>
        <p:nvSpPr>
          <p:cNvPr id="5" name="Subtitle 4">
            <a:extLst xmlns:a="http://schemas.openxmlformats.org/drawingml/2006/main">
              <a:ext uri="{FF2B5EF4-FFF2-40B4-BE49-F238E27FC236}">
                <a16:creationId xmlns:a16="http://schemas.microsoft.com/office/drawing/2014/main" id="{9DF85E7E-4696-758B-00CF-3C8AE6DE9331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393700" y="5346700"/>
            <a:ext cx="3568700" cy="706865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r>
              <a:rPr sz="1800">
                <a:solidFill>
                  <a:schemeClr val="accent3"/>
                </a:solidFill>
              </a:rPr>
              <a:t>Resultado do exemplo</a:t>
            </a:r>
          </a:p>
          <a:p xmlns:a="http://schemas.openxmlformats.org/drawingml/2006/main">
            <a:r>
              <a:rPr sz="1800">
                <a:solidFill>
                  <a:schemeClr val="accent3"/>
                </a:solidFill>
              </a:rPr>
              <a:t>−32,30% CO₂e</a:t>
            </a:r>
          </a:p>
          <a:p xmlns:a="http://schemas.openxmlformats.org/drawingml/2006/main">
            <a:r>
              <a:rPr sz="1800">
                <a:solidFill>
                  <a:schemeClr val="accent3"/>
                </a:solidFill>
              </a:rPr>
              <a:t>−46,69% no custo de combustível</a:t>
            </a:r>
          </a:p>
        </p:txBody>
      </p:sp>
      <p:sp>
        <p:nvSpPr>
          <p:cNvPr id="6" name="Subtitle 4">
            <a:extLst xmlns:a="http://schemas.openxmlformats.org/drawingml/2006/main">
              <a:ext uri="{FF2B5EF4-FFF2-40B4-BE49-F238E27FC236}">
                <a16:creationId xmlns:a16="http://schemas.microsoft.com/office/drawing/2014/main" id="{9C23E257-E836-DD5D-F7F1-70302542D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392241"/>
            <a:ext cx="5537200" cy="64915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0" indent="0" algn="l" defTabSz="914400">
              <a:lnSpc>
                <a:spcPct val="90000"/>
              </a:lnSpc>
              <a:spcBef>
                <a:spcPts val="1000"/>
              </a:spcBef>
              <a:buFont typeface="Arial"/>
              <a:buNone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marR="0" lvl="0" indent="0" algn="l" defTabSz="91440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None/>
            </a:pPr>
            <a:r>
              <a:rPr sz="1800" b="0" i="0" u="none" cap="none">
                <a:ln>
                  <a:noFill/>
                </a:ln>
                <a:solidFill>
                  <a:srgbClr val="EDF5FE">
                    <a:alpha val="50000"/>
                  </a:srgbClr>
                </a:solidFill>
                <a:latin typeface="Helvetica Neue"/>
                <a:ea typeface="Helvetica Neue"/>
                <a:cs typeface="Helvetica Neue"/>
              </a:rPr>
              <a:t>CabotageLens · dados observados · premissas explícitas</a:t>
            </a:r>
          </a:p>
        </p:txBody>
      </p:sp>
    </p:spTree>
    <p:extLst>
      <p:ext uri="{BB962C8B-B14F-4D97-AF65-F5344CB8AC3E}">
        <p14:creationId xmlns:p14="http://schemas.microsoft.com/office/powerpoint/2010/main" val="3206328494"/>
      </p:ext>
    </p:extLst>
  </p:cSld>
</p:sld>
</file>

<file path=ppt/theme/theme1.xml><?xml version="1.0" encoding="utf-8"?>
<a:theme xmlns:a="http://schemas.openxmlformats.org/drawingml/2006/main" name="Default Codex Theme">
  <a:themeElements>
    <a:clrScheme name="BOT Color Palette 2026">
      <a:dk1>
        <a:srgbClr val="000000"/>
      </a:dk1>
      <a:lt1>
        <a:srgbClr val="FFFFFF"/>
      </a:lt1>
      <a:dk2>
        <a:srgbClr val="08284F"/>
      </a:dk2>
      <a:lt2>
        <a:srgbClr val="F9FCFF"/>
      </a:lt2>
      <a:accent1>
        <a:srgbClr val="175CD4"/>
      </a:accent1>
      <a:accent2>
        <a:srgbClr val="0B3668"/>
      </a:accent2>
      <a:accent3>
        <a:srgbClr val="EDF5FE"/>
      </a:accent3>
      <a:accent4>
        <a:srgbClr val="7E91A8"/>
      </a:accent4>
      <a:accent5>
        <a:srgbClr val="004142"/>
      </a:accent5>
      <a:accent6>
        <a:srgbClr val="407879"/>
      </a:accent6>
      <a:hlink>
        <a:srgbClr val="00ABFF"/>
      </a:hlink>
      <a:folHlink>
        <a:srgbClr val="430942"/>
      </a:folHlink>
    </a:clrScheme>
    <a:fontScheme name="Helvetica Neue">
      <a:majorFont>
        <a:latin typeface="Helvetica Neue"/>
        <a:ea typeface=""/>
        <a:cs typeface=""/>
      </a:majorFont>
      <a:minorFont>
        <a:latin typeface="Helvetica Neue"/>
        <a:ea typeface=""/>
        <a:cs typeface=""/>
      </a:minorFont>
    </a:fontScheme>
    <a:fmtScheme name="BOT Color Palette 2026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2026-07-26T21:17:53.2840000Z</dcterms:created>
  <dcterms:modified xsi:type="dcterms:W3CDTF">2026-07-26T21:17:53.2840000Z</dcterms:modified>
</coreProperties>
</file>