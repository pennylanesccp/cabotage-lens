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9"/>
  </p:notesMasterIdLst>
  <p:sldIdLst>
    <p:sldId id="302" r:id="rId2"/>
    <p:sldId id="304" r:id="rId3"/>
    <p:sldId id="307" r:id="rId4"/>
    <p:sldId id="301" r:id="rId5"/>
    <p:sldId id="305" r:id="rId6"/>
    <p:sldId id="308" r:id="rId7"/>
    <p:sldId id="306" r:id="rId8"/>
    <p:sldId id="309" r:id="rId9"/>
    <p:sldId id="310" r:id="rId10"/>
    <p:sldId id="312" r:id="rId11"/>
    <p:sldId id="314" r:id="rId12"/>
    <p:sldId id="313" r:id="rId13"/>
    <p:sldId id="315" r:id="rId14"/>
    <p:sldId id="316" r:id="rId15"/>
    <p:sldId id="317" r:id="rId16"/>
    <p:sldId id="318" r:id="rId17"/>
    <p:sldId id="320" r:id="rId1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Nunito Light" pitchFamily="2" charset="0"/>
      <p:regular r:id="rId21"/>
      <p: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" id="{48453EF2-F7C7-4361-AFE0-2492FD36EF66}">
          <p14:sldIdLst>
            <p14:sldId id="302"/>
            <p14:sldId id="304"/>
          </p14:sldIdLst>
        </p14:section>
        <p14:section name="Comuns" id="{398B3A3D-7949-4792-8BDB-FDD734456351}">
          <p14:sldIdLst>
            <p14:sldId id="307"/>
            <p14:sldId id="301"/>
            <p14:sldId id="305"/>
          </p14:sldIdLst>
        </p14:section>
        <p14:section name="Rodoviário direto" id="{49D0594E-ADCD-4C38-BDBA-98EA8937263E}">
          <p14:sldIdLst>
            <p14:sldId id="308"/>
            <p14:sldId id="306"/>
            <p14:sldId id="309"/>
          </p14:sldIdLst>
        </p14:section>
        <p14:section name="Alternativa multimodal" id="{7889494C-5226-4D7C-B44C-E5D8D40188A9}">
          <p14:sldIdLst>
            <p14:sldId id="310"/>
            <p14:sldId id="312"/>
            <p14:sldId id="314"/>
            <p14:sldId id="313"/>
            <p14:sldId id="315"/>
            <p14:sldId id="316"/>
          </p14:sldIdLst>
        </p14:section>
        <p14:section name="Mapa de calor" id="{900D1BD5-5652-40FE-8B51-B7F9ADF5B6BF}">
          <p14:sldIdLst>
            <p14:sldId id="317"/>
            <p14:sldId id="318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E31DBF-9C51-4A74-9153-B9460B38124B}">
  <a:tblStyle styleId="{F3E31DBF-9C51-4A74-9153-B9460B3812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EDEAD7-B31A-4875-943C-D064B1FDED3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4C86DD40-6BA9-0217-8396-5322F188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>
            <a:extLst>
              <a:ext uri="{FF2B5EF4-FFF2-40B4-BE49-F238E27FC236}">
                <a16:creationId xmlns:a16="http://schemas.microsoft.com/office/drawing/2014/main" id="{8543BA19-509A-2E0D-2CEA-FB4F3A4DCD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327" name="Google Shape;327;g4dfce81f19_0_45:notes">
            <a:extLst>
              <a:ext uri="{FF2B5EF4-FFF2-40B4-BE49-F238E27FC236}">
                <a16:creationId xmlns:a16="http://schemas.microsoft.com/office/drawing/2014/main" id="{227AAC9B-1B6A-C4D3-48DF-806E39A48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3105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CF40EBD1-42C2-AE2B-2A58-B9D49044A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dda1946d_4_2720:notes">
            <a:extLst>
              <a:ext uri="{FF2B5EF4-FFF2-40B4-BE49-F238E27FC236}">
                <a16:creationId xmlns:a16="http://schemas.microsoft.com/office/drawing/2014/main" id="{F9BD8303-6E11-1F76-B7C8-CAB80D1E8D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13" name="Google Shape;513;g54dda1946d_4_2720:notes">
            <a:extLst>
              <a:ext uri="{FF2B5EF4-FFF2-40B4-BE49-F238E27FC236}">
                <a16:creationId xmlns:a16="http://schemas.microsoft.com/office/drawing/2014/main" id="{8E06122C-5CAC-A6AC-3FA1-0D1225B23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8047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FE669DD5-19A2-B56E-84FE-40205BD0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>
            <a:extLst>
              <a:ext uri="{FF2B5EF4-FFF2-40B4-BE49-F238E27FC236}">
                <a16:creationId xmlns:a16="http://schemas.microsoft.com/office/drawing/2014/main" id="{C878E81B-C30A-D93A-70ED-F3E268D99C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327" name="Google Shape;327;g4dfce81f19_0_45:notes">
            <a:extLst>
              <a:ext uri="{FF2B5EF4-FFF2-40B4-BE49-F238E27FC236}">
                <a16:creationId xmlns:a16="http://schemas.microsoft.com/office/drawing/2014/main" id="{B92C5A7F-0974-21AF-FF17-E9130F774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9931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>
          <a:extLst>
            <a:ext uri="{FF2B5EF4-FFF2-40B4-BE49-F238E27FC236}">
              <a16:creationId xmlns:a16="http://schemas.microsoft.com/office/drawing/2014/main" id="{219FE216-3267-04AE-731C-25893C076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54dda1946d_4_2758:notes">
            <a:extLst>
              <a:ext uri="{FF2B5EF4-FFF2-40B4-BE49-F238E27FC236}">
                <a16:creationId xmlns:a16="http://schemas.microsoft.com/office/drawing/2014/main" id="{C0D18D2B-5A55-6475-4E8E-6968AD2E19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02" name="Google Shape;502;g54dda1946d_4_2758:notes">
            <a:extLst>
              <a:ext uri="{FF2B5EF4-FFF2-40B4-BE49-F238E27FC236}">
                <a16:creationId xmlns:a16="http://schemas.microsoft.com/office/drawing/2014/main" id="{A0F0DE24-D992-E407-65B6-D35537539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630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2FF04AF3-A727-B1C8-2F67-2652E628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4d99d1a72_0_57:notes">
            <a:extLst>
              <a:ext uri="{FF2B5EF4-FFF2-40B4-BE49-F238E27FC236}">
                <a16:creationId xmlns:a16="http://schemas.microsoft.com/office/drawing/2014/main" id="{D0A5122E-13B6-B3B7-7F5E-5204D9610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41" name="Google Shape;441;g184d99d1a72_0_57:notes">
            <a:extLst>
              <a:ext uri="{FF2B5EF4-FFF2-40B4-BE49-F238E27FC236}">
                <a16:creationId xmlns:a16="http://schemas.microsoft.com/office/drawing/2014/main" id="{0B8B2B88-28C2-B92B-3304-F34988FE2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83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5FEAA1B9-36D3-4D64-90B2-AE415143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>
            <a:extLst>
              <a:ext uri="{FF2B5EF4-FFF2-40B4-BE49-F238E27FC236}">
                <a16:creationId xmlns:a16="http://schemas.microsoft.com/office/drawing/2014/main" id="{8DB3E281-6946-BC8B-79AB-7AF93A658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327" name="Google Shape;327;g4dfce81f19_0_45:notes">
            <a:extLst>
              <a:ext uri="{FF2B5EF4-FFF2-40B4-BE49-F238E27FC236}">
                <a16:creationId xmlns:a16="http://schemas.microsoft.com/office/drawing/2014/main" id="{72E86D8C-F88D-5632-FFA6-F7517D837D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7000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4FA52647-AFF7-A5A3-329E-AE2E980E8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6_322:notes">
            <a:extLst>
              <a:ext uri="{FF2B5EF4-FFF2-40B4-BE49-F238E27FC236}">
                <a16:creationId xmlns:a16="http://schemas.microsoft.com/office/drawing/2014/main" id="{0F1ECB69-2F91-0E5D-DD7F-CF3041AB9B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360" name="Google Shape;360;g54dda1946d_6_322:notes">
            <a:extLst>
              <a:ext uri="{FF2B5EF4-FFF2-40B4-BE49-F238E27FC236}">
                <a16:creationId xmlns:a16="http://schemas.microsoft.com/office/drawing/2014/main" id="{0E2185A7-1085-85DC-2530-FFA9469EE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5238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6FD0BA6F-C541-B42B-F7DB-152003B41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4_2726:notes">
            <a:extLst>
              <a:ext uri="{FF2B5EF4-FFF2-40B4-BE49-F238E27FC236}">
                <a16:creationId xmlns:a16="http://schemas.microsoft.com/office/drawing/2014/main" id="{33B3E9A7-C039-CBAC-1FF9-4032E072C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81" name="Google Shape;481;g54dda1946d_4_2726:notes">
            <a:extLst>
              <a:ext uri="{FF2B5EF4-FFF2-40B4-BE49-F238E27FC236}">
                <a16:creationId xmlns:a16="http://schemas.microsoft.com/office/drawing/2014/main" id="{0FD3A2F3-4C69-968F-3004-B62E24E349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8141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DF6B4B7D-C1E3-B7A0-E269-66371FE8C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>
            <a:extLst>
              <a:ext uri="{FF2B5EF4-FFF2-40B4-BE49-F238E27FC236}">
                <a16:creationId xmlns:a16="http://schemas.microsoft.com/office/drawing/2014/main" id="{1F8B8E3D-9B58-DC7B-26CE-62837E3F61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327" name="Google Shape;327;g4dfce81f19_0_45:notes">
            <a:extLst>
              <a:ext uri="{FF2B5EF4-FFF2-40B4-BE49-F238E27FC236}">
                <a16:creationId xmlns:a16="http://schemas.microsoft.com/office/drawing/2014/main" id="{79E00CDC-0070-FD7F-5332-C83A81CB1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990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F497BE5A-AA8B-BA40-BF33-A167B7B4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4d99d1a72_0_57:notes">
            <a:extLst>
              <a:ext uri="{FF2B5EF4-FFF2-40B4-BE49-F238E27FC236}">
                <a16:creationId xmlns:a16="http://schemas.microsoft.com/office/drawing/2014/main" id="{99E64330-E1A5-CC7B-9550-A35F91BCA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41" name="Google Shape;441;g184d99d1a72_0_57:notes">
            <a:extLst>
              <a:ext uri="{FF2B5EF4-FFF2-40B4-BE49-F238E27FC236}">
                <a16:creationId xmlns:a16="http://schemas.microsoft.com/office/drawing/2014/main" id="{842D8CE2-D305-09A9-9BE9-FBC4BAFB2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0538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FC02EA0E-64EE-1342-D56B-7B693D76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6_322:notes">
            <a:extLst>
              <a:ext uri="{FF2B5EF4-FFF2-40B4-BE49-F238E27FC236}">
                <a16:creationId xmlns:a16="http://schemas.microsoft.com/office/drawing/2014/main" id="{CBE6C801-B291-29F9-9F3A-A943B83C9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360" name="Google Shape;360;g54dda1946d_6_322:notes">
            <a:extLst>
              <a:ext uri="{FF2B5EF4-FFF2-40B4-BE49-F238E27FC236}">
                <a16:creationId xmlns:a16="http://schemas.microsoft.com/office/drawing/2014/main" id="{74311A18-AFF8-ED83-98BE-EF09BBDE8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420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1A226D8E-3AA7-792F-5961-E184A064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4d99d1a72_0_57:notes">
            <a:extLst>
              <a:ext uri="{FF2B5EF4-FFF2-40B4-BE49-F238E27FC236}">
                <a16:creationId xmlns:a16="http://schemas.microsoft.com/office/drawing/2014/main" id="{A809B422-4B24-54C6-7D68-77838AA47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41" name="Google Shape;441;g184d99d1a72_0_57:notes">
            <a:extLst>
              <a:ext uri="{FF2B5EF4-FFF2-40B4-BE49-F238E27FC236}">
                <a16:creationId xmlns:a16="http://schemas.microsoft.com/office/drawing/2014/main" id="{9D59788F-51E8-36BF-4E41-5462CF744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751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DA4AFE01-4567-73AB-A0FD-1D6E34B1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6_322:notes">
            <a:extLst>
              <a:ext uri="{FF2B5EF4-FFF2-40B4-BE49-F238E27FC236}">
                <a16:creationId xmlns:a16="http://schemas.microsoft.com/office/drawing/2014/main" id="{79742F08-B0E8-4397-5C63-60E346B2D5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360" name="Google Shape;360;g54dda1946d_6_322:notes">
            <a:extLst>
              <a:ext uri="{FF2B5EF4-FFF2-40B4-BE49-F238E27FC236}">
                <a16:creationId xmlns:a16="http://schemas.microsoft.com/office/drawing/2014/main" id="{8E987A17-C191-C4F9-6DBA-160C30FB1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325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064129A6-A683-36BE-CB6E-3A0B327B5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4_2726:notes">
            <a:extLst>
              <a:ext uri="{FF2B5EF4-FFF2-40B4-BE49-F238E27FC236}">
                <a16:creationId xmlns:a16="http://schemas.microsoft.com/office/drawing/2014/main" id="{0FB7E58D-9636-E294-5E40-8262AB071C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81" name="Google Shape;481;g54dda1946d_4_2726:notes">
            <a:extLst>
              <a:ext uri="{FF2B5EF4-FFF2-40B4-BE49-F238E27FC236}">
                <a16:creationId xmlns:a16="http://schemas.microsoft.com/office/drawing/2014/main" id="{6386AC39-575E-A14D-4619-061874A6E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3406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5A7BA5DF-0D77-EB00-A399-4F8469E6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>
            <a:extLst>
              <a:ext uri="{FF2B5EF4-FFF2-40B4-BE49-F238E27FC236}">
                <a16:creationId xmlns:a16="http://schemas.microsoft.com/office/drawing/2014/main" id="{DCC86B59-AD84-4B9E-DFB9-EF9CC3F399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327" name="Google Shape;327;g4dfce81f19_0_45:notes">
            <a:extLst>
              <a:ext uri="{FF2B5EF4-FFF2-40B4-BE49-F238E27FC236}">
                <a16:creationId xmlns:a16="http://schemas.microsoft.com/office/drawing/2014/main" id="{A3BFB901-77AD-5C61-E14D-21AC1D42D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3548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76C93364-EE29-D5DF-0E25-44C9B6F5E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>
            <a:extLst>
              <a:ext uri="{FF2B5EF4-FFF2-40B4-BE49-F238E27FC236}">
                <a16:creationId xmlns:a16="http://schemas.microsoft.com/office/drawing/2014/main" id="{4E11DCA6-3322-9027-5C61-85E44BFED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327" name="Google Shape;327;g4dfce81f19_0_45:notes">
            <a:extLst>
              <a:ext uri="{FF2B5EF4-FFF2-40B4-BE49-F238E27FC236}">
                <a16:creationId xmlns:a16="http://schemas.microsoft.com/office/drawing/2014/main" id="{290793F3-2E18-13D5-0238-065165D56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2293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30" b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7" name="Google Shape;137;p15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t="130" b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>
            <a:spLocks noGrp="1"/>
          </p:cNvSpPr>
          <p:nvPr>
            <p:ph type="subTitle" idx="3"/>
          </p:nvPr>
        </p:nvSpPr>
        <p:spPr>
          <a:xfrm>
            <a:off x="713225" y="2109675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4" name="Google Shape;194;p20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97" name="Google Shape;197;p20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5" name="Google Shape;255;p25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25"/>
          <p:cNvPicPr preferRelativeResize="0"/>
          <p:nvPr/>
        </p:nvPicPr>
        <p:blipFill rotWithShape="1">
          <a:blip r:embed="rId5">
            <a:alphaModFix/>
          </a:blip>
          <a:srcRect r="56111" b="41941"/>
          <a:stretch/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t="130" b="130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60" r:id="rId8"/>
    <p:sldLayoutId id="2147483661" r:id="rId9"/>
    <p:sldLayoutId id="2147483666" r:id="rId10"/>
    <p:sldLayoutId id="2147483671" r:id="rId11"/>
    <p:sldLayoutId id="2147483676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abotage-lens.streamlit.ap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A0BC6607-C61D-8B91-0320-B44ECF50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>
            <a:extLst>
              <a:ext uri="{FF2B5EF4-FFF2-40B4-BE49-F238E27FC236}">
                <a16:creationId xmlns:a16="http://schemas.microsoft.com/office/drawing/2014/main" id="{5A845DEA-FD9E-D7FE-EC4A-206EC3F499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CabotageLens</a:t>
            </a:r>
            <a:endParaRPr dirty="0"/>
          </a:p>
        </p:txBody>
      </p:sp>
      <p:sp>
        <p:nvSpPr>
          <p:cNvPr id="330" name="Google Shape;330;p35">
            <a:extLst>
              <a:ext uri="{FF2B5EF4-FFF2-40B4-BE49-F238E27FC236}">
                <a16:creationId xmlns:a16="http://schemas.microsoft.com/office/drawing/2014/main" id="{A3831C7E-C3BB-A08E-9357-B23405A850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82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1200" b="1" dirty="0"/>
              <a:t>Rastreabilidade dos cálculos de custo e emissões</a:t>
            </a:r>
            <a:br>
              <a:rPr lang="pt-BR" sz="1200" dirty="0"/>
            </a:br>
            <a:r>
              <a:rPr lang="pt-BR" sz="1200" i="1" dirty="0"/>
              <a:t>Exemplo: São Paulo, SP → Rio Branco, AC | Carga de 14 t</a:t>
            </a:r>
            <a:endParaRPr sz="1200" i="1" dirty="0"/>
          </a:p>
        </p:txBody>
      </p:sp>
    </p:spTree>
    <p:extLst>
      <p:ext uri="{BB962C8B-B14F-4D97-AF65-F5344CB8AC3E}">
        <p14:creationId xmlns:p14="http://schemas.microsoft.com/office/powerpoint/2010/main" val="296712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45B23727-CC23-1091-FADE-8C3E7550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">
            <a:extLst>
              <a:ext uri="{FF2B5EF4-FFF2-40B4-BE49-F238E27FC236}">
                <a16:creationId xmlns:a16="http://schemas.microsoft.com/office/drawing/2014/main" id="{66D091F1-8AD9-FA68-25D0-F7570F24F6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7200" y="440283"/>
            <a:ext cx="4294800" cy="647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Alternativas de rota</a:t>
            </a:r>
            <a:endParaRPr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06E01C4-6246-D147-7008-2AF924B38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7582"/>
            <a:ext cx="9060666" cy="405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56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0D66032A-BB95-CF3F-F1A5-064B3E6D8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>
            <a:extLst>
              <a:ext uri="{FF2B5EF4-FFF2-40B4-BE49-F238E27FC236}">
                <a16:creationId xmlns:a16="http://schemas.microsoft.com/office/drawing/2014/main" id="{B51EED71-0175-C9DB-E791-9815139F477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Input do usuário e </a:t>
            </a:r>
            <a:br>
              <a:rPr lang="en" dirty="0"/>
            </a:br>
            <a:r>
              <a:rPr lang="en" dirty="0"/>
              <a:t>parâmetros comuns</a:t>
            </a:r>
            <a:endParaRPr dirty="0"/>
          </a:p>
        </p:txBody>
      </p:sp>
      <p:sp>
        <p:nvSpPr>
          <p:cNvPr id="330" name="Google Shape;330;p35">
            <a:extLst>
              <a:ext uri="{FF2B5EF4-FFF2-40B4-BE49-F238E27FC236}">
                <a16:creationId xmlns:a16="http://schemas.microsoft.com/office/drawing/2014/main" id="{972B4B01-851F-E390-64C3-D48B9A7D21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pt-BR" dirty="0"/>
              <a:t>Dados de entrada e premissas utilizadas nas duas alternativas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9217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>
          <a:extLst>
            <a:ext uri="{FF2B5EF4-FFF2-40B4-BE49-F238E27FC236}">
              <a16:creationId xmlns:a16="http://schemas.microsoft.com/office/drawing/2014/main" id="{704C2CD5-49EF-FFCB-4733-81813C814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>
            <a:extLst>
              <a:ext uri="{FF2B5EF4-FFF2-40B4-BE49-F238E27FC236}">
                <a16:creationId xmlns:a16="http://schemas.microsoft.com/office/drawing/2014/main" id="{5E907FE9-9483-BB70-40AE-C0C91D932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Input de Carga Origem e Destino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9" name="Google Shape;509;p49">
            <a:extLst>
              <a:ext uri="{FF2B5EF4-FFF2-40B4-BE49-F238E27FC236}">
                <a16:creationId xmlns:a16="http://schemas.microsoft.com/office/drawing/2014/main" id="{8C749584-FE45-7747-6327-031808C8F3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O usuário informa apenas a origem, o destino e a massa total da carga.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Neste exemplo, considera-se o transporte de 14 toneladas entre São Paulo, SP, e Rio Branco, AC.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Não é necessário definir rotas, portos ou distâncias: esses elementos são determinados posteriormente pelo pipeline.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3" name="Google Shape;336;p36">
            <a:extLst>
              <a:ext uri="{FF2B5EF4-FFF2-40B4-BE49-F238E27FC236}">
                <a16:creationId xmlns:a16="http://schemas.microsoft.com/office/drawing/2014/main" id="{D09AD024-CEF1-A3E4-E46A-636C62C07D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5807021"/>
              </p:ext>
            </p:extLst>
          </p:nvPr>
        </p:nvGraphicFramePr>
        <p:xfrm>
          <a:off x="879763" y="1980318"/>
          <a:ext cx="2604655" cy="1446100"/>
        </p:xfrm>
        <a:graphic>
          <a:graphicData uri="http://schemas.openxmlformats.org/drawingml/2006/table">
            <a:tbl>
              <a:tblPr>
                <a:noFill/>
                <a:tableStyleId>{F3E31DBF-9C51-4A74-9153-B9460B38124B}</a:tableStyleId>
              </a:tblPr>
              <a:tblGrid>
                <a:gridCol w="858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solidFill>
                            <a:schemeClr val="accent6"/>
                          </a:solidFill>
                        </a:rPr>
                        <a:t>Campo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Valor do exemplo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accent6"/>
                          </a:solidFill>
                        </a:rPr>
                        <a:t>Origem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0" dirty="0"/>
                        <a:t>São Paulo, SP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88209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accent6"/>
                          </a:solidFill>
                        </a:rPr>
                        <a:t>Destino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0" dirty="0"/>
                        <a:t>Rio Branco, AC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accent6"/>
                          </a:solidFill>
                        </a:rPr>
                        <a:t>Carga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0" dirty="0"/>
                        <a:t>14 toneladas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52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>
          <a:extLst>
            <a:ext uri="{FF2B5EF4-FFF2-40B4-BE49-F238E27FC236}">
              <a16:creationId xmlns:a16="http://schemas.microsoft.com/office/drawing/2014/main" id="{0A253A41-3600-6F9D-99D6-FDDAB1099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>
            <a:extLst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sz="1600" dirty="0"/>
              <a:t>Fator de emissão do diesel</a:t>
            </a:r>
            <a:endParaRPr sz="1600" dirty="0"/>
          </a:p>
        </p:txBody>
      </p:sp>
      <p:sp>
        <p:nvSpPr>
          <p:cNvPr id="444" name="Google Shape;444;p43">
            <a:extLst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Parâmetros comuns</a:t>
            </a:r>
          </a:p>
        </p:txBody>
      </p:sp>
      <p:sp>
        <p:nvSpPr>
          <p:cNvPr id="445" name="Google Shape;445;p43">
            <a:extLst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/>
              <a:t>A partir do </a:t>
            </a:r>
            <a:r>
              <a:rPr lang="pt-BR" sz="1100" b="1" dirty="0"/>
              <a:t>OpenRouteService</a:t>
            </a:r>
            <a:r>
              <a:rPr lang="pt-BR" sz="1100" dirty="0"/>
              <a:t>, origem e destino são convertidos em coordenadas geográficas (latitude e longitude).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100" dirty="0"/>
              <a:t>São Paulo, SP: </a:t>
            </a:r>
            <a:r>
              <a:rPr lang="pt-BR" sz="1100" b="1" dirty="0"/>
              <a:t>[-23.558808; -46.730357]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100" dirty="0"/>
              <a:t>Rio Branco, AC: </a:t>
            </a:r>
            <a:r>
              <a:rPr lang="pt-BR" sz="1100" b="1" dirty="0"/>
              <a:t>[- 9.989637; - 67.822462]</a:t>
            </a:r>
          </a:p>
        </p:txBody>
      </p:sp>
      <p:sp>
        <p:nvSpPr>
          <p:cNvPr id="446" name="Google Shape;446;p43">
            <a:extLst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881166" y="1679349"/>
            <a:ext cx="3549600" cy="1355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/>
              <a:t>Com base nas configurações veiculares de referência da </a:t>
            </a:r>
            <a:r>
              <a:rPr lang="pt-BR" sz="1100" b="1" dirty="0"/>
              <a:t>ANTT</a:t>
            </a:r>
            <a:r>
              <a:rPr lang="pt-BR" sz="1100" dirty="0"/>
              <a:t>, o sistema seleciona automaticamente o caminhão compatível com a massa transportada.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100" dirty="0"/>
              <a:t>Carga transportada: </a:t>
            </a:r>
            <a:r>
              <a:rPr lang="pt-BR" sz="1100" b="1" dirty="0"/>
              <a:t>14 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100" dirty="0"/>
              <a:t>Veículo selecionado: </a:t>
            </a:r>
            <a:r>
              <a:rPr lang="pt-BR" sz="1100" b="1" dirty="0"/>
              <a:t>uma carreta de 5 eixos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dirty="0"/>
              <a:t>Rendimento (carreta de 5 eixos): </a:t>
            </a:r>
            <a:r>
              <a:rPr lang="pt-BR" sz="1100" b="1" dirty="0"/>
              <a:t>2,30 km/L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sz="1100" b="1" dirty="0"/>
          </a:p>
        </p:txBody>
      </p:sp>
      <p:sp>
        <p:nvSpPr>
          <p:cNvPr id="447" name="Google Shape;447;p43">
            <a:extLst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3411494"/>
            <a:ext cx="3549600" cy="1355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/>
              <a:t>Para converter o consumo de diesel em emissões, adota-se um fator de emissão derivado das diretrizes do </a:t>
            </a:r>
            <a:r>
              <a:rPr lang="en-US" sz="1100" b="1" dirty="0"/>
              <a:t>IPCC</a:t>
            </a:r>
            <a:r>
              <a:rPr lang="en-US" sz="1100" dirty="0"/>
              <a:t>, </a:t>
            </a:r>
            <a:r>
              <a:rPr lang="en-US" sz="1100" i="1" dirty="0"/>
              <a:t>Guidelines for National Greenhouse Gas Inventories</a:t>
            </a:r>
            <a:r>
              <a:rPr lang="pt-BR" sz="1100" dirty="0"/>
              <a:t>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100" dirty="0"/>
              <a:t>Fator de emissão: </a:t>
            </a:r>
            <a:r>
              <a:rPr lang="pt-BR" sz="1100" b="1" dirty="0"/>
              <a:t>2,68 kgCO₂/L</a:t>
            </a:r>
            <a:endParaRPr sz="1100" b="1" dirty="0"/>
          </a:p>
        </p:txBody>
      </p:sp>
      <p:sp>
        <p:nvSpPr>
          <p:cNvPr id="448" name="Google Shape;448;p43">
            <a:extLst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881166" y="3396199"/>
            <a:ext cx="3549600" cy="1355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1100" dirty="0"/>
              <a:t>O preço utilizado corresponde à </a:t>
            </a:r>
            <a:r>
              <a:rPr lang="pt-BR" sz="1100" b="1" dirty="0"/>
              <a:t>média</a:t>
            </a:r>
            <a:r>
              <a:rPr lang="pt-BR" sz="1100" dirty="0"/>
              <a:t> dos valores do </a:t>
            </a:r>
            <a:r>
              <a:rPr lang="pt-BR" sz="1100" b="1" dirty="0"/>
              <a:t>Diesel S10 </a:t>
            </a:r>
            <a:r>
              <a:rPr lang="pt-BR" sz="1100" dirty="0"/>
              <a:t>nas UFs de origem e destino encontrados no levantamento semanal de preços da </a:t>
            </a:r>
            <a:r>
              <a:rPr lang="pt-BR" sz="1100" b="1" dirty="0"/>
              <a:t>ANP</a:t>
            </a:r>
            <a:r>
              <a:rPr lang="pt-BR" sz="1100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100" dirty="0"/>
              <a:t>São Paulo: </a:t>
            </a:r>
            <a:r>
              <a:rPr lang="pt-BR" sz="1100" b="1" dirty="0"/>
              <a:t>R$ 6,12/L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100" dirty="0"/>
              <a:t>Acre: </a:t>
            </a:r>
            <a:r>
              <a:rPr lang="pt-BR" sz="1100" b="1" dirty="0"/>
              <a:t>R$ 7,61/L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100" b="1" dirty="0"/>
              <a:t>Preço médio utilizado: R$ 6,865/L</a:t>
            </a:r>
          </a:p>
        </p:txBody>
      </p:sp>
      <p:sp>
        <p:nvSpPr>
          <p:cNvPr id="449" name="Google Shape;449;p43">
            <a:extLst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sz="1600" dirty="0"/>
              <a:t>Geocodificação</a:t>
            </a:r>
            <a:endParaRPr sz="1600" dirty="0"/>
          </a:p>
        </p:txBody>
      </p:sp>
      <p:sp>
        <p:nvSpPr>
          <p:cNvPr id="450" name="Google Shape;450;p43">
            <a:extLst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sz="1600" dirty="0"/>
              <a:t>Dimensionamento rodoviário</a:t>
            </a:r>
            <a:endParaRPr sz="1600" dirty="0"/>
          </a:p>
        </p:txBody>
      </p:sp>
      <p:sp>
        <p:nvSpPr>
          <p:cNvPr id="451" name="Google Shape;451;p43">
            <a:extLst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sz="1600" dirty="0"/>
              <a:t>Preço do diesel</a:t>
            </a:r>
          </a:p>
        </p:txBody>
      </p:sp>
      <p:sp>
        <p:nvSpPr>
          <p:cNvPr id="2" name="Google Shape;330;p35">
            <a:extLst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 txBox="1">
            <a:spLocks/>
          </p:cNvSpPr>
          <p:nvPr/>
        </p:nvSpPr>
        <p:spPr>
          <a:xfrm>
            <a:off x="720000" y="982320"/>
            <a:ext cx="5657575" cy="3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pt-BR" sz="1000" dirty="0"/>
              <a:t>Parâmetros compartilhados pelos trechos rodoviários das duas alternativas</a:t>
            </a:r>
            <a:r>
              <a:rPr lang="pt-BR" sz="1000" i="1" dirty="0"/>
              <a:t>.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AE8F41B1-EE2B-E3F7-75C4-400C142F6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>
            <a:extLst>
              <a:ext uri="{FF2B5EF4-FFF2-40B4-BE49-F238E27FC236}">
                <a16:creationId xmlns:a16="http://schemas.microsoft.com/office/drawing/2014/main" id="{A0AA022E-E61F-AF0C-909A-7C41D2CFE0C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Alternativa A:</a:t>
            </a:r>
            <a:br>
              <a:rPr lang="en" dirty="0"/>
            </a:br>
            <a:r>
              <a:rPr lang="en" dirty="0"/>
              <a:t>Rodoviária Direta</a:t>
            </a:r>
            <a:endParaRPr dirty="0"/>
          </a:p>
        </p:txBody>
      </p:sp>
      <p:sp>
        <p:nvSpPr>
          <p:cNvPr id="330" name="Google Shape;330;p35">
            <a:extLst>
              <a:ext uri="{FF2B5EF4-FFF2-40B4-BE49-F238E27FC236}">
                <a16:creationId xmlns:a16="http://schemas.microsoft.com/office/drawing/2014/main" id="{5BBDCE7F-02B1-3F7E-BA63-D4D166AA9E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pt-BR" dirty="0"/>
              <a:t>Cálculo da distância, consumo, custo e emissões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4686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5559A1B1-1D25-AF2C-724E-55257E3D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>
            <a:extLst>
              <a:ext uri="{FF2B5EF4-FFF2-40B4-BE49-F238E27FC236}">
                <a16:creationId xmlns:a16="http://schemas.microsoft.com/office/drawing/2014/main" id="{AD50AEB2-15F5-7F85-77B7-E29F81FF58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Rota rodoviária direta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4" name="Google Shape;364;p38">
            <a:extLst>
              <a:ext uri="{FF2B5EF4-FFF2-40B4-BE49-F238E27FC236}">
                <a16:creationId xmlns:a16="http://schemas.microsoft.com/office/drawing/2014/main" id="{58BFCA63-880F-7B07-EE2B-FFA392FDAA7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13225" y="2109675"/>
            <a:ext cx="4294800" cy="8967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A partir das coordenadas geográficas da origem e do destino, o sistema consulta um serviço de roteamento para calcular a distância pela malha rodoviária. A partir da distância calculada, o consumo de diesel é estimado pelo rendimento do veículo. Em seguida, são aplicados o preço médio do combustível e o fator de emissão para obter o custo e as emissões da rota.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5" name="Google Shape;336;p36">
            <a:extLst>
              <a:ext uri="{FF2B5EF4-FFF2-40B4-BE49-F238E27FC236}">
                <a16:creationId xmlns:a16="http://schemas.microsoft.com/office/drawing/2014/main" id="{93607F4F-5D24-7A93-EAFA-6ABF26B4EC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3327924"/>
              </p:ext>
            </p:extLst>
          </p:nvPr>
        </p:nvGraphicFramePr>
        <p:xfrm>
          <a:off x="713225" y="4012718"/>
          <a:ext cx="2313709" cy="723050"/>
        </p:xfrm>
        <a:graphic>
          <a:graphicData uri="http://schemas.openxmlformats.org/drawingml/2006/table">
            <a:tbl>
              <a:tblPr>
                <a:noFill/>
                <a:tableStyleId>{F3E31DBF-9C51-4A74-9153-B9460B38124B}</a:tableStyleId>
              </a:tblPr>
              <a:tblGrid>
                <a:gridCol w="845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Origem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2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São Paulo, SP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Destino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Rio Branco, AC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Google Shape;5128;p69">
            <a:extLst>
              <a:ext uri="{FF2B5EF4-FFF2-40B4-BE49-F238E27FC236}">
                <a16:creationId xmlns:a16="http://schemas.microsoft.com/office/drawing/2014/main" id="{DEDE4942-B8CD-4495-6115-AD18B106D0B3}"/>
              </a:ext>
            </a:extLst>
          </p:cNvPr>
          <p:cNvGrpSpPr/>
          <p:nvPr/>
        </p:nvGrpSpPr>
        <p:grpSpPr>
          <a:xfrm>
            <a:off x="4451264" y="4000835"/>
            <a:ext cx="339253" cy="268649"/>
            <a:chOff x="2085525" y="3263750"/>
            <a:chExt cx="481825" cy="381550"/>
          </a:xfrm>
        </p:grpSpPr>
        <p:sp>
          <p:nvSpPr>
            <p:cNvPr id="7" name="Google Shape;5129;p69">
              <a:extLst>
                <a:ext uri="{FF2B5EF4-FFF2-40B4-BE49-F238E27FC236}">
                  <a16:creationId xmlns:a16="http://schemas.microsoft.com/office/drawing/2014/main" id="{2F0EDB96-4576-B6C0-F0A6-E8E0522AF9E8}"/>
                </a:ext>
              </a:extLst>
            </p:cNvPr>
            <p:cNvSpPr/>
            <p:nvPr/>
          </p:nvSpPr>
          <p:spPr>
            <a:xfrm>
              <a:off x="2320325" y="3263750"/>
              <a:ext cx="227825" cy="141025"/>
            </a:xfrm>
            <a:custGeom>
              <a:avLst/>
              <a:gdLst/>
              <a:ahLst/>
              <a:cxnLst/>
              <a:rect l="l" t="t" r="r" b="b"/>
              <a:pathLst>
                <a:path w="9113" h="5641" extrusionOk="0">
                  <a:moveTo>
                    <a:pt x="4066" y="0"/>
                  </a:moveTo>
                  <a:cubicBezTo>
                    <a:pt x="2283" y="3"/>
                    <a:pt x="675" y="1081"/>
                    <a:pt x="0" y="2731"/>
                  </a:cubicBezTo>
                  <a:cubicBezTo>
                    <a:pt x="1527" y="2939"/>
                    <a:pt x="2912" y="3734"/>
                    <a:pt x="3861" y="4948"/>
                  </a:cubicBezTo>
                  <a:cubicBezTo>
                    <a:pt x="4331" y="4823"/>
                    <a:pt x="4810" y="4761"/>
                    <a:pt x="5287" y="4761"/>
                  </a:cubicBezTo>
                  <a:cubicBezTo>
                    <a:pt x="6338" y="4761"/>
                    <a:pt x="7378" y="5060"/>
                    <a:pt x="8281" y="5640"/>
                  </a:cubicBezTo>
                  <a:cubicBezTo>
                    <a:pt x="9112" y="2825"/>
                    <a:pt x="7002" y="0"/>
                    <a:pt x="40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Google Shape;5130;p69">
              <a:extLst>
                <a:ext uri="{FF2B5EF4-FFF2-40B4-BE49-F238E27FC236}">
                  <a16:creationId xmlns:a16="http://schemas.microsoft.com/office/drawing/2014/main" id="{31E0EE52-FFE0-A870-A7F7-88A9269133E7}"/>
                </a:ext>
              </a:extLst>
            </p:cNvPr>
            <p:cNvSpPr/>
            <p:nvPr/>
          </p:nvSpPr>
          <p:spPr>
            <a:xfrm>
              <a:off x="2085525" y="3355200"/>
              <a:ext cx="481825" cy="290100"/>
            </a:xfrm>
            <a:custGeom>
              <a:avLst/>
              <a:gdLst/>
              <a:ahLst/>
              <a:cxnLst/>
              <a:rect l="l" t="t" r="r" b="b"/>
              <a:pathLst>
                <a:path w="19273" h="11604" extrusionOk="0">
                  <a:moveTo>
                    <a:pt x="8620" y="1"/>
                  </a:moveTo>
                  <a:cubicBezTo>
                    <a:pt x="8610" y="1"/>
                    <a:pt x="8599" y="1"/>
                    <a:pt x="8588" y="1"/>
                  </a:cubicBezTo>
                  <a:cubicBezTo>
                    <a:pt x="7468" y="4"/>
                    <a:pt x="6384" y="407"/>
                    <a:pt x="5535" y="1139"/>
                  </a:cubicBezTo>
                  <a:cubicBezTo>
                    <a:pt x="4818" y="1756"/>
                    <a:pt x="4288" y="2563"/>
                    <a:pt x="4005" y="3470"/>
                  </a:cubicBezTo>
                  <a:lnTo>
                    <a:pt x="3891" y="3470"/>
                  </a:lnTo>
                  <a:cubicBezTo>
                    <a:pt x="1747" y="3470"/>
                    <a:pt x="0" y="5295"/>
                    <a:pt x="0" y="7538"/>
                  </a:cubicBezTo>
                  <a:cubicBezTo>
                    <a:pt x="0" y="9781"/>
                    <a:pt x="1744" y="11603"/>
                    <a:pt x="3891" y="11603"/>
                  </a:cubicBezTo>
                  <a:lnTo>
                    <a:pt x="14798" y="11603"/>
                  </a:lnTo>
                  <a:cubicBezTo>
                    <a:pt x="17264" y="11603"/>
                    <a:pt x="19272" y="9504"/>
                    <a:pt x="19272" y="6924"/>
                  </a:cubicBezTo>
                  <a:cubicBezTo>
                    <a:pt x="19272" y="6044"/>
                    <a:pt x="19034" y="5180"/>
                    <a:pt x="18583" y="4427"/>
                  </a:cubicBezTo>
                  <a:cubicBezTo>
                    <a:pt x="18152" y="3705"/>
                    <a:pt x="17529" y="3118"/>
                    <a:pt x="16782" y="2726"/>
                  </a:cubicBezTo>
                  <a:cubicBezTo>
                    <a:pt x="16161" y="2403"/>
                    <a:pt x="15480" y="2241"/>
                    <a:pt x="14799" y="2241"/>
                  </a:cubicBezTo>
                  <a:cubicBezTo>
                    <a:pt x="14135" y="2241"/>
                    <a:pt x="13471" y="2394"/>
                    <a:pt x="12861" y="2702"/>
                  </a:cubicBezTo>
                  <a:cubicBezTo>
                    <a:pt x="12232" y="1443"/>
                    <a:pt x="11118" y="513"/>
                    <a:pt x="9784" y="157"/>
                  </a:cubicBezTo>
                  <a:cubicBezTo>
                    <a:pt x="9403" y="55"/>
                    <a:pt x="9013" y="1"/>
                    <a:pt x="8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4F8D157-EC14-EC99-F5D8-33836A3D6254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 flipV="1">
            <a:off x="3026934" y="4369790"/>
            <a:ext cx="788580" cy="4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64;p38">
            <a:extLst>
              <a:ext uri="{FF2B5EF4-FFF2-40B4-BE49-F238E27FC236}">
                <a16:creationId xmlns:a16="http://schemas.microsoft.com/office/drawing/2014/main" id="{966737F7-D1AA-C899-54FA-3C17FE9ADBB4}"/>
              </a:ext>
            </a:extLst>
          </p:cNvPr>
          <p:cNvSpPr txBox="1">
            <a:spLocks/>
          </p:cNvSpPr>
          <p:nvPr/>
        </p:nvSpPr>
        <p:spPr>
          <a:xfrm>
            <a:off x="3815514" y="4190997"/>
            <a:ext cx="1615898" cy="357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OpenRouteService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CDBF7265-4F3E-237A-0F01-917B7BC2BA3F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 flipV="1">
            <a:off x="5431412" y="4367827"/>
            <a:ext cx="766718" cy="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Google Shape;336;p36">
            <a:extLst>
              <a:ext uri="{FF2B5EF4-FFF2-40B4-BE49-F238E27FC236}">
                <a16:creationId xmlns:a16="http://schemas.microsoft.com/office/drawing/2014/main" id="{F3485249-0949-9A0C-6561-6C7AC9EB4C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5090029"/>
              </p:ext>
            </p:extLst>
          </p:nvPr>
        </p:nvGraphicFramePr>
        <p:xfrm>
          <a:off x="6198130" y="4011913"/>
          <a:ext cx="1288470" cy="711828"/>
        </p:xfrm>
        <a:graphic>
          <a:graphicData uri="http://schemas.openxmlformats.org/drawingml/2006/table">
            <a:tbl>
              <a:tblPr>
                <a:noFill/>
                <a:tableStyleId>{F3E31DBF-9C51-4A74-9153-B9460B38124B}</a:tableStyleId>
              </a:tblPr>
              <a:tblGrid>
                <a:gridCol w="128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Distância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74769"/>
                  </a:ext>
                </a:extLst>
              </a:tr>
              <a:tr h="3559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2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3.491,43 km</a:t>
                      </a:r>
                    </a:p>
                  </a:txBody>
                  <a:tcPr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" name="Imagem 22">
            <a:extLst>
              <a:ext uri="{FF2B5EF4-FFF2-40B4-BE49-F238E27FC236}">
                <a16:creationId xmlns:a16="http://schemas.microsoft.com/office/drawing/2014/main" id="{D8BEDF76-3C72-44F8-B309-0EF19D930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180" y="243173"/>
            <a:ext cx="3099058" cy="2157084"/>
          </a:xfrm>
          <a:prstGeom prst="rect">
            <a:avLst/>
          </a:prstGeom>
        </p:spPr>
      </p:pic>
      <p:sp>
        <p:nvSpPr>
          <p:cNvPr id="24" name="Google Shape;364;p38">
            <a:extLst>
              <a:ext uri="{FF2B5EF4-FFF2-40B4-BE49-F238E27FC236}">
                <a16:creationId xmlns:a16="http://schemas.microsoft.com/office/drawing/2014/main" id="{3130057A-CA14-ADB8-8A7D-AE816D661E16}"/>
              </a:ext>
            </a:extLst>
          </p:cNvPr>
          <p:cNvSpPr txBox="1">
            <a:spLocks/>
          </p:cNvSpPr>
          <p:nvPr/>
        </p:nvSpPr>
        <p:spPr>
          <a:xfrm>
            <a:off x="5888180" y="0"/>
            <a:ext cx="3099058" cy="23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pt-BR" sz="900" i="1" dirty="0">
                <a:latin typeface="Poppins" panose="00000500000000000000" pitchFamily="2" charset="0"/>
                <a:cs typeface="Poppins" panose="00000500000000000000" pitchFamily="2" charset="0"/>
              </a:rPr>
              <a:t>Fonte para comparação: Google Maps</a:t>
            </a:r>
          </a:p>
        </p:txBody>
      </p:sp>
    </p:spTree>
    <p:extLst>
      <p:ext uri="{BB962C8B-B14F-4D97-AF65-F5344CB8AC3E}">
        <p14:creationId xmlns:p14="http://schemas.microsoft.com/office/powerpoint/2010/main" val="3544645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>
          <a:extLst>
            <a:ext uri="{FF2B5EF4-FFF2-40B4-BE49-F238E27FC236}">
              <a16:creationId xmlns:a16="http://schemas.microsoft.com/office/drawing/2014/main" id="{CAFC0C1E-BB3F-668F-FC2A-1E28346E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>
            <a:extLst>
              <a:ext uri="{FF2B5EF4-FFF2-40B4-BE49-F238E27FC236}">
                <a16:creationId xmlns:a16="http://schemas.microsoft.com/office/drawing/2014/main" id="{5A53E0E0-F105-6832-637F-06FA86FED0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88777"/>
            <a:ext cx="91440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4.07t CO₂e</a:t>
            </a:r>
          </a:p>
        </p:txBody>
      </p:sp>
      <p:sp>
        <p:nvSpPr>
          <p:cNvPr id="484" name="Google Shape;484;p46">
            <a:extLst>
              <a:ext uri="{FF2B5EF4-FFF2-40B4-BE49-F238E27FC236}">
                <a16:creationId xmlns:a16="http://schemas.microsoft.com/office/drawing/2014/main" id="{10BD961C-884E-C2D8-AD80-F269D5B246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932477"/>
            <a:ext cx="9144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Emissão de carbono na alternativa rodoviária direta</a:t>
            </a:r>
          </a:p>
        </p:txBody>
      </p:sp>
      <p:sp>
        <p:nvSpPr>
          <p:cNvPr id="2" name="Google Shape;483;p46">
            <a:extLst>
              <a:ext uri="{FF2B5EF4-FFF2-40B4-BE49-F238E27FC236}">
                <a16:creationId xmlns:a16="http://schemas.microsoft.com/office/drawing/2014/main" id="{C8023766-BB7C-9245-8823-FF05C117F41C}"/>
              </a:ext>
            </a:extLst>
          </p:cNvPr>
          <p:cNvSpPr txBox="1">
            <a:spLocks/>
          </p:cNvSpPr>
          <p:nvPr/>
        </p:nvSpPr>
        <p:spPr>
          <a:xfrm>
            <a:off x="0" y="2779924"/>
            <a:ext cx="9144000" cy="10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pt-BR" dirty="0"/>
              <a:t>R$ 10.421</a:t>
            </a:r>
          </a:p>
        </p:txBody>
      </p:sp>
      <p:sp>
        <p:nvSpPr>
          <p:cNvPr id="3" name="Google Shape;484;p46">
            <a:extLst>
              <a:ext uri="{FF2B5EF4-FFF2-40B4-BE49-F238E27FC236}">
                <a16:creationId xmlns:a16="http://schemas.microsoft.com/office/drawing/2014/main" id="{979A3F84-A0F4-8630-684C-D8CACCBD6AAB}"/>
              </a:ext>
            </a:extLst>
          </p:cNvPr>
          <p:cNvSpPr txBox="1">
            <a:spLocks/>
          </p:cNvSpPr>
          <p:nvPr/>
        </p:nvSpPr>
        <p:spPr>
          <a:xfrm>
            <a:off x="0" y="3823624"/>
            <a:ext cx="914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" dirty="0"/>
              <a:t>Custo estimado do diesel na alternativa rodoviária direta</a:t>
            </a:r>
          </a:p>
        </p:txBody>
      </p:sp>
    </p:spTree>
    <p:extLst>
      <p:ext uri="{BB962C8B-B14F-4D97-AF65-F5344CB8AC3E}">
        <p14:creationId xmlns:p14="http://schemas.microsoft.com/office/powerpoint/2010/main" val="2858046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505F5346-EFD1-E363-B0E8-70B041F9D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>
            <a:extLst>
              <a:ext uri="{FF2B5EF4-FFF2-40B4-BE49-F238E27FC236}">
                <a16:creationId xmlns:a16="http://schemas.microsoft.com/office/drawing/2014/main" id="{EFE7F7D2-921F-FB5C-0BE3-0E92E4EBEA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Alternativa B: Multimodal</a:t>
            </a:r>
            <a:endParaRPr dirty="0"/>
          </a:p>
        </p:txBody>
      </p:sp>
      <p:sp>
        <p:nvSpPr>
          <p:cNvPr id="330" name="Google Shape;330;p35">
            <a:extLst>
              <a:ext uri="{FF2B5EF4-FFF2-40B4-BE49-F238E27FC236}">
                <a16:creationId xmlns:a16="http://schemas.microsoft.com/office/drawing/2014/main" id="{0570BF8F-EECA-65FE-7238-50380D3099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Integração entre trechos rodoviários e transporte por cabotagem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393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>
          <a:extLst>
            <a:ext uri="{FF2B5EF4-FFF2-40B4-BE49-F238E27FC236}">
              <a16:creationId xmlns:a16="http://schemas.microsoft.com/office/drawing/2014/main" id="{4A31CFD1-1975-1C12-6E35-58C6F803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3">
            <a:extLst>
              <a:ext uri="{FF2B5EF4-FFF2-40B4-BE49-F238E27FC236}">
                <a16:creationId xmlns:a16="http://schemas.microsoft.com/office/drawing/2014/main" id="{ABD2B0DD-BDB1-6975-ACAA-9BB9D1E499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Seleção de portos</a:t>
            </a:r>
          </a:p>
        </p:txBody>
      </p:sp>
      <p:sp>
        <p:nvSpPr>
          <p:cNvPr id="445" name="Google Shape;445;p43">
            <a:extLst>
              <a:ext uri="{FF2B5EF4-FFF2-40B4-BE49-F238E27FC236}">
                <a16:creationId xmlns:a16="http://schemas.microsoft.com/office/drawing/2014/main" id="{4902A740-86AA-99D6-F3C9-97CF36F313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207764" cy="27541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/>
              <a:t>A partir das coordenadas da origem e do destino, o sistema compara sua posição com a geolocalização dos portos brasileiros atendidos por rotas de cabotagem conteinerizada.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/>
          </a:p>
          <a:p>
            <a:r>
              <a:rPr lang="pt-BR" sz="1100" b="1" dirty="0"/>
              <a:t>Origem - São Paulo, SP:</a:t>
            </a:r>
            <a:endParaRPr lang="pt-BR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Porto selecionado: </a:t>
            </a:r>
            <a:r>
              <a:rPr lang="pt-BR" sz="1100" b="1" dirty="0"/>
              <a:t>Porto de Santos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Distância geográfica: </a:t>
            </a:r>
            <a:r>
              <a:rPr lang="pt-BR" sz="1100" b="1" dirty="0"/>
              <a:t>59,60 km</a:t>
            </a:r>
            <a:r>
              <a:rPr lang="pt-BR" sz="1100" dirty="0"/>
              <a:t> </a:t>
            </a:r>
          </a:p>
          <a:p>
            <a:endParaRPr lang="pt-BR" sz="1100" dirty="0"/>
          </a:p>
          <a:p>
            <a:r>
              <a:rPr lang="pt-BR" sz="1100" b="1" dirty="0"/>
              <a:t>Destino - Rio Branco, AC</a:t>
            </a:r>
            <a:endParaRPr lang="pt-BR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Porto selecionado: </a:t>
            </a:r>
            <a:r>
              <a:rPr lang="pt-BR" sz="1100" b="1" dirty="0"/>
              <a:t>Porto de Manaus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Distância geográfica: </a:t>
            </a:r>
            <a:r>
              <a:rPr lang="pt-BR" sz="1100" b="1" dirty="0"/>
              <a:t>1.149,57 km</a:t>
            </a:r>
            <a:r>
              <a:rPr lang="pt-BR" sz="1100" dirty="0"/>
              <a:t> </a:t>
            </a:r>
          </a:p>
        </p:txBody>
      </p:sp>
      <p:sp>
        <p:nvSpPr>
          <p:cNvPr id="2" name="Google Shape;330;p35">
            <a:extLst>
              <a:ext uri="{FF2B5EF4-FFF2-40B4-BE49-F238E27FC236}">
                <a16:creationId xmlns:a16="http://schemas.microsoft.com/office/drawing/2014/main" id="{F4C3094B-2E25-BA11-F159-05030D0E9883}"/>
              </a:ext>
            </a:extLst>
          </p:cNvPr>
          <p:cNvSpPr txBox="1">
            <a:spLocks/>
          </p:cNvSpPr>
          <p:nvPr/>
        </p:nvSpPr>
        <p:spPr>
          <a:xfrm>
            <a:off x="720000" y="982320"/>
            <a:ext cx="5657575" cy="3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pt-BR" sz="1000" i="1" dirty="0"/>
              <a:t>Escolha dos portos de embarque e desembarque da carga</a:t>
            </a:r>
            <a:endParaRPr lang="en-US" sz="1000" i="1" dirty="0"/>
          </a:p>
        </p:txBody>
      </p:sp>
      <p:sp>
        <p:nvSpPr>
          <p:cNvPr id="17" name="Chave Esquerda 16">
            <a:extLst>
              <a:ext uri="{FF2B5EF4-FFF2-40B4-BE49-F238E27FC236}">
                <a16:creationId xmlns:a16="http://schemas.microsoft.com/office/drawing/2014/main" id="{6CBBE765-9790-E86D-55C8-BB79A7775D09}"/>
              </a:ext>
            </a:extLst>
          </p:cNvPr>
          <p:cNvSpPr/>
          <p:nvPr/>
        </p:nvSpPr>
        <p:spPr>
          <a:xfrm>
            <a:off x="4312009" y="1555020"/>
            <a:ext cx="318654" cy="321094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Google Shape;445;p43">
            <a:extLst>
              <a:ext uri="{FF2B5EF4-FFF2-40B4-BE49-F238E27FC236}">
                <a16:creationId xmlns:a16="http://schemas.microsoft.com/office/drawing/2014/main" id="{E3FD0E88-6DCC-BB3A-57FB-EF8D119EC318}"/>
              </a:ext>
            </a:extLst>
          </p:cNvPr>
          <p:cNvSpPr txBox="1">
            <a:spLocks/>
          </p:cNvSpPr>
          <p:nvPr/>
        </p:nvSpPr>
        <p:spPr>
          <a:xfrm>
            <a:off x="4904072" y="1555020"/>
            <a:ext cx="3616473" cy="292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pt-BR" sz="1100" dirty="0"/>
              <a:t>Assim como na alternativa rodoviária direta, as coordenadas dos portos de origem e de destino são utilizadas para calcular as duas pernas rodoviárias da alternativa multimodal.</a:t>
            </a:r>
          </a:p>
          <a:p>
            <a:pPr marL="0" indent="0"/>
            <a:endParaRPr lang="pt-BR" sz="1100" dirty="0"/>
          </a:p>
          <a:p>
            <a:r>
              <a:rPr lang="pt-BR" sz="1100" b="1" dirty="0"/>
              <a:t>Origem até o porto de embarque</a:t>
            </a:r>
          </a:p>
          <a:p>
            <a:r>
              <a:rPr lang="pt-BR" sz="1100" b="1" dirty="0"/>
              <a:t>São Paulo → Porto de Santos</a:t>
            </a:r>
            <a:endParaRPr lang="pt-BR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Distância rodoviária (ORS): </a:t>
            </a:r>
            <a:r>
              <a:rPr lang="pt-BR" sz="1100" b="1" dirty="0"/>
              <a:t>86,17 km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Consumo de diesel: </a:t>
            </a:r>
            <a:r>
              <a:rPr lang="pt-BR" sz="1100" b="1" dirty="0"/>
              <a:t>37,47 L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Emissões: </a:t>
            </a:r>
            <a:r>
              <a:rPr lang="pt-BR" sz="1100" b="1" dirty="0"/>
              <a:t>100,41 kg </a:t>
            </a:r>
            <a:r>
              <a:rPr lang="pt-BR" sz="1100" b="1" dirty="0" err="1"/>
              <a:t>CO₂e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Custo estimado: </a:t>
            </a:r>
            <a:r>
              <a:rPr lang="pt-BR" sz="1100" b="1" dirty="0"/>
              <a:t>R$ 257,20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100" dirty="0"/>
          </a:p>
          <a:p>
            <a:r>
              <a:rPr lang="pt-BR" sz="1100" b="1" dirty="0"/>
              <a:t>Porto de desembarque até o destino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b="1" dirty="0"/>
              <a:t>Porto de Manaus → Rio Branco</a:t>
            </a:r>
            <a:endParaRPr lang="pt-BR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Distância rodoviária (ORS): </a:t>
            </a:r>
            <a:r>
              <a:rPr lang="pt-BR" sz="1100" b="1" dirty="0"/>
              <a:t>1.403,69 km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Consumo de diesel: </a:t>
            </a:r>
            <a:r>
              <a:rPr lang="pt-BR" sz="1100" b="1" dirty="0"/>
              <a:t>610,30 L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Emissões: </a:t>
            </a:r>
            <a:r>
              <a:rPr lang="pt-BR" sz="1100" b="1" dirty="0"/>
              <a:t>1.635,60 kg </a:t>
            </a:r>
            <a:r>
              <a:rPr lang="pt-BR" sz="1100" b="1" dirty="0" err="1"/>
              <a:t>CO₂e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Custo estimado: </a:t>
            </a:r>
            <a:r>
              <a:rPr lang="pt-BR" sz="1100" b="1" dirty="0"/>
              <a:t>R$ 4.189,71</a:t>
            </a:r>
            <a:endParaRPr lang="pt-BR" sz="1100" dirty="0"/>
          </a:p>
          <a:p>
            <a:pPr marL="0" indent="0"/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224189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1D46D1EA-4DAE-7336-DC14-F9E1FA3DA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Google Shape;364;p38">
                <a:extLst>
                  <a:ext uri="{FF2B5EF4-FFF2-40B4-BE49-F238E27FC236}">
                    <a16:creationId xmlns:a16="http://schemas.microsoft.com/office/drawing/2014/main" id="{C8A75B6E-2731-5702-4908-D2F72B3D85A7}"/>
                  </a:ext>
                </a:extLst>
              </p:cNvPr>
              <p:cNvSpPr txBox="1">
                <a:spLocks noGrp="1"/>
              </p:cNvSpPr>
              <p:nvPr>
                <p:ph type="subTitle" idx="3"/>
              </p:nvPr>
            </p:nvSpPr>
            <p:spPr>
              <a:xfrm>
                <a:off x="720000" y="1112200"/>
                <a:ext cx="6927710" cy="361108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>
                  <a:buSzPts val="1100"/>
                  <a:buNone/>
                </a:pPr>
                <a:r>
                  <a:rPr lang="pt-BR" dirty="0"/>
                  <a:t>Os dados de consumo marítimo são obtidos do </a:t>
                </a:r>
                <a:r>
                  <a:rPr lang="pt-BR" b="1" dirty="0"/>
                  <a:t>EU MRV</a:t>
                </a:r>
                <a:r>
                  <a:rPr lang="pt-BR" dirty="0"/>
                  <a:t> (</a:t>
                </a:r>
                <a:r>
                  <a:rPr lang="pt-BR" i="1" dirty="0"/>
                  <a:t>European Union </a:t>
                </a:r>
                <a:r>
                  <a:rPr lang="pt-BR" i="1" dirty="0" err="1"/>
                  <a:t>Monitoring</a:t>
                </a:r>
                <a:r>
                  <a:rPr lang="pt-BR" i="1" dirty="0"/>
                  <a:t>, </a:t>
                </a:r>
                <a:r>
                  <a:rPr lang="pt-BR" i="1" dirty="0" err="1"/>
                  <a:t>Reporting</a:t>
                </a:r>
                <a:r>
                  <a:rPr lang="pt-BR" i="1" dirty="0"/>
                  <a:t> </a:t>
                </a:r>
                <a:r>
                  <a:rPr lang="pt-BR" i="1" dirty="0" err="1"/>
                  <a:t>and</a:t>
                </a:r>
                <a:r>
                  <a:rPr lang="pt-BR" i="1" dirty="0"/>
                  <a:t> </a:t>
                </a:r>
                <a:r>
                  <a:rPr lang="pt-BR" i="1" dirty="0" err="1"/>
                  <a:t>Verification</a:t>
                </a:r>
                <a:r>
                  <a:rPr lang="pt-BR" dirty="0"/>
                  <a:t>), sistema oficial da União Europeia para monitoramento, reporte e verificação das emissões e do consumo de combustível de navios.</a:t>
                </a:r>
                <a:endParaRPr lang="pt-BR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0" lvl="0" indent="0">
                  <a:buSzPts val="1100"/>
                  <a:buNone/>
                </a:pPr>
                <a:endParaRPr lang="pt-BR" dirty="0"/>
              </a:p>
              <a:p>
                <a:pPr marL="0" lvl="0" indent="0">
                  <a:buSzPts val="1100"/>
                  <a:buNone/>
                </a:pPr>
                <a:r>
                  <a:rPr lang="pt-BR" dirty="0"/>
                  <a:t>Cada registro é identificado pelo número </a:t>
                </a:r>
                <a:r>
                  <a:rPr lang="pt-BR" b="1" dirty="0"/>
                  <a:t>IMO</a:t>
                </a:r>
                <a:r>
                  <a:rPr lang="pt-BR" dirty="0"/>
                  <a:t> e fornece a intensidade de consumo em </a:t>
                </a:r>
                <a:r>
                  <a:rPr lang="pt-BR" b="1" dirty="0"/>
                  <a:t>g/(</a:t>
                </a:r>
                <a:r>
                  <a:rPr lang="pt-BR" b="1" dirty="0" err="1"/>
                  <a:t>t·nm</a:t>
                </a:r>
                <a:r>
                  <a:rPr lang="pt-BR" b="1" dirty="0"/>
                  <a:t>)</a:t>
                </a:r>
                <a:r>
                  <a:rPr lang="pt-BR" dirty="0"/>
                  <a:t>:</a:t>
                </a:r>
              </a:p>
              <a:p>
                <a:pPr marL="0" lvl="0" indent="0">
                  <a:buSzPts val="1100"/>
                  <a:buNone/>
                </a:pPr>
                <a:endParaRPr lang="pt-BR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0" lvl="0" indent="0">
                  <a:buSzPts val="11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𝐶𝑜𝑚𝑏𝑢𝑠𝑡</m:t>
                      </m:r>
                      <m:r>
                        <a:rPr lang="pt-BR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í</m:t>
                      </m:r>
                      <m:r>
                        <a:rPr lang="pt-BR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𝑣𝑒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𝑙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𝑘𝑔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𝐼𝑛𝑡𝑒𝑛𝑠𝑖𝑑𝑎𝑑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𝑔</m:t>
                              </m:r>
                              <m:r>
                                <m:rPr>
                                  <m:lit/>
                                </m:rP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/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𝑡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⋅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𝑛𝑚</m:t>
                                  </m:r>
                                </m:e>
                              </m:d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𝐶𝑎𝑟𝑔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𝐷𝑖𝑠𝑡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â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𝑛𝑐𝑖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𝑛𝑚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0" lvl="0" indent="0">
                  <a:buSzPts val="1100"/>
                  <a:buNone/>
                </a:pPr>
                <a:endParaRPr lang="pt-BR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0" lvl="0" indent="0">
                  <a:buSzPts val="1100"/>
                  <a:buNone/>
                </a:pPr>
                <a:r>
                  <a:rPr lang="pt-BR" dirty="0"/>
                  <a:t>O combustível marítimo é representado como VLSFO. Para converter o consumo em emissões, adota-se o fator </a:t>
                </a:r>
                <a:r>
                  <a:rPr lang="pt-BR" b="1" dirty="0"/>
                  <a:t>TTW</a:t>
                </a:r>
                <a:r>
                  <a:rPr lang="pt-BR" dirty="0"/>
                  <a:t> de </a:t>
                </a:r>
                <a:r>
                  <a:rPr lang="pt-BR" b="1" dirty="0"/>
                  <a:t>3,114 kg </a:t>
                </a:r>
                <a:r>
                  <a:rPr lang="pt-BR" b="1" dirty="0" err="1"/>
                  <a:t>CO₂e</a:t>
                </a:r>
                <a:r>
                  <a:rPr lang="pt-BR" b="1" dirty="0"/>
                  <a:t>/kg de combustível</a:t>
                </a:r>
                <a:r>
                  <a:rPr lang="pt-BR" dirty="0"/>
                  <a:t>, conforme os parâmetros da IMO apresentados na </a:t>
                </a:r>
                <a:r>
                  <a:rPr lang="pt-BR" b="1" dirty="0"/>
                  <a:t>Resolução MEPC.391(81)</a:t>
                </a:r>
                <a:r>
                  <a:rPr lang="pt-BR" dirty="0"/>
                  <a:t>.</a:t>
                </a:r>
              </a:p>
              <a:p>
                <a:pPr marL="0" lvl="0" indent="0">
                  <a:buSzPts val="1100"/>
                  <a:buNone/>
                </a:pPr>
                <a:endParaRPr lang="pt-BR" dirty="0"/>
              </a:p>
              <a:p>
                <a:pPr marL="0" lvl="0" indent="0">
                  <a:buSzPts val="1100"/>
                  <a:buNone/>
                </a:pPr>
                <a:r>
                  <a:rPr lang="pt-BR" dirty="0"/>
                  <a:t>O preço do VLSFO é consultado online no </a:t>
                </a:r>
                <a:r>
                  <a:rPr lang="pt-BR" b="1" dirty="0" err="1"/>
                  <a:t>Ship</a:t>
                </a:r>
                <a:r>
                  <a:rPr lang="pt-BR" b="1" dirty="0"/>
                  <a:t> &amp; Bunker</a:t>
                </a:r>
                <a:r>
                  <a:rPr lang="pt-BR" dirty="0"/>
                  <a:t>, utilizando a cotação do Porto de Santos em USD por tonelada e convertendo-a para reais. No cenário apresentado, o valor armazenado e utilizado pelo modelo é de </a:t>
                </a:r>
                <a:r>
                  <a:rPr lang="pt-BR" b="1" dirty="0"/>
                  <a:t>R$ 2.572,34 por tonelada de VLSFO</a:t>
                </a:r>
                <a:r>
                  <a:rPr lang="pt-BR" dirty="0"/>
                  <a:t>.</a:t>
                </a:r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364" name="Google Shape;364;p38">
                <a:extLst>
                  <a:ext uri="{FF2B5EF4-FFF2-40B4-BE49-F238E27FC236}">
                    <a16:creationId xmlns:a16="http://schemas.microsoft.com/office/drawing/2014/main" id="{C8A75B6E-2731-5702-4908-D2F72B3D85A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3"/>
              </p:nvPr>
            </p:nvSpPr>
            <p:spPr>
              <a:xfrm>
                <a:off x="720000" y="1112200"/>
                <a:ext cx="6927710" cy="36110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444;p43">
            <a:extLst>
              <a:ext uri="{FF2B5EF4-FFF2-40B4-BE49-F238E27FC236}">
                <a16:creationId xmlns:a16="http://schemas.microsoft.com/office/drawing/2014/main" id="{481E430A-729C-2293-E527-2F6B516266C2}"/>
              </a:ext>
            </a:extLst>
          </p:cNvPr>
          <p:cNvSpPr txBox="1">
            <a:spLocks/>
          </p:cNvSpPr>
          <p:nvPr/>
        </p:nvSpPr>
        <p:spPr>
          <a:xfrm>
            <a:off x="720000" y="539500"/>
            <a:ext cx="746803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pt-BR" sz="2800" dirty="0"/>
              <a:t>Consumo, emissões e custo marítimo</a:t>
            </a:r>
          </a:p>
        </p:txBody>
      </p:sp>
    </p:spTree>
    <p:extLst>
      <p:ext uri="{BB962C8B-B14F-4D97-AF65-F5344CB8AC3E}">
        <p14:creationId xmlns:p14="http://schemas.microsoft.com/office/powerpoint/2010/main" val="3148937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>
          <a:extLst>
            <a:ext uri="{FF2B5EF4-FFF2-40B4-BE49-F238E27FC236}">
              <a16:creationId xmlns:a16="http://schemas.microsoft.com/office/drawing/2014/main" id="{3069FA52-8EB7-59EE-D5DA-693CFA214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3">
            <a:extLst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Emissões portuárias</a:t>
            </a:r>
          </a:p>
        </p:txBody>
      </p:sp>
      <p:sp>
        <p:nvSpPr>
          <p:cNvPr id="445" name="Google Shape;445;p43">
            <a:extLst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804886"/>
            <a:ext cx="3549600" cy="31766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1100" dirty="0"/>
              <a:t>As operações portuárias contabilizadas representam o consumo de diesel associado à </a:t>
            </a:r>
            <a:r>
              <a:rPr lang="pt-BR" sz="1100" b="1" dirty="0"/>
              <a:t>movimentação do contêiner nos terminais</a:t>
            </a:r>
            <a:r>
              <a:rPr lang="pt-BR" sz="1100" dirty="0"/>
              <a:t>. O cálculo considera os movimentos de </a:t>
            </a:r>
            <a:r>
              <a:rPr lang="pt-BR" sz="1100" b="1" dirty="0"/>
              <a:t>RTGs (</a:t>
            </a:r>
            <a:r>
              <a:rPr lang="pt-BR" sz="1100" b="1" i="1" dirty="0"/>
              <a:t>Rubber-</a:t>
            </a:r>
            <a:r>
              <a:rPr lang="pt-BR" sz="1100" b="1" i="1" dirty="0" err="1"/>
              <a:t>Tyred</a:t>
            </a:r>
            <a:r>
              <a:rPr lang="pt-BR" sz="1100" b="1" i="1" dirty="0"/>
              <a:t> </a:t>
            </a:r>
            <a:r>
              <a:rPr lang="pt-BR" sz="1100" b="1" i="1" dirty="0" err="1"/>
              <a:t>Gantry</a:t>
            </a:r>
            <a:r>
              <a:rPr lang="pt-BR" sz="1100" b="1" i="1" dirty="0"/>
              <a:t> </a:t>
            </a:r>
            <a:r>
              <a:rPr lang="pt-BR" sz="1100" b="1" i="1" dirty="0" err="1"/>
              <a:t>cranes</a:t>
            </a:r>
            <a:r>
              <a:rPr lang="pt-BR" sz="1100" b="1" dirty="0"/>
              <a:t>)</a:t>
            </a:r>
            <a:r>
              <a:rPr lang="pt-BR" sz="1100" dirty="0"/>
              <a:t>, pórticos sobre pneus utilizados no pátio, e de </a:t>
            </a:r>
            <a:r>
              <a:rPr lang="pt-BR" sz="1100" b="1" dirty="0"/>
              <a:t>caminhões internos</a:t>
            </a:r>
            <a:r>
              <a:rPr lang="pt-BR" sz="1100" dirty="0"/>
              <a:t>, multiplicados pelos respectivos fatores de consumo. Os parâmetros foram derivados da planilha-base associada ao estudo de </a:t>
            </a:r>
            <a:r>
              <a:rPr lang="pt-BR" sz="1100" b="1" dirty="0"/>
              <a:t>Costa et al.</a:t>
            </a:r>
            <a:r>
              <a:rPr lang="pt-BR" sz="1100" dirty="0"/>
              <a:t> e utilizados como proxies de terminal.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/>
          </a:p>
          <a:p>
            <a:r>
              <a:rPr lang="pt-BR" sz="1100" b="1" dirty="0"/>
              <a:t>Operações portuárias contabilizadas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Consumo de diesel: </a:t>
            </a:r>
            <a:r>
              <a:rPr lang="pt-BR" sz="1100" b="1" dirty="0"/>
              <a:t>4,82 L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Emissões: </a:t>
            </a:r>
            <a:r>
              <a:rPr lang="pt-BR" sz="1100" b="1" dirty="0"/>
              <a:t>12,91 kg </a:t>
            </a:r>
            <a:r>
              <a:rPr lang="pt-BR" sz="1100" b="1" dirty="0" err="1"/>
              <a:t>CO₂e</a:t>
            </a:r>
            <a:r>
              <a:rPr lang="pt-BR" sz="11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100" dirty="0"/>
              <a:t>Custo estimado: </a:t>
            </a:r>
            <a:r>
              <a:rPr lang="pt-BR" sz="1100" b="1" dirty="0"/>
              <a:t>R$ 33,09</a:t>
            </a:r>
            <a:endParaRPr lang="pt-BR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6" name="Google Shape;446;p43">
                <a:extLst>
                  <a:ext uri="{FF2B5EF4-FFF2-40B4-BE49-F238E27FC236}">
                    <a16:creationId xmlns:a16="http://schemas.microsoft.com/office/drawing/2014/main" id="{63E9C847-CF57-C7B6-4A07-3A200A05B6F9}"/>
                  </a:ext>
                </a:extLst>
              </p:cNvPr>
              <p:cNvSpPr txBox="1">
                <a:spLocks noGrp="1"/>
              </p:cNvSpPr>
              <p:nvPr>
                <p:ph type="subTitle" idx="2"/>
              </p:nvPr>
            </p:nvSpPr>
            <p:spPr>
              <a:xfrm>
                <a:off x="4881127" y="1804886"/>
                <a:ext cx="3604744" cy="317666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/>
                <a:r>
                  <a:rPr lang="pt-BR" sz="1100" dirty="0"/>
                  <a:t>O </a:t>
                </a:r>
                <a:r>
                  <a:rPr lang="pt-BR" sz="1100" i="1" dirty="0" err="1"/>
                  <a:t>hoteling</a:t>
                </a:r>
                <a:r>
                  <a:rPr lang="pt-BR" sz="1100" dirty="0"/>
                  <a:t> é o consumo do navio enquanto permanece atracado, mantendo motores auxiliares e sistemas de bordo em funcionamento. O conceito é baseado em estudos de emissões em berço; o tempo de permanência é obtido nos dados de atracação da </a:t>
                </a:r>
                <a:r>
                  <a:rPr lang="pt-BR" sz="1100" b="1" dirty="0"/>
                  <a:t>ANTAQ</a:t>
                </a:r>
                <a:r>
                  <a:rPr lang="pt-BR" sz="1100" dirty="0"/>
                  <a:t>, e o consumo é estimado pela multiplicação desse tempo pela taxa horária dos motores auxiliares.</a:t>
                </a:r>
              </a:p>
              <a:p>
                <a:pPr marL="0" lvl="0" indent="0"/>
                <a:endParaRPr lang="pt-BR" sz="1100" dirty="0"/>
              </a:p>
              <a:p>
                <a:pPr marL="0" lv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100" i="1" smtClean="0">
                          <a:latin typeface="Cambria Math" panose="02040503050406030204" pitchFamily="18" charset="0"/>
                        </a:rPr>
                        <m:t>𝐶𝑜𝑚𝑏𝑢𝑠𝑡</m:t>
                      </m:r>
                      <m:r>
                        <a:rPr lang="pt-BR" sz="110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pt-BR" sz="1100" i="1" smtClean="0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pt-B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h𝑜𝑡𝑒𝑙𝑖𝑛𝑔</m:t>
                          </m:r>
                        </m:sub>
                      </m:sSub>
                      <m:r>
                        <a:rPr lang="pt-BR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100" i="1">
                          <a:latin typeface="Cambria Math" panose="02040503050406030204" pitchFamily="18" charset="0"/>
                        </a:rPr>
                        <m:t>𝑇𝑒𝑚𝑝</m:t>
                      </m:r>
                      <m:sSub>
                        <m:sSubPr>
                          <m:ctrlPr>
                            <a:rPr lang="pt-B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𝑎𝑡𝑟𝑎𝑐𝑎𝑑𝑜</m:t>
                          </m:r>
                        </m:sub>
                      </m:sSub>
                      <m:r>
                        <a:rPr lang="pt-BR" sz="11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pt-BR" sz="1100" i="1">
                          <a:latin typeface="Cambria Math" panose="02040503050406030204" pitchFamily="18" charset="0"/>
                        </a:rPr>
                        <m:t>𝐶𝑜𝑛𝑠𝑢𝑚</m:t>
                      </m:r>
                      <m:sSub>
                        <m:sSubPr>
                          <m:ctrlPr>
                            <a:rPr lang="pt-B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h𝑜𝑟</m:t>
                          </m:r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𝑟𝑖𝑜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  <a:p>
                <a:pPr marL="0" lvl="0" indent="0"/>
                <a:endParaRPr lang="pt-BR" sz="1100" dirty="0"/>
              </a:p>
              <a:p>
                <a:pPr marL="0" indent="0"/>
                <a:r>
                  <a:rPr lang="pt-BR" sz="1100" dirty="0"/>
                  <a:t>Neste cenário, o </a:t>
                </a:r>
                <a:r>
                  <a:rPr lang="pt-BR" sz="1100" dirty="0" err="1"/>
                  <a:t>hoteling</a:t>
                </a:r>
                <a:r>
                  <a:rPr lang="pt-BR" sz="1100" dirty="0"/>
                  <a:t> </a:t>
                </a:r>
                <a:r>
                  <a:rPr lang="pt-BR" sz="1100" b="1" dirty="0"/>
                  <a:t>não é adicionado separadamente</a:t>
                </a:r>
                <a:r>
                  <a:rPr lang="pt-BR" sz="1100" dirty="0"/>
                  <a:t>, pois a intensidade operacional do </a:t>
                </a:r>
                <a:r>
                  <a:rPr lang="pt-BR" sz="1100" b="1" dirty="0"/>
                  <a:t>EU MRV</a:t>
                </a:r>
                <a:r>
                  <a:rPr lang="pt-BR" sz="1100" dirty="0"/>
                  <a:t> já é tratada pelo modelo como abrangente, evitando dupla contagem.</a:t>
                </a:r>
              </a:p>
            </p:txBody>
          </p:sp>
        </mc:Choice>
        <mc:Fallback xmlns="">
          <p:sp>
            <p:nvSpPr>
              <p:cNvPr id="446" name="Google Shape;446;p43">
                <a:extLst>
                  <a:ext uri="{FF2B5EF4-FFF2-40B4-BE49-F238E27FC236}">
                    <a16:creationId xmlns:a16="http://schemas.microsoft.com/office/drawing/2014/main" id="{63E9C847-CF57-C7B6-4A07-3A200A05B6F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4881127" y="1804886"/>
                <a:ext cx="3604744" cy="3176668"/>
              </a:xfrm>
              <a:prstGeom prst="rect">
                <a:avLst/>
              </a:prstGeom>
              <a:blipFill>
                <a:blip r:embed="rId3"/>
                <a:stretch>
                  <a:fillRect r="-3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9" name="Google Shape;449;p43">
            <a:extLst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sz="1600" dirty="0"/>
              <a:t>Operações portuárias</a:t>
            </a:r>
            <a:endParaRPr sz="1600" dirty="0"/>
          </a:p>
        </p:txBody>
      </p:sp>
      <p:sp>
        <p:nvSpPr>
          <p:cNvPr id="450" name="Google Shape;450;p43">
            <a:extLst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sz="1600" dirty="0"/>
              <a:t>Hoteling</a:t>
            </a:r>
            <a:endParaRPr sz="1600" dirty="0"/>
          </a:p>
        </p:txBody>
      </p:sp>
      <p:sp>
        <p:nvSpPr>
          <p:cNvPr id="2" name="Google Shape;330;p35">
            <a:extLst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 txBox="1">
            <a:spLocks/>
          </p:cNvSpPr>
          <p:nvPr/>
        </p:nvSpPr>
        <p:spPr>
          <a:xfrm>
            <a:off x="720000" y="982320"/>
            <a:ext cx="5657575" cy="3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pt-BR" sz="1000" i="1" dirty="0"/>
              <a:t>Consumo de combustível nos portos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56A17831-C965-385D-7EB4-A177E0A4C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Google Shape;364;p38">
                <a:extLst>
                  <a:ext uri="{FF2B5EF4-FFF2-40B4-BE49-F238E27FC236}">
                    <a16:creationId xmlns:a16="http://schemas.microsoft.com/office/drawing/2014/main" id="{0F2E0901-C393-FA1A-D83B-D96664EE1B2C}"/>
                  </a:ext>
                </a:extLst>
              </p:cNvPr>
              <p:cNvSpPr txBox="1">
                <a:spLocks noGrp="1"/>
              </p:cNvSpPr>
              <p:nvPr>
                <p:ph type="subTitle" idx="3"/>
              </p:nvPr>
            </p:nvSpPr>
            <p:spPr>
              <a:xfrm>
                <a:off x="719999" y="1112200"/>
                <a:ext cx="7052401" cy="361108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>
                  <a:buSzPts val="1100"/>
                  <a:buNone/>
                </a:pPr>
                <a:r>
                  <a:rPr lang="pt-BR" dirty="0"/>
                  <a:t>A base da </a:t>
                </a:r>
                <a:r>
                  <a:rPr lang="pt-BR" b="1" dirty="0"/>
                  <a:t>ANTAQ</a:t>
                </a:r>
                <a:r>
                  <a:rPr lang="pt-BR" dirty="0"/>
                  <a:t> permite reconstruir as viagens de cabotagem conteinerizada e estimar a carga transportada entre portos consecutivos. Cada viagem é cruzada com o </a:t>
                </a:r>
                <a:r>
                  <a:rPr lang="pt-BR" b="1" dirty="0"/>
                  <a:t>EU MRV</a:t>
                </a:r>
                <a:r>
                  <a:rPr lang="pt-BR" dirty="0"/>
                  <a:t>, que fornece sua intensidade de consumo em </a:t>
                </a:r>
                <a:r>
                  <a:rPr lang="pt-BR" b="1" dirty="0"/>
                  <a:t>g/(</a:t>
                </a:r>
                <a:r>
                  <a:rPr lang="pt-BR" b="1" dirty="0" err="1"/>
                  <a:t>t·nm</a:t>
                </a:r>
                <a:r>
                  <a:rPr lang="pt-BR" b="1" dirty="0"/>
                  <a:t>)</a:t>
                </a:r>
                <a:r>
                  <a:rPr lang="pt-BR" dirty="0"/>
                  <a:t>.</a:t>
                </a:r>
              </a:p>
              <a:p>
                <a:pPr marL="0" lvl="0" indent="0">
                  <a:buSzPts val="1100"/>
                  <a:buNone/>
                </a:pPr>
                <a:endParaRPr lang="pt-BR" dirty="0"/>
              </a:p>
              <a:p>
                <a:pPr marL="0" lvl="0" indent="0">
                  <a:buSzPts val="1100"/>
                  <a:buNone/>
                </a:pPr>
                <a:r>
                  <a:rPr lang="pt-BR" dirty="0"/>
                  <a:t>Para cada ligação portuária, calcula-se a intensidade média ponderada pelo trabalho de transporte observado — </a:t>
                </a:r>
                <a:r>
                  <a:rPr lang="pt-BR" b="1" dirty="0"/>
                  <a:t>carga × distância</a:t>
                </a:r>
                <a:r>
                  <a:rPr lang="pt-BR" dirty="0"/>
                  <a:t>.</a:t>
                </a:r>
              </a:p>
              <a:p>
                <a:pPr marL="0" lvl="0" indent="0">
                  <a:buSzPts val="1100"/>
                  <a:buNone/>
                </a:pPr>
                <a:endParaRPr lang="pt-BR" dirty="0"/>
              </a:p>
              <a:p>
                <a:pPr marL="0" lvl="0" indent="0">
                  <a:buSzPts val="11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dirty="0" smtClean="0"/>
                        <m:t>CO</m:t>
                      </m:r>
                      <m:r>
                        <m:rPr>
                          <m:nor/>
                        </m:rPr>
                        <a:rPr lang="pt-BR" dirty="0" smtClean="0"/>
                        <m:t>₂</m:t>
                      </m:r>
                      <m:r>
                        <m:rPr>
                          <m:nor/>
                        </m:rPr>
                        <a:rPr lang="pt-BR" dirty="0" smtClean="0"/>
                        <m:t>e</m:t>
                      </m:r>
                      <m:r>
                        <m:rPr>
                          <m:nor/>
                        </m:rPr>
                        <a:rPr lang="pt-BR" b="0" i="0" dirty="0" smtClean="0"/>
                        <m:t>[</m:t>
                      </m:r>
                      <m:r>
                        <m:rPr>
                          <m:nor/>
                        </m:rPr>
                        <a:rPr lang="pt-BR" b="0" i="0" dirty="0" smtClean="0"/>
                        <m:t>kg</m:t>
                      </m:r>
                      <m:r>
                        <m:rPr>
                          <m:nor/>
                        </m:rPr>
                        <a:rPr lang="pt-BR" b="0" i="0" dirty="0" smtClean="0"/>
                        <m:t>]</m:t>
                      </m:r>
                      <m:r>
                        <a:rPr lang="pt-BR" b="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3,114×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𝐶𝑎𝑟𝑔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𝑎𝑛𝑎𝑙𝑖𝑠𝑎𝑑𝑎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1000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×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𝑖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×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𝑖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×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pt-BR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0" lvl="0" indent="0">
                  <a:buSzPts val="1100"/>
                  <a:buNone/>
                </a:pPr>
                <a:endParaRPr lang="pt-BR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0" lvl="0" indent="0">
                  <a:buSzPts val="1100"/>
                  <a:buNone/>
                </a:pPr>
                <a:r>
                  <a:rPr lang="pt-BR" b="1" dirty="0"/>
                  <a:t>Exemplo prático: Santos → Suape:</a:t>
                </a:r>
              </a:p>
              <a:p>
                <a:pPr marL="171450" lvl="0" indent="-171450">
                  <a:buSzPts val="1100"/>
                  <a:buFont typeface="Arial" panose="020B0604020202020204" pitchFamily="34" charset="0"/>
                  <a:buChar char="•"/>
                </a:pPr>
                <a:r>
                  <a:rPr lang="pt-BR" b="1" dirty="0"/>
                  <a:t>44 </a:t>
                </a:r>
                <a:r>
                  <a:rPr lang="pt-BR" dirty="0"/>
                  <a:t>viagens observadas na ANTAQ; </a:t>
                </a:r>
              </a:p>
              <a:p>
                <a:pPr marL="171450" lvl="0" indent="-171450">
                  <a:buSzPts val="1100"/>
                  <a:buFont typeface="Arial" panose="020B0604020202020204" pitchFamily="34" charset="0"/>
                  <a:buChar char="•"/>
                </a:pPr>
                <a:r>
                  <a:rPr lang="pt-BR" dirty="0"/>
                  <a:t>carga média transportada no trecho: </a:t>
                </a:r>
                <a:r>
                  <a:rPr lang="pt-BR" b="1" dirty="0"/>
                  <a:t>6.064,37 t</a:t>
                </a:r>
                <a:r>
                  <a:rPr lang="pt-BR" dirty="0"/>
                  <a:t>; </a:t>
                </a:r>
              </a:p>
              <a:p>
                <a:pPr marL="171450" lvl="0" indent="-171450">
                  <a:buSzPts val="1100"/>
                  <a:buFont typeface="Arial" panose="020B0604020202020204" pitchFamily="34" charset="0"/>
                  <a:buChar char="•"/>
                </a:pPr>
                <a:r>
                  <a:rPr lang="pt-BR" dirty="0"/>
                  <a:t>intensidade média ponderada: </a:t>
                </a:r>
                <a:r>
                  <a:rPr lang="pt-BR" b="1" dirty="0"/>
                  <a:t>8,734 g/(</a:t>
                </a:r>
                <a:r>
                  <a:rPr lang="pt-BR" b="1" dirty="0" err="1"/>
                  <a:t>t·nm</a:t>
                </a:r>
                <a:r>
                  <a:rPr lang="pt-BR" b="1" dirty="0"/>
                  <a:t>)</a:t>
                </a:r>
                <a:r>
                  <a:rPr lang="pt-BR" dirty="0"/>
                  <a:t>; </a:t>
                </a:r>
              </a:p>
              <a:p>
                <a:pPr marL="171450" lvl="0" indent="-171450">
                  <a:buSzPts val="1100"/>
                  <a:buFont typeface="Arial" panose="020B0604020202020204" pitchFamily="34" charset="0"/>
                  <a:buChar char="•"/>
                </a:pPr>
                <a:r>
                  <a:rPr lang="pt-BR" dirty="0"/>
                  <a:t>consumo atribuído à carga de 14 t: </a:t>
                </a:r>
                <a:r>
                  <a:rPr lang="pt-BR" b="1" dirty="0"/>
                  <a:t>153,97 kg de VLSFO</a:t>
                </a:r>
                <a:r>
                  <a:rPr lang="pt-BR" dirty="0"/>
                  <a:t>; </a:t>
                </a:r>
              </a:p>
              <a:p>
                <a:pPr marL="171450" lvl="0" indent="-171450">
                  <a:buSzPts val="1100"/>
                  <a:buFont typeface="Arial" panose="020B0604020202020204" pitchFamily="34" charset="0"/>
                  <a:buChar char="•"/>
                </a:pPr>
                <a:r>
                  <a:rPr lang="pt-BR" dirty="0"/>
                  <a:t>emissões do trecho: </a:t>
                </a:r>
                <a:r>
                  <a:rPr lang="pt-BR" b="1" dirty="0"/>
                  <a:t>479,46 kg CO₂e</a:t>
                </a:r>
                <a:r>
                  <a:rPr lang="pt-BR" dirty="0"/>
                  <a:t>.</a:t>
                </a:r>
                <a:endParaRPr lang="pt-BR" b="1" dirty="0"/>
              </a:p>
              <a:p>
                <a:pPr marL="0" lvl="0" indent="0">
                  <a:buSzPts val="1100"/>
                  <a:buNone/>
                </a:pPr>
                <a:endParaRPr lang="pt-BR" dirty="0"/>
              </a:p>
              <a:p>
                <a:pPr marL="0" lvl="0" indent="0">
                  <a:buSzPts val="1100"/>
                  <a:buNone/>
                </a:pPr>
                <a:r>
                  <a:rPr lang="pt-BR" dirty="0"/>
                  <a:t>O procedimento é repetido para todos os trechos da rota, cuja soma fornece o resultado final da perna marítima.</a:t>
                </a:r>
                <a:endParaRPr lang="pt-BR" b="1" dirty="0"/>
              </a:p>
            </p:txBody>
          </p:sp>
        </mc:Choice>
        <mc:Fallback xmlns="">
          <p:sp>
            <p:nvSpPr>
              <p:cNvPr id="364" name="Google Shape;364;p38">
                <a:extLst>
                  <a:ext uri="{FF2B5EF4-FFF2-40B4-BE49-F238E27FC236}">
                    <a16:creationId xmlns:a16="http://schemas.microsoft.com/office/drawing/2014/main" id="{0F2E0901-C393-FA1A-D83B-D96664EE1B2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3"/>
              </p:nvPr>
            </p:nvSpPr>
            <p:spPr>
              <a:xfrm>
                <a:off x="719999" y="1112200"/>
                <a:ext cx="7052401" cy="3611088"/>
              </a:xfrm>
              <a:prstGeom prst="rect">
                <a:avLst/>
              </a:prstGeom>
              <a:blipFill>
                <a:blip r:embed="rId3"/>
                <a:stretch>
                  <a:fillRect b="-55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444;p43">
            <a:extLst>
              <a:ext uri="{FF2B5EF4-FFF2-40B4-BE49-F238E27FC236}">
                <a16:creationId xmlns:a16="http://schemas.microsoft.com/office/drawing/2014/main" id="{68207928-1D51-8633-A3D6-8A9A817435EA}"/>
              </a:ext>
            </a:extLst>
          </p:cNvPr>
          <p:cNvSpPr txBox="1">
            <a:spLocks/>
          </p:cNvSpPr>
          <p:nvPr/>
        </p:nvSpPr>
        <p:spPr>
          <a:xfrm>
            <a:off x="720000" y="539500"/>
            <a:ext cx="746803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pt-BR" sz="2800" dirty="0"/>
              <a:t>Consumo na perna marítima</a:t>
            </a:r>
          </a:p>
        </p:txBody>
      </p:sp>
    </p:spTree>
    <p:extLst>
      <p:ext uri="{BB962C8B-B14F-4D97-AF65-F5344CB8AC3E}">
        <p14:creationId xmlns:p14="http://schemas.microsoft.com/office/powerpoint/2010/main" val="4093641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>
          <a:extLst>
            <a:ext uri="{FF2B5EF4-FFF2-40B4-BE49-F238E27FC236}">
              <a16:creationId xmlns:a16="http://schemas.microsoft.com/office/drawing/2014/main" id="{20D29312-135E-3654-14DC-A5C1B419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>
            <a:extLst>
              <a:ext uri="{FF2B5EF4-FFF2-40B4-BE49-F238E27FC236}">
                <a16:creationId xmlns:a16="http://schemas.microsoft.com/office/drawing/2014/main" id="{379B0F17-9831-4B2F-E16C-8A5ABAD70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88777"/>
            <a:ext cx="91440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2,89 t CO₂e</a:t>
            </a:r>
          </a:p>
        </p:txBody>
      </p:sp>
      <p:sp>
        <p:nvSpPr>
          <p:cNvPr id="484" name="Google Shape;484;p46">
            <a:extLst>
              <a:ext uri="{FF2B5EF4-FFF2-40B4-BE49-F238E27FC236}">
                <a16:creationId xmlns:a16="http://schemas.microsoft.com/office/drawing/2014/main" id="{FF4D0C3B-A4AC-5ACB-4B8C-71369E87438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932477"/>
            <a:ext cx="9144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Emissão de carbono na alternativa multimodal</a:t>
            </a:r>
          </a:p>
        </p:txBody>
      </p:sp>
      <p:sp>
        <p:nvSpPr>
          <p:cNvPr id="2" name="Google Shape;483;p46">
            <a:extLst>
              <a:ext uri="{FF2B5EF4-FFF2-40B4-BE49-F238E27FC236}">
                <a16:creationId xmlns:a16="http://schemas.microsoft.com/office/drawing/2014/main" id="{4EA4ADB3-921D-581F-92B6-1DAF9ACCC6E6}"/>
              </a:ext>
            </a:extLst>
          </p:cNvPr>
          <p:cNvSpPr txBox="1">
            <a:spLocks/>
          </p:cNvSpPr>
          <p:nvPr/>
        </p:nvSpPr>
        <p:spPr>
          <a:xfrm>
            <a:off x="0" y="2779924"/>
            <a:ext cx="9144000" cy="10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pt-BR" dirty="0"/>
              <a:t>R$ 5.424</a:t>
            </a:r>
          </a:p>
        </p:txBody>
      </p:sp>
      <p:sp>
        <p:nvSpPr>
          <p:cNvPr id="3" name="Google Shape;484;p46">
            <a:extLst>
              <a:ext uri="{FF2B5EF4-FFF2-40B4-BE49-F238E27FC236}">
                <a16:creationId xmlns:a16="http://schemas.microsoft.com/office/drawing/2014/main" id="{AD30427D-E948-9EFE-F7BC-0603E3F7F65F}"/>
              </a:ext>
            </a:extLst>
          </p:cNvPr>
          <p:cNvSpPr txBox="1">
            <a:spLocks/>
          </p:cNvSpPr>
          <p:nvPr/>
        </p:nvSpPr>
        <p:spPr>
          <a:xfrm>
            <a:off x="0" y="3823624"/>
            <a:ext cx="914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" dirty="0"/>
              <a:t>Custo estimado do combustível na alternativa multimodal</a:t>
            </a:r>
          </a:p>
        </p:txBody>
      </p:sp>
    </p:spTree>
    <p:extLst>
      <p:ext uri="{BB962C8B-B14F-4D97-AF65-F5344CB8AC3E}">
        <p14:creationId xmlns:p14="http://schemas.microsoft.com/office/powerpoint/2010/main" val="1131876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3CD54685-F848-D567-0CE9-1FDF0030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>
            <a:extLst>
              <a:ext uri="{FF2B5EF4-FFF2-40B4-BE49-F238E27FC236}">
                <a16:creationId xmlns:a16="http://schemas.microsoft.com/office/drawing/2014/main" id="{5F2E6C02-7C86-1628-836A-012CAFCF214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Mapa de Calor</a:t>
            </a:r>
            <a:endParaRPr dirty="0"/>
          </a:p>
        </p:txBody>
      </p:sp>
      <p:sp>
        <p:nvSpPr>
          <p:cNvPr id="330" name="Google Shape;330;p35">
            <a:extLst>
              <a:ext uri="{FF2B5EF4-FFF2-40B4-BE49-F238E27FC236}">
                <a16:creationId xmlns:a16="http://schemas.microsoft.com/office/drawing/2014/main" id="{7A08F5BB-8873-0FF8-7D76-1932A2DB0E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Distribuição espacial do potencial de redução do consumo de combustível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3562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Vantagem da cabotagem por destino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2109663"/>
            <a:ext cx="4405352" cy="2503500"/>
          </a:xfrm>
        </p:spPr>
        <p:txBody>
          <a:bodyPr/>
          <a:lstStyle/>
          <a:p>
            <a:pPr marL="152400" indent="0">
              <a:buNone/>
            </a:pPr>
            <a:r>
              <a:rPr lang="pt-BR" dirty="0"/>
              <a:t>Para uma origem fixa — </a:t>
            </a:r>
            <a:r>
              <a:rPr lang="pt-BR" b="1" dirty="0"/>
              <a:t>Avenida Professor Luciano Gualberto, em São Paulo</a:t>
            </a:r>
            <a:r>
              <a:rPr lang="pt-BR" dirty="0"/>
              <a:t> — e uma carga de </a:t>
            </a:r>
            <a:r>
              <a:rPr lang="pt-BR" b="1" dirty="0"/>
              <a:t>14 toneladas</a:t>
            </a:r>
            <a:r>
              <a:rPr lang="pt-BR" dirty="0"/>
              <a:t>, o pipeline executa a comparação entre as alternativas </a:t>
            </a:r>
            <a:r>
              <a:rPr lang="pt-BR" b="1" dirty="0"/>
              <a:t>rodoviária direta</a:t>
            </a:r>
            <a:r>
              <a:rPr lang="pt-BR" dirty="0"/>
              <a:t> e </a:t>
            </a:r>
            <a:r>
              <a:rPr lang="pt-BR" b="1" dirty="0"/>
              <a:t>multimodal</a:t>
            </a:r>
            <a:r>
              <a:rPr lang="pt-BR" dirty="0"/>
              <a:t> para uma lista de cidades de destino</a:t>
            </a:r>
            <a:r>
              <a:rPr lang="pt-BR" b="1" dirty="0"/>
              <a:t>.</a:t>
            </a:r>
          </a:p>
          <a:p>
            <a:pPr marL="152400" indent="0">
              <a:buNone/>
            </a:pPr>
            <a:endParaRPr lang="pt-BR" b="1" dirty="0"/>
          </a:p>
          <a:p>
            <a:pPr marL="152400" indent="0">
              <a:buNone/>
            </a:pPr>
            <a:r>
              <a:rPr lang="pt-BR" dirty="0"/>
              <a:t>Os resultados são consolidados em um mapa de calor, permitindo visualizar os destinos em que a alternativa multimodal apresenta </a:t>
            </a:r>
            <a:r>
              <a:rPr lang="pt-BR" b="1" dirty="0"/>
              <a:t>menor consumo de combustível</a:t>
            </a:r>
            <a:r>
              <a:rPr lang="pt-BR" dirty="0"/>
              <a:t> e aqueles em que o transporte rodoviário direto permanece mais eficiente.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8358935-A1F6-31A9-DED6-3782B343B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608" y="987538"/>
            <a:ext cx="3980392" cy="381745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 txBox="1"/>
          <p:nvPr/>
        </p:nvSpPr>
        <p:spPr>
          <a:xfrm>
            <a:off x="5884774" y="525873"/>
            <a:ext cx="3259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800" b="1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Verde:</a:t>
            </a:r>
            <a:r>
              <a:rPr lang="pt-BR" sz="800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800" dirty="0">
                <a:latin typeface="Poppins" panose="00000500000000000000" pitchFamily="2" charset="0"/>
                <a:cs typeface="Poppins" panose="00000500000000000000" pitchFamily="2" charset="0"/>
              </a:rPr>
              <a:t>maior vantagem da alternativa multimodal </a:t>
            </a:r>
          </a:p>
          <a:p>
            <a:pPr algn="r"/>
            <a:r>
              <a:rPr lang="pt-BR" sz="8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Amarelo:</a:t>
            </a:r>
            <a:r>
              <a:rPr lang="pt-BR" sz="800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800" dirty="0">
                <a:latin typeface="Poppins" panose="00000500000000000000" pitchFamily="2" charset="0"/>
                <a:cs typeface="Poppins" panose="00000500000000000000" pitchFamily="2" charset="0"/>
              </a:rPr>
              <a:t>resultados semelhantes </a:t>
            </a:r>
          </a:p>
          <a:p>
            <a:pPr algn="r"/>
            <a:r>
              <a:rPr lang="pt-BR" sz="8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Vermelho:</a:t>
            </a:r>
            <a:r>
              <a:rPr lang="pt-BR" sz="8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800" dirty="0">
                <a:latin typeface="Poppins" panose="00000500000000000000" pitchFamily="2" charset="0"/>
                <a:cs typeface="Poppins" panose="00000500000000000000" pitchFamily="2" charset="0"/>
              </a:rPr>
              <a:t>maior vantagem da alternativa rodoviária direta</a:t>
            </a:r>
          </a:p>
        </p:txBody>
      </p:sp>
    </p:spTree>
    <p:extLst>
      <p:ext uri="{BB962C8B-B14F-4D97-AF65-F5344CB8AC3E}">
        <p14:creationId xmlns:p14="http://schemas.microsoft.com/office/powerpoint/2010/main" val="1947678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2854B346-BC62-C75E-22FB-994ADF4E8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>
            <a:extLst>
              <a:ext uri="{FF2B5EF4-FFF2-40B4-BE49-F238E27FC236}">
                <a16:creationId xmlns:a16="http://schemas.microsoft.com/office/drawing/2014/main" id="{2CCD90A2-46E8-74C1-ED26-41A2D20EC4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Obrigado!</a:t>
            </a:r>
          </a:p>
        </p:txBody>
      </p:sp>
      <p:sp>
        <p:nvSpPr>
          <p:cNvPr id="336" name="Subtitle 2">
            <a:extLst>
              <a:ext uri="{FF2B5EF4-FFF2-40B4-BE49-F238E27FC236}">
                <a16:creationId xmlns:a16="http://schemas.microsoft.com/office/drawing/2014/main" id="{95E2530D-0A5D-8C7C-FF84-CA82828DE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</p:spPr>
        <p:txBody>
          <a:bodyPr/>
          <a:lstStyle/>
          <a:p>
            <a:r>
              <a:rPr lang="en-US" dirty="0" err="1"/>
              <a:t>CabotageLens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disponível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:</a:t>
            </a:r>
          </a:p>
          <a:p>
            <a:r>
              <a:rPr lang="en-US" dirty="0">
                <a:hlinkClick r:id="rId3"/>
              </a:rPr>
              <a:t>https://cabotage-lens.streamlit.app/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461991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1303</Words>
  <Application>Microsoft Office PowerPoint</Application>
  <PresentationFormat>Apresentação na tela (16:9)</PresentationFormat>
  <Paragraphs>136</Paragraphs>
  <Slides>17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Poppins</vt:lpstr>
      <vt:lpstr>Cambria Math</vt:lpstr>
      <vt:lpstr>Arial</vt:lpstr>
      <vt:lpstr>Nunito Light</vt:lpstr>
      <vt:lpstr>Industrial Preliminary Project by Slidesgo</vt:lpstr>
      <vt:lpstr>CabotageLens</vt:lpstr>
      <vt:lpstr>Alternativas de rota</vt:lpstr>
      <vt:lpstr>Input do usuário e  parâmetros comuns</vt:lpstr>
      <vt:lpstr>Input de Carga Origem e Destino</vt:lpstr>
      <vt:lpstr>Parâmetros comuns</vt:lpstr>
      <vt:lpstr>Alternativa A: Rodoviária Direta</vt:lpstr>
      <vt:lpstr>Rota rodoviária direta</vt:lpstr>
      <vt:lpstr>4.07t CO₂e</vt:lpstr>
      <vt:lpstr>Alternativa B: Multimodal</vt:lpstr>
      <vt:lpstr>Seleção de portos</vt:lpstr>
      <vt:lpstr>Apresentação do PowerPoint</vt:lpstr>
      <vt:lpstr>Emissões portuárias</vt:lpstr>
      <vt:lpstr>Apresentação do PowerPoint</vt:lpstr>
      <vt:lpstr>2,89 t CO₂e</vt:lpstr>
      <vt:lpstr>Mapa de Calor</vt:lpstr>
      <vt:lpstr>Vantagem da cabotagem por destino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Proença</cp:lastModifiedBy>
  <cp:revision>16</cp:revision>
  <dcterms:modified xsi:type="dcterms:W3CDTF">2026-07-15T23:16:57Z</dcterms:modified>
</cp:coreProperties>
</file>