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24"/>
  </p:notesMasterIdLst>
  <p:sldIdLst>
    <p:sldId id="302" r:id="rId2"/>
    <p:sldId id="304" r:id="rId3"/>
    <p:sldId id="307" r:id="rId4"/>
    <p:sldId id="301" r:id="rId5"/>
    <p:sldId id="305" r:id="rId6"/>
    <p:sldId id="308" r:id="rId7"/>
    <p:sldId id="306" r:id="rId8"/>
    <p:sldId id="309" r:id="rId9"/>
    <p:sldId id="324" r:id="rId10"/>
    <p:sldId id="310" r:id="rId11"/>
    <p:sldId id="312" r:id="rId12"/>
    <p:sldId id="314" r:id="rId13"/>
    <p:sldId id="313" r:id="rId14"/>
    <p:sldId id="258" r:id="rId15"/>
    <p:sldId id="323" r:id="rId16"/>
    <p:sldId id="315" r:id="rId17"/>
    <p:sldId id="322" r:id="rId18"/>
    <p:sldId id="321" r:id="rId19"/>
    <p:sldId id="316" r:id="rId20"/>
    <p:sldId id="317" r:id="rId21"/>
    <p:sldId id="318" r:id="rId22"/>
    <p:sldId id="320" r:id="rId23"/>
  </p:sldIdLst>
  <p:sldSz cx="9144000" cy="5143500" type="screen16x9"/>
  <p:notesSz cx="6858000" cy="9144000"/>
  <p:embeddedFontLst>
    <p:embeddedFont>
      <p:font typeface="Anaheim" panose="020B0604020202020204" charset="0"/>
      <p:regular r:id="rId25"/>
      <p:bold r:id="rId26"/>
    </p:embeddedFont>
    <p:embeddedFont>
      <p:font typeface="Cambria Math" panose="02040503050406030204" pitchFamily="18" charset="0"/>
      <p:regular r:id="rId27"/>
    </p:embeddedFont>
    <p:embeddedFont>
      <p:font typeface="Nunito Light" pitchFamily="2" charset="0"/>
      <p:regular r:id="rId28"/>
      <p:italic r:id="rId29"/>
    </p:embeddedFont>
    <p:embeddedFont>
      <p:font typeface="Poppins" panose="00000500000000000000" pitchFamily="2" charset="0"/>
      <p:regular r:id="rId30"/>
      <p:bold r:id="rId31"/>
      <p:italic r:id="rId32"/>
      <p:bold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Intro" id="{48453EF2-F7C7-4361-AFE0-2492FD36EF66}">
          <p14:sldIdLst>
            <p14:sldId id="302"/>
            <p14:sldId id="304"/>
          </p14:sldIdLst>
        </p14:section>
        <p14:section name="Comuns" id="{398B3A3D-7949-4792-8BDB-FDD734456351}">
          <p14:sldIdLst>
            <p14:sldId id="307"/>
            <p14:sldId id="301"/>
            <p14:sldId id="305"/>
          </p14:sldIdLst>
        </p14:section>
        <p14:section name="Rodoviário direto" id="{49D0594E-ADCD-4C38-BDBA-98EA8937263E}">
          <p14:sldIdLst>
            <p14:sldId id="308"/>
            <p14:sldId id="306"/>
            <p14:sldId id="309"/>
          </p14:sldIdLst>
        </p14:section>
        <p14:section name="Alternativa multimodal" id="{7889494C-5226-4D7C-B44C-E5D8D40188A9}">
          <p14:sldIdLst>
            <p14:sldId id="324"/>
            <p14:sldId id="310"/>
            <p14:sldId id="312"/>
            <p14:sldId id="314"/>
            <p14:sldId id="313"/>
            <p14:sldId id="258"/>
            <p14:sldId id="323"/>
            <p14:sldId id="315"/>
            <p14:sldId id="322"/>
            <p14:sldId id="321"/>
            <p14:sldId id="316"/>
          </p14:sldIdLst>
        </p14:section>
        <p14:section name="Mapa de calor" id="{900D1BD5-5652-40FE-8B51-B7F9ADF5B6BF}">
          <p14:sldIdLst>
            <p14:sldId id="317"/>
            <p14:sldId id="318"/>
            <p14:sldId id="32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3E31DBF-9C51-4A74-9153-B9460B38124B}">
  <a:tblStyle styleId="{F3E31DBF-9C51-4A74-9153-B9460B38124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EDEAD7-B31A-4875-943C-D064B1FDED33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4C86DD40-6BA9-0217-8396-5322F188B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4dfce81f19_0_45:notes">
            <a:extLst>
              <a:ext uri="{FF2B5EF4-FFF2-40B4-BE49-F238E27FC236}">
                <a16:creationId xmlns:a16="http://schemas.microsoft.com/office/drawing/2014/main" id="{8543BA19-509A-2E0D-2CEA-FB4F3A4DCD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27" name="Google Shape;327;g4dfce81f19_0_45:notes">
            <a:extLst>
              <a:ext uri="{FF2B5EF4-FFF2-40B4-BE49-F238E27FC236}">
                <a16:creationId xmlns:a16="http://schemas.microsoft.com/office/drawing/2014/main" id="{227AAC9B-1B6A-C4D3-48DF-806E39A484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731058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>
          <a:extLst>
            <a:ext uri="{FF2B5EF4-FFF2-40B4-BE49-F238E27FC236}">
              <a16:creationId xmlns:a16="http://schemas.microsoft.com/office/drawing/2014/main" id="{CF40EBD1-42C2-AE2B-2A58-B9D49044A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54dda1946d_4_2720:notes">
            <a:extLst>
              <a:ext uri="{FF2B5EF4-FFF2-40B4-BE49-F238E27FC236}">
                <a16:creationId xmlns:a16="http://schemas.microsoft.com/office/drawing/2014/main" id="{F9BD8303-6E11-1F76-B7C8-CAB80D1E8D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513" name="Google Shape;513;g54dda1946d_4_2720:notes">
            <a:extLst>
              <a:ext uri="{FF2B5EF4-FFF2-40B4-BE49-F238E27FC236}">
                <a16:creationId xmlns:a16="http://schemas.microsoft.com/office/drawing/2014/main" id="{8E06122C-5CAC-A6AC-3FA1-0D1225B233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780470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FE669DD5-19A2-B56E-84FE-40205BD0C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4dfce81f19_0_45:notes">
            <a:extLst>
              <a:ext uri="{FF2B5EF4-FFF2-40B4-BE49-F238E27FC236}">
                <a16:creationId xmlns:a16="http://schemas.microsoft.com/office/drawing/2014/main" id="{C878E81B-C30A-D93A-70ED-F3E268D99C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27" name="Google Shape;327;g4dfce81f19_0_45:notes">
            <a:extLst>
              <a:ext uri="{FF2B5EF4-FFF2-40B4-BE49-F238E27FC236}">
                <a16:creationId xmlns:a16="http://schemas.microsoft.com/office/drawing/2014/main" id="{B92C5A7F-0974-21AF-FF17-E9130F7740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99310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0">
          <a:extLst>
            <a:ext uri="{FF2B5EF4-FFF2-40B4-BE49-F238E27FC236}">
              <a16:creationId xmlns:a16="http://schemas.microsoft.com/office/drawing/2014/main" id="{219FE216-3267-04AE-731C-25893C076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g54dda1946d_4_2758:notes">
            <a:extLst>
              <a:ext uri="{FF2B5EF4-FFF2-40B4-BE49-F238E27FC236}">
                <a16:creationId xmlns:a16="http://schemas.microsoft.com/office/drawing/2014/main" id="{C0D18D2B-5A55-6475-4E8E-6968AD2E19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502" name="Google Shape;502;g54dda1946d_4_2758:notes">
            <a:extLst>
              <a:ext uri="{FF2B5EF4-FFF2-40B4-BE49-F238E27FC236}">
                <a16:creationId xmlns:a16="http://schemas.microsoft.com/office/drawing/2014/main" id="{A0F0DE24-D992-E407-65B6-D355375399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16305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>
          <a:extLst>
            <a:ext uri="{FF2B5EF4-FFF2-40B4-BE49-F238E27FC236}">
              <a16:creationId xmlns:a16="http://schemas.microsoft.com/office/drawing/2014/main" id="{2FF04AF3-A727-B1C8-2F67-2652E628A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184d99d1a72_0_57:notes">
            <a:extLst>
              <a:ext uri="{FF2B5EF4-FFF2-40B4-BE49-F238E27FC236}">
                <a16:creationId xmlns:a16="http://schemas.microsoft.com/office/drawing/2014/main" id="{D0A5122E-13B6-B3B7-7F5E-5204D9610F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441" name="Google Shape;441;g184d99d1a72_0_57:notes">
            <a:extLst>
              <a:ext uri="{FF2B5EF4-FFF2-40B4-BE49-F238E27FC236}">
                <a16:creationId xmlns:a16="http://schemas.microsoft.com/office/drawing/2014/main" id="{0B8B2B88-28C2-B92B-3304-F34988FE27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6835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5FEAA1B9-36D3-4D64-90B2-AE415143C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4dfce81f19_0_45:notes">
            <a:extLst>
              <a:ext uri="{FF2B5EF4-FFF2-40B4-BE49-F238E27FC236}">
                <a16:creationId xmlns:a16="http://schemas.microsoft.com/office/drawing/2014/main" id="{8DB3E281-6946-BC8B-79AB-7AF93A6581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27" name="Google Shape;327;g4dfce81f19_0_45:notes">
            <a:extLst>
              <a:ext uri="{FF2B5EF4-FFF2-40B4-BE49-F238E27FC236}">
                <a16:creationId xmlns:a16="http://schemas.microsoft.com/office/drawing/2014/main" id="{72E86D8C-F88D-5632-FFA6-F7517D837D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70005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>
          <a:extLst>
            <a:ext uri="{FF2B5EF4-FFF2-40B4-BE49-F238E27FC236}">
              <a16:creationId xmlns:a16="http://schemas.microsoft.com/office/drawing/2014/main" id="{4FA52647-AFF7-A5A3-329E-AE2E980E8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54dda1946d_6_322:notes">
            <a:extLst>
              <a:ext uri="{FF2B5EF4-FFF2-40B4-BE49-F238E27FC236}">
                <a16:creationId xmlns:a16="http://schemas.microsoft.com/office/drawing/2014/main" id="{0F1ECB69-2F91-0E5D-DD7F-CF3041AB9B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60" name="Google Shape;360;g54dda1946d_6_322:notes">
            <a:extLst>
              <a:ext uri="{FF2B5EF4-FFF2-40B4-BE49-F238E27FC236}">
                <a16:creationId xmlns:a16="http://schemas.microsoft.com/office/drawing/2014/main" id="{0E2185A7-1085-85DC-2530-FFA9469EEB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52382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>
          <a:extLst>
            <a:ext uri="{FF2B5EF4-FFF2-40B4-BE49-F238E27FC236}">
              <a16:creationId xmlns:a16="http://schemas.microsoft.com/office/drawing/2014/main" id="{6FD0BA6F-C541-B42B-F7DB-152003B41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54dda1946d_4_2726:notes">
            <a:extLst>
              <a:ext uri="{FF2B5EF4-FFF2-40B4-BE49-F238E27FC236}">
                <a16:creationId xmlns:a16="http://schemas.microsoft.com/office/drawing/2014/main" id="{33B3E9A7-C039-CBAC-1FF9-4032E072C9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481" name="Google Shape;481;g54dda1946d_4_2726:notes">
            <a:extLst>
              <a:ext uri="{FF2B5EF4-FFF2-40B4-BE49-F238E27FC236}">
                <a16:creationId xmlns:a16="http://schemas.microsoft.com/office/drawing/2014/main" id="{0FD3A2F3-4C69-968F-3004-B62E24E349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81417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DF6B4B7D-C1E3-B7A0-E269-66371FE8C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4dfce81f19_0_45:notes">
            <a:extLst>
              <a:ext uri="{FF2B5EF4-FFF2-40B4-BE49-F238E27FC236}">
                <a16:creationId xmlns:a16="http://schemas.microsoft.com/office/drawing/2014/main" id="{1F8B8E3D-9B58-DC7B-26CE-62837E3F61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27" name="Google Shape;327;g4dfce81f19_0_45:notes">
            <a:extLst>
              <a:ext uri="{FF2B5EF4-FFF2-40B4-BE49-F238E27FC236}">
                <a16:creationId xmlns:a16="http://schemas.microsoft.com/office/drawing/2014/main" id="{79E00CDC-0070-FD7F-5332-C83A81CB11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289901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>
          <a:extLst>
            <a:ext uri="{FF2B5EF4-FFF2-40B4-BE49-F238E27FC236}">
              <a16:creationId xmlns:a16="http://schemas.microsoft.com/office/drawing/2014/main" id="{F497BE5A-AA8B-BA40-BF33-A167B7B4F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184d99d1a72_0_57:notes">
            <a:extLst>
              <a:ext uri="{FF2B5EF4-FFF2-40B4-BE49-F238E27FC236}">
                <a16:creationId xmlns:a16="http://schemas.microsoft.com/office/drawing/2014/main" id="{99E64330-E1A5-CC7B-9550-A35F91BCA7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441" name="Google Shape;441;g184d99d1a72_0_57:notes">
            <a:extLst>
              <a:ext uri="{FF2B5EF4-FFF2-40B4-BE49-F238E27FC236}">
                <a16:creationId xmlns:a16="http://schemas.microsoft.com/office/drawing/2014/main" id="{842D8CE2-D305-09A9-9BE9-FBC4BAFB23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05382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>
          <a:extLst>
            <a:ext uri="{FF2B5EF4-FFF2-40B4-BE49-F238E27FC236}">
              <a16:creationId xmlns:a16="http://schemas.microsoft.com/office/drawing/2014/main" id="{FC02EA0E-64EE-1342-D56B-7B693D766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54dda1946d_6_322:notes">
            <a:extLst>
              <a:ext uri="{FF2B5EF4-FFF2-40B4-BE49-F238E27FC236}">
                <a16:creationId xmlns:a16="http://schemas.microsoft.com/office/drawing/2014/main" id="{CBE6C801-B291-29F9-9F3A-A943B83C9D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60" name="Google Shape;360;g54dda1946d_6_322:notes">
            <a:extLst>
              <a:ext uri="{FF2B5EF4-FFF2-40B4-BE49-F238E27FC236}">
                <a16:creationId xmlns:a16="http://schemas.microsoft.com/office/drawing/2014/main" id="{74311A18-AFF8-ED83-98BE-EF09BBDE84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04208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>
          <a:extLst>
            <a:ext uri="{FF2B5EF4-FFF2-40B4-BE49-F238E27FC236}">
              <a16:creationId xmlns:a16="http://schemas.microsoft.com/office/drawing/2014/main" id="{1A226D8E-3AA7-792F-5961-E184A0645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184d99d1a72_0_57:notes">
            <a:extLst>
              <a:ext uri="{FF2B5EF4-FFF2-40B4-BE49-F238E27FC236}">
                <a16:creationId xmlns:a16="http://schemas.microsoft.com/office/drawing/2014/main" id="{A809B422-4B24-54C6-7D68-77838AA477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441" name="Google Shape;441;g184d99d1a72_0_57:notes">
            <a:extLst>
              <a:ext uri="{FF2B5EF4-FFF2-40B4-BE49-F238E27FC236}">
                <a16:creationId xmlns:a16="http://schemas.microsoft.com/office/drawing/2014/main" id="{9D59788F-51E8-36BF-4E41-5462CF7441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97519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>
          <a:extLst>
            <a:ext uri="{FF2B5EF4-FFF2-40B4-BE49-F238E27FC236}">
              <a16:creationId xmlns:a16="http://schemas.microsoft.com/office/drawing/2014/main" id="{DA4AFE01-4567-73AB-A0FD-1D6E34B12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54dda1946d_6_322:notes">
            <a:extLst>
              <a:ext uri="{FF2B5EF4-FFF2-40B4-BE49-F238E27FC236}">
                <a16:creationId xmlns:a16="http://schemas.microsoft.com/office/drawing/2014/main" id="{79742F08-B0E8-4397-5C63-60E346B2D5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60" name="Google Shape;360;g54dda1946d_6_322:notes">
            <a:extLst>
              <a:ext uri="{FF2B5EF4-FFF2-40B4-BE49-F238E27FC236}">
                <a16:creationId xmlns:a16="http://schemas.microsoft.com/office/drawing/2014/main" id="{8E987A17-C191-C4F9-6DBA-160C30FB14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683254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>
          <a:extLst>
            <a:ext uri="{FF2B5EF4-FFF2-40B4-BE49-F238E27FC236}">
              <a16:creationId xmlns:a16="http://schemas.microsoft.com/office/drawing/2014/main" id="{064129A6-A683-36BE-CB6E-3A0B327B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54dda1946d_4_2726:notes">
            <a:extLst>
              <a:ext uri="{FF2B5EF4-FFF2-40B4-BE49-F238E27FC236}">
                <a16:creationId xmlns:a16="http://schemas.microsoft.com/office/drawing/2014/main" id="{0FB7E58D-9636-E294-5E40-8262AB071C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481" name="Google Shape;481;g54dda1946d_4_2726:notes">
            <a:extLst>
              <a:ext uri="{FF2B5EF4-FFF2-40B4-BE49-F238E27FC236}">
                <a16:creationId xmlns:a16="http://schemas.microsoft.com/office/drawing/2014/main" id="{6386AC39-575E-A14D-4619-061874A6ED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834067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5A7BA5DF-0D77-EB00-A399-4F8469E6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4dfce81f19_0_45:notes">
            <a:extLst>
              <a:ext uri="{FF2B5EF4-FFF2-40B4-BE49-F238E27FC236}">
                <a16:creationId xmlns:a16="http://schemas.microsoft.com/office/drawing/2014/main" id="{DCC86B59-AD84-4B9E-DFB9-EF9CC3F399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27" name="Google Shape;327;g4dfce81f19_0_45:notes">
            <a:extLst>
              <a:ext uri="{FF2B5EF4-FFF2-40B4-BE49-F238E27FC236}">
                <a16:creationId xmlns:a16="http://schemas.microsoft.com/office/drawing/2014/main" id="{A3BFB901-77AD-5C61-E14D-21AC1D42DA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35481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76C93364-EE29-D5DF-0E25-44C9B6F5E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4dfce81f19_0_45:notes">
            <a:extLst>
              <a:ext uri="{FF2B5EF4-FFF2-40B4-BE49-F238E27FC236}">
                <a16:creationId xmlns:a16="http://schemas.microsoft.com/office/drawing/2014/main" id="{4E11DCA6-3322-9027-5C61-85E44BFEDE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27" name="Google Shape;327;g4dfce81f19_0_45:notes">
            <a:extLst>
              <a:ext uri="{FF2B5EF4-FFF2-40B4-BE49-F238E27FC236}">
                <a16:creationId xmlns:a16="http://schemas.microsoft.com/office/drawing/2014/main" id="{290793F3-2E18-13D5-0238-065165D562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22937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8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421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6825" y="1613"/>
            <a:ext cx="9163538" cy="5147081"/>
            <a:chOff x="-21325" y="-6819"/>
            <a:chExt cx="9163538" cy="5147081"/>
          </a:xfrm>
        </p:grpSpPr>
        <p:grpSp>
          <p:nvGrpSpPr>
            <p:cNvPr id="13" name="Google Shape;13;p2"/>
            <p:cNvGrpSpPr/>
            <p:nvPr/>
          </p:nvGrpSpPr>
          <p:grpSpPr>
            <a:xfrm>
              <a:off x="2626712" y="4610687"/>
              <a:ext cx="6515501" cy="529575"/>
              <a:chOff x="2626712" y="4610687"/>
              <a:chExt cx="6515501" cy="529575"/>
            </a:xfrm>
          </p:grpSpPr>
          <p:pic>
            <p:nvPicPr>
              <p:cNvPr id="14" name="Google Shape;14;p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 rot="10800000">
                <a:off x="2626712" y="4610687"/>
                <a:ext cx="6515501" cy="52957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 rot="10800000">
                <a:off x="7293388" y="4840980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6" name="Google Shape;16;p2"/>
            <p:cNvGrpSpPr/>
            <p:nvPr/>
          </p:nvGrpSpPr>
          <p:grpSpPr>
            <a:xfrm>
              <a:off x="-21325" y="-6819"/>
              <a:ext cx="6523526" cy="536050"/>
              <a:chOff x="-21325" y="-6819"/>
              <a:chExt cx="6523526" cy="536050"/>
            </a:xfrm>
          </p:grpSpPr>
          <p:pic>
            <p:nvPicPr>
              <p:cNvPr id="17" name="Google Shape;17;p2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-21325" y="-6819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8" name="Google Shape;18;p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243800" y="239786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9" name="Google Shape;19;p2"/>
          <p:cNvGrpSpPr/>
          <p:nvPr/>
        </p:nvGrpSpPr>
        <p:grpSpPr>
          <a:xfrm>
            <a:off x="-6819" y="-7400"/>
            <a:ext cx="9157637" cy="5158300"/>
            <a:chOff x="0" y="0"/>
            <a:chExt cx="9157637" cy="5158300"/>
          </a:xfrm>
        </p:grpSpPr>
        <p:pic>
          <p:nvPicPr>
            <p:cNvPr id="20" name="Google Shape;20;p2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906088" y="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2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0" y="390675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713225" y="987538"/>
            <a:ext cx="4294800" cy="106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7"/>
          <p:cNvSpPr txBox="1">
            <a:spLocks noGrp="1"/>
          </p:cNvSpPr>
          <p:nvPr>
            <p:ph type="subTitle" idx="1"/>
          </p:nvPr>
        </p:nvSpPr>
        <p:spPr>
          <a:xfrm>
            <a:off x="713225" y="2109663"/>
            <a:ext cx="4294800" cy="250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60" name="Google Shape;60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61" name="Google Shape;61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 flipH="1">
            <a:off x="-25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7"/>
          <p:cNvPicPr preferRelativeResize="0"/>
          <p:nvPr/>
        </p:nvPicPr>
        <p:blipFill rotWithShape="1">
          <a:blip r:embed="rId4">
            <a:alphaModFix/>
          </a:blip>
          <a:srcRect t="130" b="130"/>
          <a:stretch/>
        </p:blipFill>
        <p:spPr>
          <a:xfrm rot="-5400000">
            <a:off x="7509601" y="3503753"/>
            <a:ext cx="1716695" cy="130794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3" name="Google Shape;63;p7"/>
          <p:cNvGrpSpPr/>
          <p:nvPr/>
        </p:nvGrpSpPr>
        <p:grpSpPr>
          <a:xfrm>
            <a:off x="0" y="0"/>
            <a:ext cx="5837899" cy="536050"/>
            <a:chOff x="0" y="0"/>
            <a:chExt cx="5837899" cy="536050"/>
          </a:xfrm>
        </p:grpSpPr>
        <p:pic>
          <p:nvPicPr>
            <p:cNvPr id="64" name="Google Shape;64;p7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0"/>
              <a:ext cx="5837899" cy="5360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" name="Google Shape;65;p7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265125" y="2466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pic>
        <p:nvPicPr>
          <p:cNvPr id="69" name="Google Shape;69;p8"/>
          <p:cNvPicPr preferRelativeResize="0"/>
          <p:nvPr/>
        </p:nvPicPr>
        <p:blipFill rotWithShape="1">
          <a:blip r:embed="rId3">
            <a:alphaModFix/>
          </a:blip>
          <a:srcRect b="22420"/>
          <a:stretch/>
        </p:blipFill>
        <p:spPr>
          <a:xfrm rot="5400000">
            <a:off x="-257665" y="461283"/>
            <a:ext cx="1768000" cy="1047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7890675" y="0"/>
            <a:ext cx="1251550" cy="12515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" name="Google Shape;71;p8"/>
          <p:cNvGrpSpPr/>
          <p:nvPr/>
        </p:nvGrpSpPr>
        <p:grpSpPr>
          <a:xfrm>
            <a:off x="3881699" y="4752250"/>
            <a:ext cx="5260526" cy="388025"/>
            <a:chOff x="3881699" y="4752250"/>
            <a:chExt cx="5260526" cy="388025"/>
          </a:xfrm>
        </p:grpSpPr>
        <p:pic>
          <p:nvPicPr>
            <p:cNvPr id="72" name="Google Shape;72;p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3881699" y="4752250"/>
              <a:ext cx="5260526" cy="388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3" name="Google Shape;73;p8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78" name="Google Shape;78;p9"/>
          <p:cNvGrpSpPr/>
          <p:nvPr/>
        </p:nvGrpSpPr>
        <p:grpSpPr>
          <a:xfrm>
            <a:off x="-1" y="2100"/>
            <a:ext cx="9144001" cy="5141388"/>
            <a:chOff x="-1" y="2100"/>
            <a:chExt cx="9144001" cy="5141388"/>
          </a:xfrm>
        </p:grpSpPr>
        <p:pic>
          <p:nvPicPr>
            <p:cNvPr id="79" name="Google Shape;79;p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 flipH="1">
              <a:off x="8171225" y="210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 flipH="1">
              <a:off x="-1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81" name="Google Shape;81;p9"/>
          <p:cNvGrpSpPr/>
          <p:nvPr/>
        </p:nvGrpSpPr>
        <p:grpSpPr>
          <a:xfrm rot="10800000">
            <a:off x="0" y="2100"/>
            <a:ext cx="4881173" cy="365700"/>
            <a:chOff x="4261050" y="4610675"/>
            <a:chExt cx="4881173" cy="365700"/>
          </a:xfrm>
        </p:grpSpPr>
        <p:pic>
          <p:nvPicPr>
            <p:cNvPr id="82" name="Google Shape;82;p9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4261050" y="4610675"/>
              <a:ext cx="4881173" cy="36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3" name="Google Shape;83;p9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75903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86" name="Google Shape;86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1"/>
          <p:cNvSpPr txBox="1">
            <a:spLocks noGrp="1"/>
          </p:cNvSpPr>
          <p:nvPr>
            <p:ph type="title" hasCustomPrompt="1"/>
          </p:nvPr>
        </p:nvSpPr>
        <p:spPr>
          <a:xfrm>
            <a:off x="2476500" y="1872450"/>
            <a:ext cx="4191000" cy="1043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90" name="Google Shape;90;p11"/>
          <p:cNvSpPr txBox="1">
            <a:spLocks noGrp="1"/>
          </p:cNvSpPr>
          <p:nvPr>
            <p:ph type="subTitle" idx="1"/>
          </p:nvPr>
        </p:nvSpPr>
        <p:spPr>
          <a:xfrm>
            <a:off x="2476500" y="2839950"/>
            <a:ext cx="4191000" cy="43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pic>
        <p:nvPicPr>
          <p:cNvPr id="91" name="Google Shape;9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170784" y="263618"/>
            <a:ext cx="1768000" cy="13505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2" name="Google Shape;92;p11"/>
          <p:cNvGrpSpPr/>
          <p:nvPr/>
        </p:nvGrpSpPr>
        <p:grpSpPr>
          <a:xfrm flipH="1">
            <a:off x="0" y="0"/>
            <a:ext cx="9144000" cy="5158300"/>
            <a:chOff x="0" y="0"/>
            <a:chExt cx="9144000" cy="5158300"/>
          </a:xfrm>
        </p:grpSpPr>
        <p:pic>
          <p:nvPicPr>
            <p:cNvPr id="93" name="Google Shape;93;p11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892450" y="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4" name="Google Shape;94;p11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390675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95" name="Google Shape;95;p11"/>
          <p:cNvGrpSpPr/>
          <p:nvPr/>
        </p:nvGrpSpPr>
        <p:grpSpPr>
          <a:xfrm flipH="1">
            <a:off x="-5031" y="0"/>
            <a:ext cx="9149031" cy="5153900"/>
            <a:chOff x="0" y="0"/>
            <a:chExt cx="9149031" cy="5153900"/>
          </a:xfrm>
        </p:grpSpPr>
        <p:grpSp>
          <p:nvGrpSpPr>
            <p:cNvPr id="96" name="Google Shape;96;p11"/>
            <p:cNvGrpSpPr/>
            <p:nvPr/>
          </p:nvGrpSpPr>
          <p:grpSpPr>
            <a:xfrm>
              <a:off x="2633530" y="4624325"/>
              <a:ext cx="6515501" cy="529575"/>
              <a:chOff x="2633530" y="4624325"/>
              <a:chExt cx="6515501" cy="529575"/>
            </a:xfrm>
          </p:grpSpPr>
          <p:pic>
            <p:nvPicPr>
              <p:cNvPr id="97" name="Google Shape;97;p11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 rot="10800000">
                <a:off x="2633530" y="4624325"/>
                <a:ext cx="6515501" cy="52957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98" name="Google Shape;98;p11"/>
              <p:cNvPicPr preferRelativeResize="0"/>
              <p:nvPr/>
            </p:nvPicPr>
            <p:blipFill>
              <a:blip r:embed="rId7">
                <a:alphaModFix/>
              </a:blip>
              <a:stretch>
                <a:fillRect/>
              </a:stretch>
            </p:blipFill>
            <p:spPr>
              <a:xfrm rot="10800000">
                <a:off x="7300206" y="4854618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99" name="Google Shape;99;p11"/>
            <p:cNvGrpSpPr/>
            <p:nvPr/>
          </p:nvGrpSpPr>
          <p:grpSpPr>
            <a:xfrm>
              <a:off x="0" y="0"/>
              <a:ext cx="6523526" cy="536050"/>
              <a:chOff x="0" y="0"/>
              <a:chExt cx="6523526" cy="536050"/>
            </a:xfrm>
          </p:grpSpPr>
          <p:pic>
            <p:nvPicPr>
              <p:cNvPr id="100" name="Google Shape;100;p11"/>
              <p:cNvPicPr preferRelativeResize="0"/>
              <p:nvPr/>
            </p:nvPicPr>
            <p:blipFill>
              <a:blip r:embed="rId8">
                <a:alphaModFix/>
              </a:blip>
              <a:stretch>
                <a:fillRect/>
              </a:stretch>
            </p:blipFill>
            <p:spPr>
              <a:xfrm>
                <a:off x="0" y="0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1" name="Google Shape;101;p11"/>
              <p:cNvPicPr preferRelativeResize="0"/>
              <p:nvPr/>
            </p:nvPicPr>
            <p:blipFill>
              <a:blip r:embed="rId7">
                <a:alphaModFix/>
              </a:blip>
              <a:stretch>
                <a:fillRect/>
              </a:stretch>
            </p:blipFill>
            <p:spPr>
              <a:xfrm>
                <a:off x="265125" y="246605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3835425" y="801507"/>
            <a:ext cx="4089300" cy="1055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14"/>
          <p:cNvSpPr txBox="1">
            <a:spLocks noGrp="1"/>
          </p:cNvSpPr>
          <p:nvPr>
            <p:ph type="subTitle" idx="1"/>
          </p:nvPr>
        </p:nvSpPr>
        <p:spPr>
          <a:xfrm>
            <a:off x="3835425" y="1898175"/>
            <a:ext cx="4089300" cy="21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9pPr>
          </a:lstStyle>
          <a:p>
            <a:endParaRPr/>
          </a:p>
        </p:txBody>
      </p:sp>
      <p:pic>
        <p:nvPicPr>
          <p:cNvPr id="128" name="Google Shape;128;p14"/>
          <p:cNvPicPr preferRelativeResize="0"/>
          <p:nvPr/>
        </p:nvPicPr>
        <p:blipFill rotWithShape="1">
          <a:blip r:embed="rId3">
            <a:alphaModFix/>
          </a:blip>
          <a:srcRect b="22420"/>
          <a:stretch/>
        </p:blipFill>
        <p:spPr>
          <a:xfrm rot="5400000">
            <a:off x="-257665" y="461283"/>
            <a:ext cx="1768000" cy="1047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7890675" y="0"/>
            <a:ext cx="1251550" cy="12515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0" name="Google Shape;130;p14"/>
          <p:cNvGrpSpPr/>
          <p:nvPr/>
        </p:nvGrpSpPr>
        <p:grpSpPr>
          <a:xfrm>
            <a:off x="3881699" y="4752250"/>
            <a:ext cx="5260526" cy="388025"/>
            <a:chOff x="3881699" y="4752250"/>
            <a:chExt cx="5260526" cy="388025"/>
          </a:xfrm>
        </p:grpSpPr>
        <p:pic>
          <p:nvPicPr>
            <p:cNvPr id="131" name="Google Shape;131;p14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3881699" y="4752250"/>
              <a:ext cx="5260526" cy="388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2" name="Google Shape;132;p14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ONE_COLUMN_TEXT_1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5"/>
          <p:cNvSpPr txBox="1">
            <a:spLocks noGrp="1"/>
          </p:cNvSpPr>
          <p:nvPr>
            <p:ph type="title"/>
          </p:nvPr>
        </p:nvSpPr>
        <p:spPr>
          <a:xfrm>
            <a:off x="713225" y="987538"/>
            <a:ext cx="4294800" cy="106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15"/>
          <p:cNvSpPr txBox="1">
            <a:spLocks noGrp="1"/>
          </p:cNvSpPr>
          <p:nvPr>
            <p:ph type="subTitle" idx="1"/>
          </p:nvPr>
        </p:nvSpPr>
        <p:spPr>
          <a:xfrm>
            <a:off x="713225" y="2109663"/>
            <a:ext cx="4294800" cy="250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137" name="Google Shape;137;p15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138" name="Google Shape;13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 flipH="1">
            <a:off x="-25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5"/>
          <p:cNvPicPr preferRelativeResize="0"/>
          <p:nvPr/>
        </p:nvPicPr>
        <p:blipFill rotWithShape="1">
          <a:blip r:embed="rId4">
            <a:alphaModFix/>
          </a:blip>
          <a:srcRect t="130" b="130"/>
          <a:stretch/>
        </p:blipFill>
        <p:spPr>
          <a:xfrm rot="-5400000">
            <a:off x="7509601" y="3503753"/>
            <a:ext cx="1716695" cy="130794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0" name="Google Shape;140;p15"/>
          <p:cNvGrpSpPr/>
          <p:nvPr/>
        </p:nvGrpSpPr>
        <p:grpSpPr>
          <a:xfrm>
            <a:off x="0" y="0"/>
            <a:ext cx="5837899" cy="536050"/>
            <a:chOff x="0" y="0"/>
            <a:chExt cx="5837899" cy="536050"/>
          </a:xfrm>
        </p:grpSpPr>
        <p:pic>
          <p:nvPicPr>
            <p:cNvPr id="141" name="Google Shape;141;p15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0"/>
              <a:ext cx="5837899" cy="5360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2" name="Google Shape;142;p15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265125" y="2466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3" name="Google Shape;143;p15"/>
          <p:cNvSpPr txBox="1">
            <a:spLocks noGrp="1"/>
          </p:cNvSpPr>
          <p:nvPr>
            <p:ph type="subTitle" idx="3"/>
          </p:nvPr>
        </p:nvSpPr>
        <p:spPr>
          <a:xfrm>
            <a:off x="713225" y="2109675"/>
            <a:ext cx="4294800" cy="250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0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20"/>
          <p:cNvSpPr txBox="1">
            <a:spLocks noGrp="1"/>
          </p:cNvSpPr>
          <p:nvPr>
            <p:ph type="subTitle" idx="1"/>
          </p:nvPr>
        </p:nvSpPr>
        <p:spPr>
          <a:xfrm>
            <a:off x="720000" y="167935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0" name="Google Shape;190;p20"/>
          <p:cNvSpPr txBox="1">
            <a:spLocks noGrp="1"/>
          </p:cNvSpPr>
          <p:nvPr>
            <p:ph type="subTitle" idx="2"/>
          </p:nvPr>
        </p:nvSpPr>
        <p:spPr>
          <a:xfrm>
            <a:off x="4881166" y="167935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20"/>
          <p:cNvSpPr txBox="1">
            <a:spLocks noGrp="1"/>
          </p:cNvSpPr>
          <p:nvPr>
            <p:ph type="subTitle" idx="3"/>
          </p:nvPr>
        </p:nvSpPr>
        <p:spPr>
          <a:xfrm>
            <a:off x="720000" y="339620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20"/>
          <p:cNvSpPr txBox="1">
            <a:spLocks noGrp="1"/>
          </p:cNvSpPr>
          <p:nvPr>
            <p:ph type="subTitle" idx="4"/>
          </p:nvPr>
        </p:nvSpPr>
        <p:spPr>
          <a:xfrm>
            <a:off x="4881166" y="339620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20"/>
          <p:cNvSpPr txBox="1">
            <a:spLocks noGrp="1"/>
          </p:cNvSpPr>
          <p:nvPr>
            <p:ph type="subTitle" idx="5"/>
          </p:nvPr>
        </p:nvSpPr>
        <p:spPr>
          <a:xfrm>
            <a:off x="720000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94" name="Google Shape;194;p20"/>
          <p:cNvSpPr txBox="1">
            <a:spLocks noGrp="1"/>
          </p:cNvSpPr>
          <p:nvPr>
            <p:ph type="subTitle" idx="6"/>
          </p:nvPr>
        </p:nvSpPr>
        <p:spPr>
          <a:xfrm>
            <a:off x="720000" y="3146911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95" name="Google Shape;195;p20"/>
          <p:cNvSpPr txBox="1">
            <a:spLocks noGrp="1"/>
          </p:cNvSpPr>
          <p:nvPr>
            <p:ph type="subTitle" idx="7"/>
          </p:nvPr>
        </p:nvSpPr>
        <p:spPr>
          <a:xfrm>
            <a:off x="4881127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96" name="Google Shape;196;p20"/>
          <p:cNvSpPr txBox="1">
            <a:spLocks noGrp="1"/>
          </p:cNvSpPr>
          <p:nvPr>
            <p:ph type="subTitle" idx="8"/>
          </p:nvPr>
        </p:nvSpPr>
        <p:spPr>
          <a:xfrm>
            <a:off x="4881130" y="3146911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grpSp>
        <p:nvGrpSpPr>
          <p:cNvPr id="197" name="Google Shape;197;p20"/>
          <p:cNvGrpSpPr/>
          <p:nvPr/>
        </p:nvGrpSpPr>
        <p:grpSpPr>
          <a:xfrm>
            <a:off x="-1" y="-4719"/>
            <a:ext cx="9144001" cy="5148207"/>
            <a:chOff x="-1" y="-4719"/>
            <a:chExt cx="9144001" cy="5148207"/>
          </a:xfrm>
        </p:grpSpPr>
        <p:pic>
          <p:nvPicPr>
            <p:cNvPr id="198" name="Google Shape;198;p2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 flipH="1">
              <a:off x="8171225" y="-4719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9" name="Google Shape;199;p2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 flipH="1">
              <a:off x="-1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00" name="Google Shape;200;p20"/>
          <p:cNvGrpSpPr/>
          <p:nvPr/>
        </p:nvGrpSpPr>
        <p:grpSpPr>
          <a:xfrm rot="10800000">
            <a:off x="0" y="-4719"/>
            <a:ext cx="4881173" cy="365700"/>
            <a:chOff x="4261050" y="4610675"/>
            <a:chExt cx="4881173" cy="365700"/>
          </a:xfrm>
        </p:grpSpPr>
        <p:pic>
          <p:nvPicPr>
            <p:cNvPr id="201" name="Google Shape;201;p2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4261050" y="4610675"/>
              <a:ext cx="4881173" cy="36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2" name="Google Shape;202;p20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75903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_ONLY_3"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25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55" name="Google Shape;255;p25"/>
          <p:cNvGrpSpPr/>
          <p:nvPr/>
        </p:nvGrpSpPr>
        <p:grpSpPr>
          <a:xfrm flipH="1">
            <a:off x="2620475" y="0"/>
            <a:ext cx="6523526" cy="369900"/>
            <a:chOff x="0" y="0"/>
            <a:chExt cx="6523526" cy="369900"/>
          </a:xfrm>
        </p:grpSpPr>
        <p:pic>
          <p:nvPicPr>
            <p:cNvPr id="256" name="Google Shape;256;p2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7" name="Google Shape;257;p2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58" name="Google Shape;258;p25"/>
          <p:cNvPicPr preferRelativeResize="0"/>
          <p:nvPr/>
        </p:nvPicPr>
        <p:blipFill rotWithShape="1">
          <a:blip r:embed="rId5">
            <a:alphaModFix/>
          </a:blip>
          <a:srcRect r="56111" b="41941"/>
          <a:stretch/>
        </p:blipFill>
        <p:spPr>
          <a:xfrm rot="-5400000">
            <a:off x="8325038" y="4266787"/>
            <a:ext cx="775950" cy="784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-5400000" flipH="1">
            <a:off x="0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30"/>
          <p:cNvPicPr preferRelativeResize="0"/>
          <p:nvPr/>
        </p:nvPicPr>
        <p:blipFill rotWithShape="1">
          <a:blip r:embed="rId3">
            <a:alphaModFix/>
          </a:blip>
          <a:srcRect t="130" b="130"/>
          <a:stretch/>
        </p:blipFill>
        <p:spPr>
          <a:xfrm rot="-5400000">
            <a:off x="-145124" y="3582752"/>
            <a:ext cx="1716695" cy="1307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06088" y="-13650"/>
            <a:ext cx="1251550" cy="12515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05" name="Google Shape;305;p30"/>
          <p:cNvGrpSpPr/>
          <p:nvPr/>
        </p:nvGrpSpPr>
        <p:grpSpPr>
          <a:xfrm>
            <a:off x="0" y="-13638"/>
            <a:ext cx="8878852" cy="4923618"/>
            <a:chOff x="0" y="-13638"/>
            <a:chExt cx="8878852" cy="4923618"/>
          </a:xfrm>
        </p:grpSpPr>
        <p:pic>
          <p:nvPicPr>
            <p:cNvPr id="306" name="Google Shape;306;p3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7293388" y="484098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307" name="Google Shape;307;p30"/>
            <p:cNvGrpSpPr/>
            <p:nvPr/>
          </p:nvGrpSpPr>
          <p:grpSpPr>
            <a:xfrm>
              <a:off x="0" y="-13638"/>
              <a:ext cx="6523526" cy="536050"/>
              <a:chOff x="0" y="-13638"/>
              <a:chExt cx="6523526" cy="536050"/>
            </a:xfrm>
          </p:grpSpPr>
          <p:pic>
            <p:nvPicPr>
              <p:cNvPr id="308" name="Google Shape;308;p30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0" y="-13638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09" name="Google Shape;309;p3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265125" y="232968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3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13"/>
          <p:cNvSpPr txBox="1">
            <a:spLocks noGrp="1"/>
          </p:cNvSpPr>
          <p:nvPr>
            <p:ph type="title" idx="2" hasCustomPrompt="1"/>
          </p:nvPr>
        </p:nvSpPr>
        <p:spPr>
          <a:xfrm>
            <a:off x="3759205" y="1699096"/>
            <a:ext cx="694800" cy="6948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 idx="3" hasCustomPrompt="1"/>
          </p:nvPr>
        </p:nvSpPr>
        <p:spPr>
          <a:xfrm>
            <a:off x="4690005" y="1699096"/>
            <a:ext cx="694800" cy="6948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8" name="Google Shape;108;p13"/>
          <p:cNvSpPr txBox="1">
            <a:spLocks noGrp="1"/>
          </p:cNvSpPr>
          <p:nvPr>
            <p:ph type="title" idx="4" hasCustomPrompt="1"/>
          </p:nvPr>
        </p:nvSpPr>
        <p:spPr>
          <a:xfrm>
            <a:off x="3759193" y="2781754"/>
            <a:ext cx="694800" cy="6948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9" name="Google Shape;109;p13"/>
          <p:cNvSpPr txBox="1">
            <a:spLocks noGrp="1"/>
          </p:cNvSpPr>
          <p:nvPr>
            <p:ph type="title" idx="5" hasCustomPrompt="1"/>
          </p:nvPr>
        </p:nvSpPr>
        <p:spPr>
          <a:xfrm>
            <a:off x="4689993" y="2781754"/>
            <a:ext cx="694800" cy="6948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0" name="Google Shape;110;p13"/>
          <p:cNvSpPr txBox="1">
            <a:spLocks noGrp="1"/>
          </p:cNvSpPr>
          <p:nvPr>
            <p:ph type="title" idx="6" hasCustomPrompt="1"/>
          </p:nvPr>
        </p:nvSpPr>
        <p:spPr>
          <a:xfrm>
            <a:off x="3759207" y="3864413"/>
            <a:ext cx="694800" cy="6948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1" name="Google Shape;111;p13"/>
          <p:cNvSpPr txBox="1">
            <a:spLocks noGrp="1"/>
          </p:cNvSpPr>
          <p:nvPr>
            <p:ph type="title" idx="7" hasCustomPrompt="1"/>
          </p:nvPr>
        </p:nvSpPr>
        <p:spPr>
          <a:xfrm>
            <a:off x="4690007" y="3864413"/>
            <a:ext cx="694800" cy="6948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1"/>
          </p:nvPr>
        </p:nvSpPr>
        <p:spPr>
          <a:xfrm>
            <a:off x="1280600" y="1699100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subTitle" idx="8"/>
          </p:nvPr>
        </p:nvSpPr>
        <p:spPr>
          <a:xfrm>
            <a:off x="1280600" y="2781762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subTitle" idx="9"/>
          </p:nvPr>
        </p:nvSpPr>
        <p:spPr>
          <a:xfrm>
            <a:off x="1280600" y="3864423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subTitle" idx="13"/>
          </p:nvPr>
        </p:nvSpPr>
        <p:spPr>
          <a:xfrm>
            <a:off x="5575300" y="1699096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subTitle" idx="14"/>
          </p:nvPr>
        </p:nvSpPr>
        <p:spPr>
          <a:xfrm>
            <a:off x="5575300" y="2781754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17" name="Google Shape;117;p13"/>
          <p:cNvSpPr txBox="1">
            <a:spLocks noGrp="1"/>
          </p:cNvSpPr>
          <p:nvPr>
            <p:ph type="subTitle" idx="15"/>
          </p:nvPr>
        </p:nvSpPr>
        <p:spPr>
          <a:xfrm>
            <a:off x="5575300" y="3864413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grpSp>
        <p:nvGrpSpPr>
          <p:cNvPr id="118" name="Google Shape;118;p13"/>
          <p:cNvGrpSpPr/>
          <p:nvPr/>
        </p:nvGrpSpPr>
        <p:grpSpPr>
          <a:xfrm flipH="1">
            <a:off x="2620475" y="0"/>
            <a:ext cx="6523526" cy="369900"/>
            <a:chOff x="0" y="0"/>
            <a:chExt cx="6523526" cy="369900"/>
          </a:xfrm>
        </p:grpSpPr>
        <p:pic>
          <p:nvPicPr>
            <p:cNvPr id="119" name="Google Shape;119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0" name="Google Shape;120;p1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21" name="Google Shape;121;p13"/>
          <p:cNvGrpSpPr/>
          <p:nvPr/>
        </p:nvGrpSpPr>
        <p:grpSpPr>
          <a:xfrm flipH="1">
            <a:off x="0" y="0"/>
            <a:ext cx="9144000" cy="5143512"/>
            <a:chOff x="0" y="0"/>
            <a:chExt cx="9144000" cy="5143512"/>
          </a:xfrm>
        </p:grpSpPr>
        <p:pic>
          <p:nvPicPr>
            <p:cNvPr id="122" name="Google Shape;122;p1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171225" y="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3" name="Google Shape;123;p13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0" y="4170737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4212128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60" r:id="rId8"/>
    <p:sldLayoutId id="2147483661" r:id="rId9"/>
    <p:sldLayoutId id="2147483666" r:id="rId10"/>
    <p:sldLayoutId id="2147483671" r:id="rId11"/>
    <p:sldLayoutId id="2147483676" r:id="rId12"/>
    <p:sldLayoutId id="2147483681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cabotage-lens.streamlit.app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A0BC6607-C61D-8B91-0320-B44ECF502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5">
            <a:extLst>
              <a:ext uri="{FF2B5EF4-FFF2-40B4-BE49-F238E27FC236}">
                <a16:creationId xmlns:a16="http://schemas.microsoft.com/office/drawing/2014/main" id="{5A845DEA-FD9E-D7FE-EC4A-206EC3F499B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CabotageLens</a:t>
            </a:r>
            <a:endParaRPr dirty="0"/>
          </a:p>
        </p:txBody>
      </p:sp>
      <p:sp>
        <p:nvSpPr>
          <p:cNvPr id="330" name="Google Shape;330;p35">
            <a:extLst>
              <a:ext uri="{FF2B5EF4-FFF2-40B4-BE49-F238E27FC236}">
                <a16:creationId xmlns:a16="http://schemas.microsoft.com/office/drawing/2014/main" id="{A3831C7E-C3BB-A08E-9357-B23405A8507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8201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pt-BR" sz="1200" b="1" dirty="0"/>
              <a:t>Rastreabilidade dos cálculos de custo e emissões</a:t>
            </a:r>
            <a:br>
              <a:rPr lang="pt-BR" sz="1200" dirty="0"/>
            </a:br>
            <a:r>
              <a:rPr lang="pt-BR" sz="1200" i="1" dirty="0"/>
              <a:t>Exemplo: São Paulo, SP → Rio Branco, AC | Carga de 14 t</a:t>
            </a:r>
            <a:endParaRPr sz="1200" i="1" dirty="0"/>
          </a:p>
        </p:txBody>
      </p:sp>
    </p:spTree>
    <p:extLst>
      <p:ext uri="{BB962C8B-B14F-4D97-AF65-F5344CB8AC3E}">
        <p14:creationId xmlns:p14="http://schemas.microsoft.com/office/powerpoint/2010/main" val="29671261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>
          <a:extLst>
            <a:ext uri="{FF2B5EF4-FFF2-40B4-BE49-F238E27FC236}">
              <a16:creationId xmlns:a16="http://schemas.microsoft.com/office/drawing/2014/main" id="{45B23727-CC23-1091-FADE-8C3E7550D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50">
            <a:extLst>
              <a:ext uri="{FF2B5EF4-FFF2-40B4-BE49-F238E27FC236}">
                <a16:creationId xmlns:a16="http://schemas.microsoft.com/office/drawing/2014/main" id="{66D091F1-8AD9-FA68-25D0-F7570F24F6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7200" y="440283"/>
            <a:ext cx="4294800" cy="6472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Alternativas de rota</a:t>
            </a:r>
            <a:endParaRPr dirty="0"/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A06E01C4-6246-D147-7008-2AF924B38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87582"/>
            <a:ext cx="9060666" cy="4055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856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0D66032A-BB95-CF3F-F1A5-064B3E6D8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5">
            <a:extLst>
              <a:ext uri="{FF2B5EF4-FFF2-40B4-BE49-F238E27FC236}">
                <a16:creationId xmlns:a16="http://schemas.microsoft.com/office/drawing/2014/main" id="{B51EED71-0175-C9DB-E791-9815139F477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Input do usuário e </a:t>
            </a:r>
            <a:br>
              <a:rPr lang="en" dirty="0"/>
            </a:br>
            <a:r>
              <a:rPr lang="en" dirty="0"/>
              <a:t>parâmetros comuns</a:t>
            </a:r>
            <a:endParaRPr dirty="0"/>
          </a:p>
        </p:txBody>
      </p:sp>
      <p:sp>
        <p:nvSpPr>
          <p:cNvPr id="330" name="Google Shape;330;p35">
            <a:extLst>
              <a:ext uri="{FF2B5EF4-FFF2-40B4-BE49-F238E27FC236}">
                <a16:creationId xmlns:a16="http://schemas.microsoft.com/office/drawing/2014/main" id="{972B4B01-851F-E390-64C3-D48B9A7D211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42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/>
            <a:r>
              <a:rPr lang="pt-BR" dirty="0"/>
              <a:t>Dados de entrada e premissas utilizadas nas duas alternativas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29217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3">
          <a:extLst>
            <a:ext uri="{FF2B5EF4-FFF2-40B4-BE49-F238E27FC236}">
              <a16:creationId xmlns:a16="http://schemas.microsoft.com/office/drawing/2014/main" id="{704C2CD5-49EF-FFCB-4733-81813C814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49">
            <a:extLst>
              <a:ext uri="{FF2B5EF4-FFF2-40B4-BE49-F238E27FC236}">
                <a16:creationId xmlns:a16="http://schemas.microsoft.com/office/drawing/2014/main" id="{5E907FE9-9483-BB70-40AE-C0C91D932A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35425" y="801507"/>
            <a:ext cx="4089300" cy="1055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>
                <a:latin typeface="Poppins" panose="00000500000000000000" pitchFamily="2" charset="0"/>
                <a:cs typeface="Poppins" panose="00000500000000000000" pitchFamily="2" charset="0"/>
              </a:rPr>
              <a:t>Input de Carga Origem e Destino</a:t>
            </a:r>
            <a:endParaRPr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09" name="Google Shape;509;p49">
            <a:extLst>
              <a:ext uri="{FF2B5EF4-FFF2-40B4-BE49-F238E27FC236}">
                <a16:creationId xmlns:a16="http://schemas.microsoft.com/office/drawing/2014/main" id="{8C749584-FE45-7747-6327-031808C8F3C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835425" y="1898175"/>
            <a:ext cx="4089300" cy="21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pt-BR" dirty="0">
                <a:latin typeface="Poppins" panose="00000500000000000000" pitchFamily="2" charset="0"/>
                <a:cs typeface="Poppins" panose="00000500000000000000" pitchFamily="2" charset="0"/>
              </a:rPr>
              <a:t>O usuário informa apenas a origem, o destino e a massa total da carga.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pt-BR" dirty="0">
                <a:latin typeface="Poppins" panose="00000500000000000000" pitchFamily="2" charset="0"/>
                <a:cs typeface="Poppins" panose="00000500000000000000" pitchFamily="2" charset="0"/>
              </a:rPr>
              <a:t>Neste exemplo, considera-se o transporte de 14 toneladas entre São Paulo, SP, e Rio Branco, AC.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pt-BR" dirty="0">
                <a:latin typeface="Poppins" panose="00000500000000000000" pitchFamily="2" charset="0"/>
                <a:cs typeface="Poppins" panose="00000500000000000000" pitchFamily="2" charset="0"/>
              </a:rPr>
              <a:t>Não é necessário definir rotas, portos ou distâncias: esses elementos são determinados posteriormente pelo pipeline.</a:t>
            </a:r>
            <a:endParaRPr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graphicFrame>
        <p:nvGraphicFramePr>
          <p:cNvPr id="3" name="Google Shape;336;p36">
            <a:extLst>
              <a:ext uri="{FF2B5EF4-FFF2-40B4-BE49-F238E27FC236}">
                <a16:creationId xmlns:a16="http://schemas.microsoft.com/office/drawing/2014/main" id="{D09AD024-CEF1-A3E4-E46A-636C62C07DC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55807021"/>
              </p:ext>
            </p:extLst>
          </p:nvPr>
        </p:nvGraphicFramePr>
        <p:xfrm>
          <a:off x="879763" y="1980318"/>
          <a:ext cx="2604655" cy="1446100"/>
        </p:xfrm>
        <a:graphic>
          <a:graphicData uri="http://schemas.openxmlformats.org/drawingml/2006/table">
            <a:tbl>
              <a:tblPr>
                <a:noFill/>
                <a:tableStyleId>{F3E31DBF-9C51-4A74-9153-B9460B38124B}</a:tableStyleId>
              </a:tblPr>
              <a:tblGrid>
                <a:gridCol w="8589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56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 dirty="0">
                          <a:solidFill>
                            <a:schemeClr val="accent6"/>
                          </a:solidFill>
                        </a:rPr>
                        <a:t>Campo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 dirty="0"/>
                        <a:t>Valor do exemplo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>
                          <a:solidFill>
                            <a:schemeClr val="accent6"/>
                          </a:solidFill>
                        </a:rPr>
                        <a:t>Origem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0" dirty="0"/>
                        <a:t>São Paulo, SP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8882094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>
                          <a:solidFill>
                            <a:schemeClr val="accent6"/>
                          </a:solidFill>
                        </a:rPr>
                        <a:t>Destino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0" dirty="0"/>
                        <a:t>Rio Branco, AC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>
                          <a:solidFill>
                            <a:schemeClr val="accent6"/>
                          </a:solidFill>
                        </a:rPr>
                        <a:t>Carga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0" dirty="0"/>
                        <a:t>14 toneladas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75264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>
          <a:extLst>
            <a:ext uri="{FF2B5EF4-FFF2-40B4-BE49-F238E27FC236}">
              <a16:creationId xmlns:a16="http://schemas.microsoft.com/office/drawing/2014/main" id="{0A253A41-3600-6F9D-99D6-FDDAB1099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43">
            <a:extLst>
              <a:ext uri="{FF2B5EF4-FFF2-40B4-BE49-F238E27FC236}">
                <a16:creationId xmlns:a16="http://schemas.microsoft.com/office/drawing/2014/main" id="{58BEA922-F7E5-120E-04CF-53F90FDC9FE1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720000" y="3146911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pt-BR" sz="1600" dirty="0"/>
              <a:t>Fator de emissão do diesel</a:t>
            </a:r>
            <a:endParaRPr sz="1600" dirty="0"/>
          </a:p>
        </p:txBody>
      </p:sp>
      <p:sp>
        <p:nvSpPr>
          <p:cNvPr id="444" name="Google Shape;444;p43">
            <a:extLst>
              <a:ext uri="{FF2B5EF4-FFF2-40B4-BE49-F238E27FC236}">
                <a16:creationId xmlns:a16="http://schemas.microsoft.com/office/drawing/2014/main" id="{F605DD3E-8785-5F56-8E58-D67117658B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BR" dirty="0"/>
              <a:t>Parâmetros comuns</a:t>
            </a:r>
          </a:p>
        </p:txBody>
      </p:sp>
      <p:sp>
        <p:nvSpPr>
          <p:cNvPr id="445" name="Google Shape;445;p43">
            <a:extLst>
              <a:ext uri="{FF2B5EF4-FFF2-40B4-BE49-F238E27FC236}">
                <a16:creationId xmlns:a16="http://schemas.microsoft.com/office/drawing/2014/main" id="{C3029FF5-A1A0-72E2-34F4-EFF2912D8E1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67935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dirty="0"/>
              <a:t>A partir do </a:t>
            </a:r>
            <a:r>
              <a:rPr lang="pt-BR" sz="1100" b="1" dirty="0"/>
              <a:t>OpenRouteService</a:t>
            </a:r>
            <a:r>
              <a:rPr lang="pt-BR" sz="1100" dirty="0"/>
              <a:t>, origem e destino são convertidos em coordenadas geográficas (latitude e longitude).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BR" sz="1100" dirty="0"/>
              <a:t>São Paulo, SP: </a:t>
            </a:r>
            <a:r>
              <a:rPr lang="pt-BR" sz="1100" b="1" dirty="0"/>
              <a:t>[-23.558808; -46.730357]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pt-BR" sz="1100" dirty="0"/>
              <a:t>Rio Branco, AC: </a:t>
            </a:r>
            <a:r>
              <a:rPr lang="pt-BR" sz="1100" b="1" dirty="0"/>
              <a:t>[- 9.989637; - 67.822462]</a:t>
            </a:r>
          </a:p>
        </p:txBody>
      </p:sp>
      <p:sp>
        <p:nvSpPr>
          <p:cNvPr id="446" name="Google Shape;446;p43">
            <a:extLst>
              <a:ext uri="{FF2B5EF4-FFF2-40B4-BE49-F238E27FC236}">
                <a16:creationId xmlns:a16="http://schemas.microsoft.com/office/drawing/2014/main" id="{86930DF9-3608-35A8-DCA5-11715B940F69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4881166" y="1679349"/>
            <a:ext cx="3549600" cy="13559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dirty="0"/>
              <a:t>Com base nas configurações veiculares de referência da </a:t>
            </a:r>
            <a:r>
              <a:rPr lang="pt-BR" sz="1100" b="1" dirty="0"/>
              <a:t>ANTT</a:t>
            </a:r>
            <a:r>
              <a:rPr lang="pt-BR" sz="1100" dirty="0"/>
              <a:t>, o sistema seleciona automaticamente o caminhão compatível com a massa transportada.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pt-BR" sz="1100" dirty="0"/>
              <a:t>Carga transportada: </a:t>
            </a:r>
            <a:r>
              <a:rPr lang="pt-BR" sz="1100" b="1" dirty="0"/>
              <a:t>14 t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pt-BR" sz="1100" dirty="0"/>
              <a:t>Veículo selecionado: </a:t>
            </a:r>
            <a:r>
              <a:rPr lang="pt-BR" sz="1100" b="1" dirty="0"/>
              <a:t>uma carreta de 5 eixos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100" dirty="0"/>
              <a:t>Rendimento (carreta de 5 eixos): </a:t>
            </a:r>
            <a:r>
              <a:rPr lang="pt-BR" sz="1100" b="1" dirty="0"/>
              <a:t>2,30 km/L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sz="1100" b="1" dirty="0"/>
          </a:p>
        </p:txBody>
      </p:sp>
      <p:sp>
        <p:nvSpPr>
          <p:cNvPr id="447" name="Google Shape;447;p43">
            <a:extLst>
              <a:ext uri="{FF2B5EF4-FFF2-40B4-BE49-F238E27FC236}">
                <a16:creationId xmlns:a16="http://schemas.microsoft.com/office/drawing/2014/main" id="{A07819EC-9990-93C6-888E-45B86D785F34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720000" y="3411494"/>
            <a:ext cx="3549600" cy="13559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dirty="0"/>
              <a:t>Para converter o consumo de diesel em emissões, adota-se um fator de emissão derivado das diretrizes do </a:t>
            </a:r>
            <a:r>
              <a:rPr lang="en-US" sz="1100" b="1" dirty="0"/>
              <a:t>IPCC</a:t>
            </a:r>
            <a:r>
              <a:rPr lang="en-US" sz="1100" dirty="0"/>
              <a:t>, </a:t>
            </a:r>
            <a:r>
              <a:rPr lang="en-US" sz="1100" i="1" dirty="0"/>
              <a:t>Guidelines for National Greenhouse Gas Inventories</a:t>
            </a:r>
            <a:r>
              <a:rPr lang="pt-BR" sz="1100" dirty="0"/>
              <a:t>: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BR" sz="1100" dirty="0"/>
              <a:t>Fator de emissão: </a:t>
            </a:r>
            <a:r>
              <a:rPr lang="pt-BR" sz="1100" b="1" dirty="0"/>
              <a:t>2,68 kgCO₂/L</a:t>
            </a:r>
            <a:endParaRPr sz="1100" b="1" dirty="0"/>
          </a:p>
        </p:txBody>
      </p:sp>
      <p:sp>
        <p:nvSpPr>
          <p:cNvPr id="448" name="Google Shape;448;p43">
            <a:extLst>
              <a:ext uri="{FF2B5EF4-FFF2-40B4-BE49-F238E27FC236}">
                <a16:creationId xmlns:a16="http://schemas.microsoft.com/office/drawing/2014/main" id="{D6D5D8D3-01F3-1C71-51EE-4AF7C78B4BFD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881166" y="3396199"/>
            <a:ext cx="3549600" cy="13559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pt-BR" sz="1100" dirty="0"/>
              <a:t>O preço utilizado corresponde à </a:t>
            </a:r>
            <a:r>
              <a:rPr lang="pt-BR" sz="1100" b="1" dirty="0"/>
              <a:t>média</a:t>
            </a:r>
            <a:r>
              <a:rPr lang="pt-BR" sz="1100" dirty="0"/>
              <a:t> dos valores do </a:t>
            </a:r>
            <a:r>
              <a:rPr lang="pt-BR" sz="1100" b="1" dirty="0"/>
              <a:t>Diesel S10 </a:t>
            </a:r>
            <a:r>
              <a:rPr lang="pt-BR" sz="1100" dirty="0"/>
              <a:t>nas UFs de origem e destino encontrados no levantamento semanal de preços da </a:t>
            </a:r>
            <a:r>
              <a:rPr lang="pt-BR" sz="1100" b="1" dirty="0"/>
              <a:t>ANP</a:t>
            </a:r>
            <a:r>
              <a:rPr lang="pt-BR" sz="1100" dirty="0"/>
              <a:t>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pt-BR" sz="1100" dirty="0"/>
              <a:t>São Paulo: </a:t>
            </a:r>
            <a:r>
              <a:rPr lang="pt-BR" sz="1100" b="1" dirty="0"/>
              <a:t>R$ 6,12/L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pt-BR" sz="1100" dirty="0"/>
              <a:t>Acre: </a:t>
            </a:r>
            <a:r>
              <a:rPr lang="pt-BR" sz="1100" b="1" dirty="0"/>
              <a:t>R$ 7,61/L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pt-BR" sz="1100" b="1" dirty="0"/>
              <a:t>Preço médio utilizado: R$ 6,865/L</a:t>
            </a:r>
          </a:p>
        </p:txBody>
      </p:sp>
      <p:sp>
        <p:nvSpPr>
          <p:cNvPr id="449" name="Google Shape;449;p43">
            <a:extLst>
              <a:ext uri="{FF2B5EF4-FFF2-40B4-BE49-F238E27FC236}">
                <a16:creationId xmlns:a16="http://schemas.microsoft.com/office/drawing/2014/main" id="{74F55D2B-4ACE-9508-9B5F-C8D58661923D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720000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pt-BR" sz="1600" dirty="0"/>
              <a:t>Geocodificação</a:t>
            </a:r>
            <a:endParaRPr sz="1600" dirty="0"/>
          </a:p>
        </p:txBody>
      </p:sp>
      <p:sp>
        <p:nvSpPr>
          <p:cNvPr id="450" name="Google Shape;450;p43">
            <a:extLst>
              <a:ext uri="{FF2B5EF4-FFF2-40B4-BE49-F238E27FC236}">
                <a16:creationId xmlns:a16="http://schemas.microsoft.com/office/drawing/2014/main" id="{56231F66-8034-64BE-0897-9AA20FC8342D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4881127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pt-BR" sz="1600" dirty="0"/>
              <a:t>Dimensionamento rodoviário</a:t>
            </a:r>
            <a:endParaRPr sz="1600" dirty="0"/>
          </a:p>
        </p:txBody>
      </p:sp>
      <p:sp>
        <p:nvSpPr>
          <p:cNvPr id="451" name="Google Shape;451;p43">
            <a:extLst>
              <a:ext uri="{FF2B5EF4-FFF2-40B4-BE49-F238E27FC236}">
                <a16:creationId xmlns:a16="http://schemas.microsoft.com/office/drawing/2014/main" id="{A4277C71-0295-3220-56F8-0678016A754D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4881130" y="3146911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pt-BR" sz="1600" dirty="0"/>
              <a:t>Preço do diesel</a:t>
            </a:r>
          </a:p>
        </p:txBody>
      </p:sp>
      <p:sp>
        <p:nvSpPr>
          <p:cNvPr id="2" name="Google Shape;330;p35">
            <a:extLst>
              <a:ext uri="{FF2B5EF4-FFF2-40B4-BE49-F238E27FC236}">
                <a16:creationId xmlns:a16="http://schemas.microsoft.com/office/drawing/2014/main" id="{59E1E50A-066F-319F-4B01-CAAAC2FB0730}"/>
              </a:ext>
            </a:extLst>
          </p:cNvPr>
          <p:cNvSpPr txBox="1">
            <a:spLocks/>
          </p:cNvSpPr>
          <p:nvPr/>
        </p:nvSpPr>
        <p:spPr>
          <a:xfrm>
            <a:off x="720000" y="982320"/>
            <a:ext cx="5657575" cy="317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pt-BR" sz="1000" dirty="0"/>
              <a:t>Parâmetros compartilhados pelos trechos rodoviários das duas alternativas</a:t>
            </a:r>
            <a:r>
              <a:rPr lang="pt-BR" sz="1000" i="1" dirty="0"/>
              <a:t>.</a:t>
            </a:r>
            <a:endParaRPr lang="en-US" sz="1000" i="1" dirty="0"/>
          </a:p>
        </p:txBody>
      </p:sp>
    </p:spTree>
    <p:extLst>
      <p:ext uri="{BB962C8B-B14F-4D97-AF65-F5344CB8AC3E}">
        <p14:creationId xmlns:p14="http://schemas.microsoft.com/office/powerpoint/2010/main" val="3473974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AE8F41B1-EE2B-E3F7-75C4-400C142F6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5">
            <a:extLst>
              <a:ext uri="{FF2B5EF4-FFF2-40B4-BE49-F238E27FC236}">
                <a16:creationId xmlns:a16="http://schemas.microsoft.com/office/drawing/2014/main" id="{A0AA022E-E61F-AF0C-909A-7C41D2CFE0C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Alternativa A:</a:t>
            </a:r>
            <a:br>
              <a:rPr lang="en" dirty="0"/>
            </a:br>
            <a:r>
              <a:rPr lang="en" dirty="0"/>
              <a:t>Rodoviária Direta</a:t>
            </a:r>
            <a:endParaRPr dirty="0"/>
          </a:p>
        </p:txBody>
      </p:sp>
      <p:sp>
        <p:nvSpPr>
          <p:cNvPr id="330" name="Google Shape;330;p35">
            <a:extLst>
              <a:ext uri="{FF2B5EF4-FFF2-40B4-BE49-F238E27FC236}">
                <a16:creationId xmlns:a16="http://schemas.microsoft.com/office/drawing/2014/main" id="{5BBDCE7F-02B1-3F7E-BA63-D4D166AA9E3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42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/>
            <a:r>
              <a:rPr lang="pt-BR" dirty="0"/>
              <a:t>Cálculo da distância, consumo, custo e emissões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446867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>
          <a:extLst>
            <a:ext uri="{FF2B5EF4-FFF2-40B4-BE49-F238E27FC236}">
              <a16:creationId xmlns:a16="http://schemas.microsoft.com/office/drawing/2014/main" id="{5559A1B1-1D25-AF2C-724E-55257E3D0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8">
            <a:extLst>
              <a:ext uri="{FF2B5EF4-FFF2-40B4-BE49-F238E27FC236}">
                <a16:creationId xmlns:a16="http://schemas.microsoft.com/office/drawing/2014/main" id="{AD50AEB2-15F5-7F85-77B7-E29F81FF58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987538"/>
            <a:ext cx="4294800" cy="106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pt-BR" dirty="0"/>
              <a:t>Rota rodoviária direta</a:t>
            </a:r>
            <a:endParaRPr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64" name="Google Shape;364;p38">
            <a:extLst>
              <a:ext uri="{FF2B5EF4-FFF2-40B4-BE49-F238E27FC236}">
                <a16:creationId xmlns:a16="http://schemas.microsoft.com/office/drawing/2014/main" id="{58BFCA63-880F-7B07-EE2B-FFA392FDAA7A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713225" y="2109675"/>
            <a:ext cx="4294800" cy="89676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dirty="0">
                <a:latin typeface="Poppins" panose="00000500000000000000" pitchFamily="2" charset="0"/>
                <a:cs typeface="Poppins" panose="00000500000000000000" pitchFamily="2" charset="0"/>
              </a:rPr>
              <a:t>A partir das coordenadas geográficas da origem e do destino, o sistema consulta um serviço de roteamento para calcular a distância pela malha rodoviária. A partir da distância calculada, o consumo de diesel é estimado pelo rendimento do veículo. Em seguida, são aplicados o preço médio do combustível e o fator de emissão para obter o custo e as emissões da rota.</a:t>
            </a:r>
            <a:endParaRPr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graphicFrame>
        <p:nvGraphicFramePr>
          <p:cNvPr id="5" name="Google Shape;336;p36">
            <a:extLst>
              <a:ext uri="{FF2B5EF4-FFF2-40B4-BE49-F238E27FC236}">
                <a16:creationId xmlns:a16="http://schemas.microsoft.com/office/drawing/2014/main" id="{93607F4F-5D24-7A93-EAFA-6ABF26B4ECD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73327924"/>
              </p:ext>
            </p:extLst>
          </p:nvPr>
        </p:nvGraphicFramePr>
        <p:xfrm>
          <a:off x="713225" y="4012718"/>
          <a:ext cx="2313709" cy="723050"/>
        </p:xfrm>
        <a:graphic>
          <a:graphicData uri="http://schemas.openxmlformats.org/drawingml/2006/table">
            <a:tbl>
              <a:tblPr>
                <a:noFill/>
                <a:tableStyleId>{F3E31DBF-9C51-4A74-9153-B9460B38124B}</a:tableStyleId>
              </a:tblPr>
              <a:tblGrid>
                <a:gridCol w="845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85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dirty="0">
                          <a:solidFill>
                            <a:schemeClr val="accent6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Origem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sz="1200" b="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São Paulo, SP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dirty="0">
                          <a:solidFill>
                            <a:schemeClr val="accent6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Destino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b="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Rio Branco, AC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6" name="Google Shape;5128;p69">
            <a:extLst>
              <a:ext uri="{FF2B5EF4-FFF2-40B4-BE49-F238E27FC236}">
                <a16:creationId xmlns:a16="http://schemas.microsoft.com/office/drawing/2014/main" id="{DEDE4942-B8CD-4495-6115-AD18B106D0B3}"/>
              </a:ext>
            </a:extLst>
          </p:cNvPr>
          <p:cNvGrpSpPr/>
          <p:nvPr/>
        </p:nvGrpSpPr>
        <p:grpSpPr>
          <a:xfrm>
            <a:off x="4451264" y="4000835"/>
            <a:ext cx="339253" cy="268649"/>
            <a:chOff x="2085525" y="3263750"/>
            <a:chExt cx="481825" cy="381550"/>
          </a:xfrm>
        </p:grpSpPr>
        <p:sp>
          <p:nvSpPr>
            <p:cNvPr id="7" name="Google Shape;5129;p69">
              <a:extLst>
                <a:ext uri="{FF2B5EF4-FFF2-40B4-BE49-F238E27FC236}">
                  <a16:creationId xmlns:a16="http://schemas.microsoft.com/office/drawing/2014/main" id="{2F0EDB96-4576-B6C0-F0A6-E8E0522AF9E8}"/>
                </a:ext>
              </a:extLst>
            </p:cNvPr>
            <p:cNvSpPr/>
            <p:nvPr/>
          </p:nvSpPr>
          <p:spPr>
            <a:xfrm>
              <a:off x="2320325" y="3263750"/>
              <a:ext cx="227825" cy="141025"/>
            </a:xfrm>
            <a:custGeom>
              <a:avLst/>
              <a:gdLst/>
              <a:ahLst/>
              <a:cxnLst/>
              <a:rect l="l" t="t" r="r" b="b"/>
              <a:pathLst>
                <a:path w="9113" h="5641" extrusionOk="0">
                  <a:moveTo>
                    <a:pt x="4066" y="0"/>
                  </a:moveTo>
                  <a:cubicBezTo>
                    <a:pt x="2283" y="3"/>
                    <a:pt x="675" y="1081"/>
                    <a:pt x="0" y="2731"/>
                  </a:cubicBezTo>
                  <a:cubicBezTo>
                    <a:pt x="1527" y="2939"/>
                    <a:pt x="2912" y="3734"/>
                    <a:pt x="3861" y="4948"/>
                  </a:cubicBezTo>
                  <a:cubicBezTo>
                    <a:pt x="4331" y="4823"/>
                    <a:pt x="4810" y="4761"/>
                    <a:pt x="5287" y="4761"/>
                  </a:cubicBezTo>
                  <a:cubicBezTo>
                    <a:pt x="6338" y="4761"/>
                    <a:pt x="7378" y="5060"/>
                    <a:pt x="8281" y="5640"/>
                  </a:cubicBezTo>
                  <a:cubicBezTo>
                    <a:pt x="9112" y="2825"/>
                    <a:pt x="7002" y="0"/>
                    <a:pt x="40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8" name="Google Shape;5130;p69">
              <a:extLst>
                <a:ext uri="{FF2B5EF4-FFF2-40B4-BE49-F238E27FC236}">
                  <a16:creationId xmlns:a16="http://schemas.microsoft.com/office/drawing/2014/main" id="{31E0EE52-FFE0-A870-A7F7-88A9269133E7}"/>
                </a:ext>
              </a:extLst>
            </p:cNvPr>
            <p:cNvSpPr/>
            <p:nvPr/>
          </p:nvSpPr>
          <p:spPr>
            <a:xfrm>
              <a:off x="2085525" y="3355200"/>
              <a:ext cx="481825" cy="290100"/>
            </a:xfrm>
            <a:custGeom>
              <a:avLst/>
              <a:gdLst/>
              <a:ahLst/>
              <a:cxnLst/>
              <a:rect l="l" t="t" r="r" b="b"/>
              <a:pathLst>
                <a:path w="19273" h="11604" extrusionOk="0">
                  <a:moveTo>
                    <a:pt x="8620" y="1"/>
                  </a:moveTo>
                  <a:cubicBezTo>
                    <a:pt x="8610" y="1"/>
                    <a:pt x="8599" y="1"/>
                    <a:pt x="8588" y="1"/>
                  </a:cubicBezTo>
                  <a:cubicBezTo>
                    <a:pt x="7468" y="4"/>
                    <a:pt x="6384" y="407"/>
                    <a:pt x="5535" y="1139"/>
                  </a:cubicBezTo>
                  <a:cubicBezTo>
                    <a:pt x="4818" y="1756"/>
                    <a:pt x="4288" y="2563"/>
                    <a:pt x="4005" y="3470"/>
                  </a:cubicBezTo>
                  <a:lnTo>
                    <a:pt x="3891" y="3470"/>
                  </a:lnTo>
                  <a:cubicBezTo>
                    <a:pt x="1747" y="3470"/>
                    <a:pt x="0" y="5295"/>
                    <a:pt x="0" y="7538"/>
                  </a:cubicBezTo>
                  <a:cubicBezTo>
                    <a:pt x="0" y="9781"/>
                    <a:pt x="1744" y="11603"/>
                    <a:pt x="3891" y="11603"/>
                  </a:cubicBezTo>
                  <a:lnTo>
                    <a:pt x="14798" y="11603"/>
                  </a:lnTo>
                  <a:cubicBezTo>
                    <a:pt x="17264" y="11603"/>
                    <a:pt x="19272" y="9504"/>
                    <a:pt x="19272" y="6924"/>
                  </a:cubicBezTo>
                  <a:cubicBezTo>
                    <a:pt x="19272" y="6044"/>
                    <a:pt x="19034" y="5180"/>
                    <a:pt x="18583" y="4427"/>
                  </a:cubicBezTo>
                  <a:cubicBezTo>
                    <a:pt x="18152" y="3705"/>
                    <a:pt x="17529" y="3118"/>
                    <a:pt x="16782" y="2726"/>
                  </a:cubicBezTo>
                  <a:cubicBezTo>
                    <a:pt x="16161" y="2403"/>
                    <a:pt x="15480" y="2241"/>
                    <a:pt x="14799" y="2241"/>
                  </a:cubicBezTo>
                  <a:cubicBezTo>
                    <a:pt x="14135" y="2241"/>
                    <a:pt x="13471" y="2394"/>
                    <a:pt x="12861" y="2702"/>
                  </a:cubicBezTo>
                  <a:cubicBezTo>
                    <a:pt x="12232" y="1443"/>
                    <a:pt x="11118" y="513"/>
                    <a:pt x="9784" y="157"/>
                  </a:cubicBezTo>
                  <a:cubicBezTo>
                    <a:pt x="9403" y="55"/>
                    <a:pt x="9013" y="1"/>
                    <a:pt x="86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4F8D157-EC14-EC99-F5D8-33836A3D6254}"/>
              </a:ext>
            </a:extLst>
          </p:cNvPr>
          <p:cNvCxnSpPr>
            <a:cxnSpLocks/>
            <a:stCxn id="5" idx="3"/>
            <a:endCxn id="16" idx="1"/>
          </p:cNvCxnSpPr>
          <p:nvPr/>
        </p:nvCxnSpPr>
        <p:spPr>
          <a:xfrm flipV="1">
            <a:off x="3026934" y="4369790"/>
            <a:ext cx="788580" cy="44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364;p38">
            <a:extLst>
              <a:ext uri="{FF2B5EF4-FFF2-40B4-BE49-F238E27FC236}">
                <a16:creationId xmlns:a16="http://schemas.microsoft.com/office/drawing/2014/main" id="{966737F7-D1AA-C899-54FA-3C17FE9ADBB4}"/>
              </a:ext>
            </a:extLst>
          </p:cNvPr>
          <p:cNvSpPr txBox="1">
            <a:spLocks/>
          </p:cNvSpPr>
          <p:nvPr/>
        </p:nvSpPr>
        <p:spPr>
          <a:xfrm>
            <a:off x="3815514" y="4190997"/>
            <a:ext cx="1615898" cy="3575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AutoNum type="arabi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>
              <a:buSzPts val="1100"/>
              <a:buFont typeface="Arial"/>
              <a:buNone/>
            </a:pPr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OpenRouteService</a:t>
            </a:r>
          </a:p>
        </p:txBody>
      </p: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CDBF7265-4F3E-237A-0F01-917B7BC2BA3F}"/>
              </a:ext>
            </a:extLst>
          </p:cNvPr>
          <p:cNvCxnSpPr>
            <a:cxnSpLocks/>
            <a:stCxn id="16" idx="3"/>
            <a:endCxn id="21" idx="1"/>
          </p:cNvCxnSpPr>
          <p:nvPr/>
        </p:nvCxnSpPr>
        <p:spPr>
          <a:xfrm flipV="1">
            <a:off x="5431412" y="4367827"/>
            <a:ext cx="766718" cy="1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Google Shape;336;p36">
            <a:extLst>
              <a:ext uri="{FF2B5EF4-FFF2-40B4-BE49-F238E27FC236}">
                <a16:creationId xmlns:a16="http://schemas.microsoft.com/office/drawing/2014/main" id="{F3485249-0949-9A0C-6561-6C7AC9EB4C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35090029"/>
              </p:ext>
            </p:extLst>
          </p:nvPr>
        </p:nvGraphicFramePr>
        <p:xfrm>
          <a:off x="6198130" y="4011913"/>
          <a:ext cx="1288470" cy="711828"/>
        </p:xfrm>
        <a:graphic>
          <a:graphicData uri="http://schemas.openxmlformats.org/drawingml/2006/table">
            <a:tbl>
              <a:tblPr>
                <a:noFill/>
                <a:tableStyleId>{F3E31DBF-9C51-4A74-9153-B9460B38124B}</a:tableStyleId>
              </a:tblPr>
              <a:tblGrid>
                <a:gridCol w="12884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5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dirty="0">
                          <a:solidFill>
                            <a:schemeClr val="accent6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Distância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474769"/>
                  </a:ext>
                </a:extLst>
              </a:tr>
              <a:tr h="3559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sz="1200" b="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3.491,43 km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3" name="Imagem 22">
            <a:extLst>
              <a:ext uri="{FF2B5EF4-FFF2-40B4-BE49-F238E27FC236}">
                <a16:creationId xmlns:a16="http://schemas.microsoft.com/office/drawing/2014/main" id="{D8BEDF76-3C72-44F8-B309-0EF19D9300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180" y="243173"/>
            <a:ext cx="3099058" cy="2157084"/>
          </a:xfrm>
          <a:prstGeom prst="rect">
            <a:avLst/>
          </a:prstGeom>
        </p:spPr>
      </p:pic>
      <p:sp>
        <p:nvSpPr>
          <p:cNvPr id="24" name="Google Shape;364;p38">
            <a:extLst>
              <a:ext uri="{FF2B5EF4-FFF2-40B4-BE49-F238E27FC236}">
                <a16:creationId xmlns:a16="http://schemas.microsoft.com/office/drawing/2014/main" id="{3130057A-CA14-ADB8-8A7D-AE816D661E16}"/>
              </a:ext>
            </a:extLst>
          </p:cNvPr>
          <p:cNvSpPr txBox="1">
            <a:spLocks/>
          </p:cNvSpPr>
          <p:nvPr/>
        </p:nvSpPr>
        <p:spPr>
          <a:xfrm>
            <a:off x="5888180" y="0"/>
            <a:ext cx="3099058" cy="236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AutoNum type="arabi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 algn="ctr">
              <a:buSzPts val="1100"/>
              <a:buFont typeface="Arial"/>
              <a:buNone/>
            </a:pPr>
            <a:r>
              <a:rPr lang="pt-BR" sz="900" i="1" dirty="0">
                <a:latin typeface="Poppins" panose="00000500000000000000" pitchFamily="2" charset="0"/>
                <a:cs typeface="Poppins" panose="00000500000000000000" pitchFamily="2" charset="0"/>
              </a:rPr>
              <a:t>Fonte para comparação: Google Maps</a:t>
            </a:r>
          </a:p>
        </p:txBody>
      </p:sp>
    </p:spTree>
    <p:extLst>
      <p:ext uri="{BB962C8B-B14F-4D97-AF65-F5344CB8AC3E}">
        <p14:creationId xmlns:p14="http://schemas.microsoft.com/office/powerpoint/2010/main" val="35446453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>
          <a:extLst>
            <a:ext uri="{FF2B5EF4-FFF2-40B4-BE49-F238E27FC236}">
              <a16:creationId xmlns:a16="http://schemas.microsoft.com/office/drawing/2014/main" id="{CAFC0C1E-BB3F-668F-FC2A-1E28346E1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6">
            <a:extLst>
              <a:ext uri="{FF2B5EF4-FFF2-40B4-BE49-F238E27FC236}">
                <a16:creationId xmlns:a16="http://schemas.microsoft.com/office/drawing/2014/main" id="{5A53E0E0-F105-6832-637F-06FA86FED0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888777"/>
            <a:ext cx="9144000" cy="104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pt-BR" dirty="0"/>
              <a:t>4.07t CO₂e</a:t>
            </a:r>
          </a:p>
        </p:txBody>
      </p:sp>
      <p:sp>
        <p:nvSpPr>
          <p:cNvPr id="484" name="Google Shape;484;p46">
            <a:extLst>
              <a:ext uri="{FF2B5EF4-FFF2-40B4-BE49-F238E27FC236}">
                <a16:creationId xmlns:a16="http://schemas.microsoft.com/office/drawing/2014/main" id="{10BD961C-884E-C2D8-AD80-F269D5B2461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0" y="1932477"/>
            <a:ext cx="9144000" cy="43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Emissão de carbono na alternativa rodoviária direta</a:t>
            </a:r>
          </a:p>
        </p:txBody>
      </p:sp>
      <p:sp>
        <p:nvSpPr>
          <p:cNvPr id="2" name="Google Shape;483;p46">
            <a:extLst>
              <a:ext uri="{FF2B5EF4-FFF2-40B4-BE49-F238E27FC236}">
                <a16:creationId xmlns:a16="http://schemas.microsoft.com/office/drawing/2014/main" id="{C8023766-BB7C-9245-8823-FF05C117F41C}"/>
              </a:ext>
            </a:extLst>
          </p:cNvPr>
          <p:cNvSpPr txBox="1">
            <a:spLocks/>
          </p:cNvSpPr>
          <p:nvPr/>
        </p:nvSpPr>
        <p:spPr>
          <a:xfrm>
            <a:off x="0" y="2779924"/>
            <a:ext cx="9144000" cy="10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6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pt-BR" dirty="0"/>
              <a:t>R$ 10.421</a:t>
            </a:r>
          </a:p>
        </p:txBody>
      </p:sp>
      <p:sp>
        <p:nvSpPr>
          <p:cNvPr id="3" name="Google Shape;484;p46">
            <a:extLst>
              <a:ext uri="{FF2B5EF4-FFF2-40B4-BE49-F238E27FC236}">
                <a16:creationId xmlns:a16="http://schemas.microsoft.com/office/drawing/2014/main" id="{979A3F84-A0F4-8630-684C-D8CACCBD6AAB}"/>
              </a:ext>
            </a:extLst>
          </p:cNvPr>
          <p:cNvSpPr txBox="1">
            <a:spLocks/>
          </p:cNvSpPr>
          <p:nvPr/>
        </p:nvSpPr>
        <p:spPr>
          <a:xfrm>
            <a:off x="0" y="3823624"/>
            <a:ext cx="9144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en" dirty="0"/>
              <a:t>Custo estimado do diesel na alternativa rodoviária direta</a:t>
            </a:r>
          </a:p>
        </p:txBody>
      </p:sp>
    </p:spTree>
    <p:extLst>
      <p:ext uri="{BB962C8B-B14F-4D97-AF65-F5344CB8AC3E}">
        <p14:creationId xmlns:p14="http://schemas.microsoft.com/office/powerpoint/2010/main" val="28580469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CCFA5B-FF7B-EE63-77BB-9BC4E29C0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2012A85-58F1-111A-AE49-D9A54077B68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Imagem 3">
            <a:extLst>
              <a:ext uri="{FF2B5EF4-FFF2-40B4-BE49-F238E27FC236}">
                <a16:creationId xmlns:a16="http://schemas.microsoft.com/office/drawing/2014/main" id="{BF137960-28CE-A4FF-7839-DA4676E2F92B}"/>
              </a:ext>
            </a:extLst>
          </p:cNvPr>
          <p:cNvSpPr>
            <a:spLocks noGrp="1"/>
          </p:cNvSpPr>
          <p:nvPr>
            <p:ph type="pic" idx="2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37102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505F5346-EFD1-E363-B0E8-70B041F9D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5">
            <a:extLst>
              <a:ext uri="{FF2B5EF4-FFF2-40B4-BE49-F238E27FC236}">
                <a16:creationId xmlns:a16="http://schemas.microsoft.com/office/drawing/2014/main" id="{EFE7F7D2-921F-FB5C-0BE3-0E92E4EBEA4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Alternativa B: Multimodal</a:t>
            </a:r>
            <a:endParaRPr dirty="0"/>
          </a:p>
        </p:txBody>
      </p:sp>
      <p:sp>
        <p:nvSpPr>
          <p:cNvPr id="330" name="Google Shape;330;p35">
            <a:extLst>
              <a:ext uri="{FF2B5EF4-FFF2-40B4-BE49-F238E27FC236}">
                <a16:creationId xmlns:a16="http://schemas.microsoft.com/office/drawing/2014/main" id="{0570BF8F-EECA-65FE-7238-50380D30996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42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Integração entre trechos rodoviários e transporte por cabotagem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339370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>
          <a:extLst>
            <a:ext uri="{FF2B5EF4-FFF2-40B4-BE49-F238E27FC236}">
              <a16:creationId xmlns:a16="http://schemas.microsoft.com/office/drawing/2014/main" id="{4A31CFD1-1975-1C12-6E35-58C6F803F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43">
            <a:extLst>
              <a:ext uri="{FF2B5EF4-FFF2-40B4-BE49-F238E27FC236}">
                <a16:creationId xmlns:a16="http://schemas.microsoft.com/office/drawing/2014/main" id="{ABD2B0DD-BDB1-6975-ACAA-9BB9D1E499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BR" dirty="0"/>
              <a:t>Seleção de portos</a:t>
            </a:r>
          </a:p>
        </p:txBody>
      </p:sp>
      <p:sp>
        <p:nvSpPr>
          <p:cNvPr id="445" name="Google Shape;445;p43">
            <a:extLst>
              <a:ext uri="{FF2B5EF4-FFF2-40B4-BE49-F238E27FC236}">
                <a16:creationId xmlns:a16="http://schemas.microsoft.com/office/drawing/2014/main" id="{4902A740-86AA-99D6-F3C9-97CF36F3133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679350"/>
            <a:ext cx="3207764" cy="27541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dirty="0"/>
              <a:t>A partir das coordenadas da origem e do destino, o sistema compara sua posição com a geolocalização dos portos brasileiros atendidos por rotas de cabotagem conteinerizada.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1100" dirty="0"/>
          </a:p>
          <a:p>
            <a:r>
              <a:rPr lang="pt-BR" sz="1100" b="1" dirty="0"/>
              <a:t>Origem - São Paulo, SP:</a:t>
            </a:r>
            <a:endParaRPr lang="pt-BR" sz="11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Porto selecionado: </a:t>
            </a:r>
            <a:r>
              <a:rPr lang="pt-BR" sz="1100" b="1" dirty="0"/>
              <a:t>Porto de Santos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Distância geográfica: </a:t>
            </a:r>
            <a:r>
              <a:rPr lang="pt-BR" sz="1100" b="1" dirty="0"/>
              <a:t>59,60 km</a:t>
            </a:r>
            <a:r>
              <a:rPr lang="pt-BR" sz="1100" dirty="0"/>
              <a:t> </a:t>
            </a:r>
          </a:p>
          <a:p>
            <a:endParaRPr lang="pt-BR" sz="1100" dirty="0"/>
          </a:p>
          <a:p>
            <a:r>
              <a:rPr lang="pt-BR" sz="1100" b="1" dirty="0"/>
              <a:t>Destino - Rio Branco, AC</a:t>
            </a:r>
            <a:endParaRPr lang="pt-BR" sz="11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Porto selecionado: </a:t>
            </a:r>
            <a:r>
              <a:rPr lang="pt-BR" sz="1100" b="1" dirty="0"/>
              <a:t>Porto de Manaus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Distância geográfica: </a:t>
            </a:r>
            <a:r>
              <a:rPr lang="pt-BR" sz="1100" b="1" dirty="0"/>
              <a:t>1.149,57 km</a:t>
            </a:r>
            <a:r>
              <a:rPr lang="pt-BR" sz="1100" dirty="0"/>
              <a:t> </a:t>
            </a:r>
          </a:p>
        </p:txBody>
      </p:sp>
      <p:sp>
        <p:nvSpPr>
          <p:cNvPr id="2" name="Google Shape;330;p35">
            <a:extLst>
              <a:ext uri="{FF2B5EF4-FFF2-40B4-BE49-F238E27FC236}">
                <a16:creationId xmlns:a16="http://schemas.microsoft.com/office/drawing/2014/main" id="{F4C3094B-2E25-BA11-F159-05030D0E9883}"/>
              </a:ext>
            </a:extLst>
          </p:cNvPr>
          <p:cNvSpPr txBox="1">
            <a:spLocks/>
          </p:cNvSpPr>
          <p:nvPr/>
        </p:nvSpPr>
        <p:spPr>
          <a:xfrm>
            <a:off x="720000" y="982320"/>
            <a:ext cx="5657575" cy="317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pt-BR" sz="1000" i="1" dirty="0"/>
              <a:t>Escolha dos portos de embarque e desembarque da carga</a:t>
            </a:r>
            <a:endParaRPr lang="en-US" sz="1000" i="1" dirty="0"/>
          </a:p>
        </p:txBody>
      </p:sp>
      <p:sp>
        <p:nvSpPr>
          <p:cNvPr id="17" name="Chave Esquerda 16">
            <a:extLst>
              <a:ext uri="{FF2B5EF4-FFF2-40B4-BE49-F238E27FC236}">
                <a16:creationId xmlns:a16="http://schemas.microsoft.com/office/drawing/2014/main" id="{6CBBE765-9790-E86D-55C8-BB79A7775D09}"/>
              </a:ext>
            </a:extLst>
          </p:cNvPr>
          <p:cNvSpPr/>
          <p:nvPr/>
        </p:nvSpPr>
        <p:spPr>
          <a:xfrm>
            <a:off x="4312009" y="1555020"/>
            <a:ext cx="318654" cy="3210944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Google Shape;445;p43">
            <a:extLst>
              <a:ext uri="{FF2B5EF4-FFF2-40B4-BE49-F238E27FC236}">
                <a16:creationId xmlns:a16="http://schemas.microsoft.com/office/drawing/2014/main" id="{E3FD0E88-6DCC-BB3A-57FB-EF8D119EC318}"/>
              </a:ext>
            </a:extLst>
          </p:cNvPr>
          <p:cNvSpPr txBox="1">
            <a:spLocks/>
          </p:cNvSpPr>
          <p:nvPr/>
        </p:nvSpPr>
        <p:spPr>
          <a:xfrm>
            <a:off x="4904072" y="1555020"/>
            <a:ext cx="3616473" cy="2924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pt-BR" sz="1100" dirty="0"/>
              <a:t>Assim como na alternativa rodoviária direta, as coordenadas dos portos de origem e de destino são utilizadas para calcular as duas pernas rodoviárias da alternativa multimodal.</a:t>
            </a:r>
          </a:p>
          <a:p>
            <a:pPr marL="0" indent="0"/>
            <a:endParaRPr lang="pt-BR" sz="1100" dirty="0"/>
          </a:p>
          <a:p>
            <a:r>
              <a:rPr lang="pt-BR" sz="1100" b="1" dirty="0"/>
              <a:t>Origem até o porto de embarque</a:t>
            </a:r>
          </a:p>
          <a:p>
            <a:r>
              <a:rPr lang="pt-BR" sz="1100" b="1" dirty="0"/>
              <a:t>São Paulo → Porto de Santos</a:t>
            </a:r>
            <a:endParaRPr lang="pt-BR" sz="11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Distância rodoviária (ORS): </a:t>
            </a:r>
            <a:r>
              <a:rPr lang="pt-BR" sz="1100" b="1" dirty="0"/>
              <a:t>86,17 km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Consumo de diesel: </a:t>
            </a:r>
            <a:r>
              <a:rPr lang="pt-BR" sz="1100" b="1" dirty="0"/>
              <a:t>37,47 L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Emissões: </a:t>
            </a:r>
            <a:r>
              <a:rPr lang="pt-BR" sz="1100" b="1" dirty="0"/>
              <a:t>100,41 kg </a:t>
            </a:r>
            <a:r>
              <a:rPr lang="pt-BR" sz="1100" b="1" dirty="0" err="1"/>
              <a:t>CO₂e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Custo estimado: </a:t>
            </a:r>
            <a:r>
              <a:rPr lang="pt-BR" sz="1100" b="1" dirty="0"/>
              <a:t>R$ 257,20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pt-BR" sz="1100" dirty="0"/>
          </a:p>
          <a:p>
            <a:r>
              <a:rPr lang="pt-BR" sz="1100" b="1" dirty="0"/>
              <a:t>Porto de desembarque até o destino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b="1" dirty="0"/>
              <a:t>Porto de Manaus → Rio Branco</a:t>
            </a:r>
            <a:endParaRPr lang="pt-BR" sz="11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Distância rodoviária (ORS): </a:t>
            </a:r>
            <a:r>
              <a:rPr lang="pt-BR" sz="1100" b="1" dirty="0"/>
              <a:t>1.403,69 km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Consumo de diesel: </a:t>
            </a:r>
            <a:r>
              <a:rPr lang="pt-BR" sz="1100" b="1" dirty="0"/>
              <a:t>610,30 L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Emissões: </a:t>
            </a:r>
            <a:r>
              <a:rPr lang="pt-BR" sz="1100" b="1" dirty="0"/>
              <a:t>1.635,60 kg </a:t>
            </a:r>
            <a:r>
              <a:rPr lang="pt-BR" sz="1100" b="1" dirty="0" err="1"/>
              <a:t>CO₂e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Custo estimado: </a:t>
            </a:r>
            <a:r>
              <a:rPr lang="pt-BR" sz="1100" b="1" dirty="0"/>
              <a:t>R$ 4.189,71</a:t>
            </a:r>
            <a:endParaRPr lang="pt-BR" sz="1100" dirty="0"/>
          </a:p>
          <a:p>
            <a:pPr marL="0" indent="0"/>
            <a:endParaRPr lang="pt-BR" sz="1100" dirty="0"/>
          </a:p>
        </p:txBody>
      </p:sp>
    </p:spTree>
    <p:extLst>
      <p:ext uri="{BB962C8B-B14F-4D97-AF65-F5344CB8AC3E}">
        <p14:creationId xmlns:p14="http://schemas.microsoft.com/office/powerpoint/2010/main" val="22241895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>
          <a:extLst>
            <a:ext uri="{FF2B5EF4-FFF2-40B4-BE49-F238E27FC236}">
              <a16:creationId xmlns:a16="http://schemas.microsoft.com/office/drawing/2014/main" id="{1D46D1EA-4DAE-7336-DC14-F9E1FA3DA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64" name="Google Shape;364;p38">
                <a:extLst>
                  <a:ext uri="{FF2B5EF4-FFF2-40B4-BE49-F238E27FC236}">
                    <a16:creationId xmlns:a16="http://schemas.microsoft.com/office/drawing/2014/main" id="{C8A75B6E-2731-5702-4908-D2F72B3D85A7}"/>
                  </a:ext>
                </a:extLst>
              </p:cNvPr>
              <p:cNvSpPr txBox="1">
                <a:spLocks noGrp="1"/>
              </p:cNvSpPr>
              <p:nvPr>
                <p:ph type="subTitle" idx="3"/>
              </p:nvPr>
            </p:nvSpPr>
            <p:spPr>
              <a:xfrm>
                <a:off x="720000" y="1112200"/>
                <a:ext cx="6927710" cy="3611088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>
                  <a:buSzPts val="1100"/>
                  <a:buNone/>
                </a:pPr>
                <a:r>
                  <a:rPr lang="pt-BR" dirty="0"/>
                  <a:t>Os dados de consumo marítimo são obtidos do </a:t>
                </a:r>
                <a:r>
                  <a:rPr lang="pt-BR" b="1" dirty="0"/>
                  <a:t>EU MRV</a:t>
                </a:r>
                <a:r>
                  <a:rPr lang="pt-BR" dirty="0"/>
                  <a:t> (</a:t>
                </a:r>
                <a:r>
                  <a:rPr lang="pt-BR" i="1" dirty="0"/>
                  <a:t>European Union </a:t>
                </a:r>
                <a:r>
                  <a:rPr lang="pt-BR" i="1" dirty="0" err="1"/>
                  <a:t>Monitoring</a:t>
                </a:r>
                <a:r>
                  <a:rPr lang="pt-BR" i="1" dirty="0"/>
                  <a:t>, </a:t>
                </a:r>
                <a:r>
                  <a:rPr lang="pt-BR" i="1" dirty="0" err="1"/>
                  <a:t>Reporting</a:t>
                </a:r>
                <a:r>
                  <a:rPr lang="pt-BR" i="1" dirty="0"/>
                  <a:t> </a:t>
                </a:r>
                <a:r>
                  <a:rPr lang="pt-BR" i="1" dirty="0" err="1"/>
                  <a:t>and</a:t>
                </a:r>
                <a:r>
                  <a:rPr lang="pt-BR" i="1" dirty="0"/>
                  <a:t> </a:t>
                </a:r>
                <a:r>
                  <a:rPr lang="pt-BR" i="1" dirty="0" err="1"/>
                  <a:t>Verification</a:t>
                </a:r>
                <a:r>
                  <a:rPr lang="pt-BR" dirty="0"/>
                  <a:t>), sistema oficial da União Europeia para monitoramento, reporte e verificação das emissões e do consumo de combustível de navios.</a:t>
                </a:r>
                <a:endParaRPr lang="pt-BR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0" lvl="0" indent="0">
                  <a:buSzPts val="1100"/>
                  <a:buNone/>
                </a:pPr>
                <a:endParaRPr lang="pt-BR" dirty="0"/>
              </a:p>
              <a:p>
                <a:pPr marL="0" lvl="0" indent="0">
                  <a:buSzPts val="1100"/>
                  <a:buNone/>
                </a:pPr>
                <a:r>
                  <a:rPr lang="pt-BR" dirty="0"/>
                  <a:t>Cada registro é identificado pelo número </a:t>
                </a:r>
                <a:r>
                  <a:rPr lang="pt-BR" b="1" dirty="0"/>
                  <a:t>IMO</a:t>
                </a:r>
                <a:r>
                  <a:rPr lang="pt-BR" dirty="0"/>
                  <a:t> e fornece a intensidade de consumo em </a:t>
                </a:r>
                <a:r>
                  <a:rPr lang="pt-BR" b="1" dirty="0"/>
                  <a:t>g/(</a:t>
                </a:r>
                <a:r>
                  <a:rPr lang="pt-BR" b="1" dirty="0" err="1"/>
                  <a:t>t·nm</a:t>
                </a:r>
                <a:r>
                  <a:rPr lang="pt-BR" b="1" dirty="0"/>
                  <a:t>)</a:t>
                </a:r>
                <a:r>
                  <a:rPr lang="pt-BR" dirty="0"/>
                  <a:t>:</a:t>
                </a:r>
              </a:p>
              <a:p>
                <a:pPr marL="0" lvl="0" indent="0">
                  <a:buSzPts val="1100"/>
                  <a:buNone/>
                </a:pPr>
                <a:endParaRPr lang="pt-BR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0" lvl="0" indent="0">
                  <a:buSzPts val="11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𝐶𝑜𝑚𝑏𝑢𝑠𝑡</m:t>
                      </m:r>
                      <m:r>
                        <a:rPr lang="pt-BR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í</m:t>
                      </m:r>
                      <m:r>
                        <a:rPr lang="pt-BR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𝑣𝑒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𝑙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𝑘𝑔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𝐼𝑛𝑡𝑒𝑛𝑠𝑖𝑑𝑎𝑑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𝑔</m:t>
                              </m:r>
                              <m:r>
                                <m:rPr>
                                  <m:lit/>
                                </m:rP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/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⋅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𝑛𝑚</m:t>
                                  </m:r>
                                </m:e>
                              </m:d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𝐶𝑎𝑟𝑔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𝐷𝑖𝑠𝑡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â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𝑛𝑐𝑖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𝑛𝑚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0" lvl="0" indent="0">
                  <a:buSzPts val="1100"/>
                  <a:buNone/>
                </a:pPr>
                <a:endParaRPr lang="pt-BR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0" lvl="0" indent="0">
                  <a:buSzPts val="1100"/>
                  <a:buNone/>
                </a:pPr>
                <a:r>
                  <a:rPr lang="pt-BR" dirty="0"/>
                  <a:t>O combustível marítimo é representado como VLSFO. Para converter o consumo em emissões, adota-se o fator </a:t>
                </a:r>
                <a:r>
                  <a:rPr lang="pt-BR" b="1" dirty="0"/>
                  <a:t>TTW</a:t>
                </a:r>
                <a:r>
                  <a:rPr lang="pt-BR" dirty="0"/>
                  <a:t> de </a:t>
                </a:r>
                <a:r>
                  <a:rPr lang="pt-BR" b="1" dirty="0"/>
                  <a:t>3,114 kg </a:t>
                </a:r>
                <a:r>
                  <a:rPr lang="pt-BR" b="1" dirty="0" err="1"/>
                  <a:t>CO₂e</a:t>
                </a:r>
                <a:r>
                  <a:rPr lang="pt-BR" b="1" dirty="0"/>
                  <a:t>/kg de combustível</a:t>
                </a:r>
                <a:r>
                  <a:rPr lang="pt-BR" dirty="0"/>
                  <a:t>, conforme os parâmetros da IMO apresentados na </a:t>
                </a:r>
                <a:r>
                  <a:rPr lang="pt-BR" b="1" dirty="0"/>
                  <a:t>Resolução MEPC.391(81)</a:t>
                </a:r>
                <a:r>
                  <a:rPr lang="pt-BR" dirty="0"/>
                  <a:t>.</a:t>
                </a:r>
              </a:p>
              <a:p>
                <a:pPr marL="0" lvl="0" indent="0">
                  <a:buSzPts val="1100"/>
                  <a:buNone/>
                </a:pPr>
                <a:endParaRPr lang="pt-BR" dirty="0"/>
              </a:p>
              <a:p>
                <a:pPr marL="0" lvl="0" indent="0">
                  <a:buSzPts val="1100"/>
                  <a:buNone/>
                </a:pPr>
                <a:r>
                  <a:rPr lang="pt-BR" dirty="0"/>
                  <a:t>O preço do VLSFO é consultado online no </a:t>
                </a:r>
                <a:r>
                  <a:rPr lang="pt-BR" b="1" dirty="0" err="1"/>
                  <a:t>Ship</a:t>
                </a:r>
                <a:r>
                  <a:rPr lang="pt-BR" b="1" dirty="0"/>
                  <a:t> &amp; Bunker</a:t>
                </a:r>
                <a:r>
                  <a:rPr lang="pt-BR" dirty="0"/>
                  <a:t>, utilizando a cotação do Porto de Santos em USD por tonelada e convertendo-a para reais. No cenário apresentado, o valor armazenado e utilizado pelo modelo é de </a:t>
                </a:r>
                <a:r>
                  <a:rPr lang="pt-BR" b="1" dirty="0"/>
                  <a:t>R$ 2.572,34 por tonelada de VLSFO</a:t>
                </a:r>
                <a:r>
                  <a:rPr lang="pt-BR" dirty="0"/>
                  <a:t>.</a:t>
                </a:r>
                <a:endParaRPr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</mc:Choice>
        <mc:Fallback xmlns="">
          <p:sp>
            <p:nvSpPr>
              <p:cNvPr id="364" name="Google Shape;364;p38">
                <a:extLst>
                  <a:ext uri="{FF2B5EF4-FFF2-40B4-BE49-F238E27FC236}">
                    <a16:creationId xmlns:a16="http://schemas.microsoft.com/office/drawing/2014/main" id="{C8A75B6E-2731-5702-4908-D2F72B3D85A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3"/>
              </p:nvPr>
            </p:nvSpPr>
            <p:spPr>
              <a:xfrm>
                <a:off x="720000" y="1112200"/>
                <a:ext cx="6927710" cy="361108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Google Shape;444;p43">
            <a:extLst>
              <a:ext uri="{FF2B5EF4-FFF2-40B4-BE49-F238E27FC236}">
                <a16:creationId xmlns:a16="http://schemas.microsoft.com/office/drawing/2014/main" id="{481E430A-729C-2293-E527-2F6B516266C2}"/>
              </a:ext>
            </a:extLst>
          </p:cNvPr>
          <p:cNvSpPr txBox="1">
            <a:spLocks/>
          </p:cNvSpPr>
          <p:nvPr/>
        </p:nvSpPr>
        <p:spPr>
          <a:xfrm>
            <a:off x="720000" y="539500"/>
            <a:ext cx="746803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pt-BR" sz="2800" dirty="0"/>
              <a:t>Consumo, emissões e custo marítimo</a:t>
            </a:r>
          </a:p>
        </p:txBody>
      </p:sp>
    </p:spTree>
    <p:extLst>
      <p:ext uri="{BB962C8B-B14F-4D97-AF65-F5344CB8AC3E}">
        <p14:creationId xmlns:p14="http://schemas.microsoft.com/office/powerpoint/2010/main" val="31489375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>
          <a:extLst>
            <a:ext uri="{FF2B5EF4-FFF2-40B4-BE49-F238E27FC236}">
              <a16:creationId xmlns:a16="http://schemas.microsoft.com/office/drawing/2014/main" id="{3069FA52-8EB7-59EE-D5DA-693CFA214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43">
            <a:extLst>
              <a:ext uri="{FF2B5EF4-FFF2-40B4-BE49-F238E27FC236}">
                <a16:creationId xmlns:a16="http://schemas.microsoft.com/office/drawing/2014/main" id="{FAB756BD-7360-8F34-9706-B70A713819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BR" dirty="0"/>
              <a:t>Emissões portuárias</a:t>
            </a:r>
          </a:p>
        </p:txBody>
      </p:sp>
      <p:sp>
        <p:nvSpPr>
          <p:cNvPr id="445" name="Google Shape;445;p43">
            <a:extLst>
              <a:ext uri="{FF2B5EF4-FFF2-40B4-BE49-F238E27FC236}">
                <a16:creationId xmlns:a16="http://schemas.microsoft.com/office/drawing/2014/main" id="{685D88CE-8189-2B0B-E0BE-B83B23C48EF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804886"/>
            <a:ext cx="3549600" cy="31766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pt-BR" sz="1100" dirty="0"/>
              <a:t>As operações portuárias contabilizadas representam o consumo de diesel associado à </a:t>
            </a:r>
            <a:r>
              <a:rPr lang="pt-BR" sz="1100" b="1" dirty="0"/>
              <a:t>movimentação do contêiner nos terminais</a:t>
            </a:r>
            <a:r>
              <a:rPr lang="pt-BR" sz="1100" dirty="0"/>
              <a:t>. O cálculo considera os movimentos de </a:t>
            </a:r>
            <a:r>
              <a:rPr lang="pt-BR" sz="1100" b="1" dirty="0"/>
              <a:t>RTGs (</a:t>
            </a:r>
            <a:r>
              <a:rPr lang="pt-BR" sz="1100" b="1" i="1" dirty="0"/>
              <a:t>Rubber-</a:t>
            </a:r>
            <a:r>
              <a:rPr lang="pt-BR" sz="1100" b="1" i="1" dirty="0" err="1"/>
              <a:t>Tyred</a:t>
            </a:r>
            <a:r>
              <a:rPr lang="pt-BR" sz="1100" b="1" i="1" dirty="0"/>
              <a:t> </a:t>
            </a:r>
            <a:r>
              <a:rPr lang="pt-BR" sz="1100" b="1" i="1" dirty="0" err="1"/>
              <a:t>Gantry</a:t>
            </a:r>
            <a:r>
              <a:rPr lang="pt-BR" sz="1100" b="1" i="1" dirty="0"/>
              <a:t> </a:t>
            </a:r>
            <a:r>
              <a:rPr lang="pt-BR" sz="1100" b="1" i="1" dirty="0" err="1"/>
              <a:t>cranes</a:t>
            </a:r>
            <a:r>
              <a:rPr lang="pt-BR" sz="1100" b="1" dirty="0"/>
              <a:t>)</a:t>
            </a:r>
            <a:r>
              <a:rPr lang="pt-BR" sz="1100" dirty="0"/>
              <a:t>, pórticos sobre pneus utilizados no pátio, e de </a:t>
            </a:r>
            <a:r>
              <a:rPr lang="pt-BR" sz="1100" b="1" dirty="0"/>
              <a:t>caminhões internos</a:t>
            </a:r>
            <a:r>
              <a:rPr lang="pt-BR" sz="1100" dirty="0"/>
              <a:t>, multiplicados pelos respectivos fatores de consumo. Os parâmetros foram derivados da planilha-base associada ao estudo de </a:t>
            </a:r>
            <a:r>
              <a:rPr lang="pt-BR" sz="1100" b="1" dirty="0"/>
              <a:t>Costa et al.</a:t>
            </a:r>
            <a:r>
              <a:rPr lang="pt-BR" sz="1100" dirty="0"/>
              <a:t> e utilizados como proxies de terminal.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1100" dirty="0"/>
          </a:p>
          <a:p>
            <a:r>
              <a:rPr lang="pt-BR" sz="1100" b="1" dirty="0"/>
              <a:t>Operações portuárias contabilizadas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Consumo de diesel: </a:t>
            </a:r>
            <a:r>
              <a:rPr lang="pt-BR" sz="1100" b="1" dirty="0"/>
              <a:t>4,82 L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Emissões: </a:t>
            </a:r>
            <a:r>
              <a:rPr lang="pt-BR" sz="1100" b="1" dirty="0"/>
              <a:t>12,91 kg </a:t>
            </a:r>
            <a:r>
              <a:rPr lang="pt-BR" sz="1100" b="1" dirty="0" err="1"/>
              <a:t>CO₂e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Custo estimado: </a:t>
            </a:r>
            <a:r>
              <a:rPr lang="pt-BR" sz="1100" b="1" dirty="0"/>
              <a:t>R$ 33,09</a:t>
            </a:r>
            <a:endParaRPr lang="pt-BR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6" name="Google Shape;446;p43">
                <a:extLst>
                  <a:ext uri="{FF2B5EF4-FFF2-40B4-BE49-F238E27FC236}">
                    <a16:creationId xmlns:a16="http://schemas.microsoft.com/office/drawing/2014/main" id="{63E9C847-CF57-C7B6-4A07-3A200A05B6F9}"/>
                  </a:ext>
                </a:extLst>
              </p:cNvPr>
              <p:cNvSpPr txBox="1">
                <a:spLocks noGrp="1"/>
              </p:cNvSpPr>
              <p:nvPr>
                <p:ph type="subTitle" idx="2"/>
              </p:nvPr>
            </p:nvSpPr>
            <p:spPr>
              <a:xfrm>
                <a:off x="4881127" y="1804886"/>
                <a:ext cx="3604744" cy="3176668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/>
                <a:r>
                  <a:rPr lang="pt-BR" sz="1100" dirty="0"/>
                  <a:t>O </a:t>
                </a:r>
                <a:r>
                  <a:rPr lang="pt-BR" sz="1100" i="1" dirty="0" err="1"/>
                  <a:t>hoteling</a:t>
                </a:r>
                <a:r>
                  <a:rPr lang="pt-BR" sz="1100" dirty="0"/>
                  <a:t> é o consumo do navio enquanto permanece atracado, mantendo motores auxiliares e sistemas de bordo em funcionamento. O conceito é baseado em estudos de emissões em berço; o tempo de permanência é obtido nos dados de atracação da </a:t>
                </a:r>
                <a:r>
                  <a:rPr lang="pt-BR" sz="1100" b="1" dirty="0"/>
                  <a:t>ANTAQ</a:t>
                </a:r>
                <a:r>
                  <a:rPr lang="pt-BR" sz="1100" dirty="0"/>
                  <a:t>, e o consumo é estimado pela multiplicação desse tempo pela taxa horária dos motores auxiliares.</a:t>
                </a:r>
              </a:p>
              <a:p>
                <a:pPr marL="0" lvl="0" indent="0"/>
                <a:endParaRPr lang="pt-BR" sz="1100" dirty="0"/>
              </a:p>
              <a:p>
                <a:pPr marL="0" lvl="0" inden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100" i="1" smtClean="0">
                          <a:latin typeface="Cambria Math" panose="02040503050406030204" pitchFamily="18" charset="0"/>
                        </a:rPr>
                        <m:t>𝐶𝑜𝑚𝑏𝑢𝑠𝑡</m:t>
                      </m:r>
                      <m:r>
                        <a:rPr lang="pt-BR" sz="1100" i="1" smtClean="0">
                          <a:latin typeface="Cambria Math" panose="02040503050406030204" pitchFamily="18" charset="0"/>
                        </a:rPr>
                        <m:t>í</m:t>
                      </m:r>
                      <m:r>
                        <a:rPr lang="pt-BR" sz="1100" i="1" smtClean="0">
                          <a:latin typeface="Cambria Math" panose="02040503050406030204" pitchFamily="18" charset="0"/>
                        </a:rPr>
                        <m:t>𝑣𝑒</m:t>
                      </m:r>
                      <m:sSub>
                        <m:sSubPr>
                          <m:ctrlPr>
                            <a:rPr lang="pt-B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h𝑜𝑡𝑒𝑙𝑖𝑛𝑔</m:t>
                          </m:r>
                        </m:sub>
                      </m:sSub>
                      <m:r>
                        <a:rPr lang="pt-BR" sz="11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100" i="1">
                          <a:latin typeface="Cambria Math" panose="02040503050406030204" pitchFamily="18" charset="0"/>
                        </a:rPr>
                        <m:t>𝑇𝑒𝑚𝑝</m:t>
                      </m:r>
                      <m:sSub>
                        <m:sSubPr>
                          <m:ctrlPr>
                            <a:rPr lang="pt-B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𝑎𝑡𝑟𝑎𝑐𝑎𝑑𝑜</m:t>
                          </m:r>
                        </m:sub>
                      </m:sSub>
                      <m:r>
                        <a:rPr lang="pt-BR" sz="11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pt-BR" sz="1100" i="1">
                          <a:latin typeface="Cambria Math" panose="02040503050406030204" pitchFamily="18" charset="0"/>
                        </a:rPr>
                        <m:t>𝐶𝑜𝑛𝑠𝑢𝑚</m:t>
                      </m:r>
                      <m:sSub>
                        <m:sSubPr>
                          <m:ctrlPr>
                            <a:rPr lang="pt-B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h𝑜𝑟</m:t>
                          </m:r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á</m:t>
                          </m:r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𝑟𝑖𝑜</m:t>
                          </m:r>
                        </m:sub>
                      </m:sSub>
                    </m:oMath>
                  </m:oMathPara>
                </a14:m>
                <a:endParaRPr lang="pt-BR" sz="1100" dirty="0"/>
              </a:p>
              <a:p>
                <a:pPr marL="0" lvl="0" indent="0"/>
                <a:endParaRPr lang="pt-BR" sz="1100" dirty="0"/>
              </a:p>
              <a:p>
                <a:pPr marL="0" indent="0"/>
                <a:r>
                  <a:rPr lang="pt-BR" sz="1100" dirty="0"/>
                  <a:t>Neste cenário, o </a:t>
                </a:r>
                <a:r>
                  <a:rPr lang="pt-BR" sz="1100" dirty="0" err="1"/>
                  <a:t>hoteling</a:t>
                </a:r>
                <a:r>
                  <a:rPr lang="pt-BR" sz="1100" dirty="0"/>
                  <a:t> </a:t>
                </a:r>
                <a:r>
                  <a:rPr lang="pt-BR" sz="1100" b="1" dirty="0"/>
                  <a:t>não é adicionado separadamente</a:t>
                </a:r>
                <a:r>
                  <a:rPr lang="pt-BR" sz="1100" dirty="0"/>
                  <a:t>, pois a intensidade operacional do </a:t>
                </a:r>
                <a:r>
                  <a:rPr lang="pt-BR" sz="1100" b="1" dirty="0"/>
                  <a:t>EU MRV</a:t>
                </a:r>
                <a:r>
                  <a:rPr lang="pt-BR" sz="1100" dirty="0"/>
                  <a:t> já é tratada pelo modelo como abrangente, evitando dupla contagem.</a:t>
                </a:r>
              </a:p>
            </p:txBody>
          </p:sp>
        </mc:Choice>
        <mc:Fallback xmlns="">
          <p:sp>
            <p:nvSpPr>
              <p:cNvPr id="446" name="Google Shape;446;p43">
                <a:extLst>
                  <a:ext uri="{FF2B5EF4-FFF2-40B4-BE49-F238E27FC236}">
                    <a16:creationId xmlns:a16="http://schemas.microsoft.com/office/drawing/2014/main" id="{63E9C847-CF57-C7B6-4A07-3A200A05B6F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2"/>
              </p:nvPr>
            </p:nvSpPr>
            <p:spPr>
              <a:xfrm>
                <a:off x="4881127" y="1804886"/>
                <a:ext cx="3604744" cy="3176668"/>
              </a:xfrm>
              <a:prstGeom prst="rect">
                <a:avLst/>
              </a:prstGeom>
              <a:blipFill>
                <a:blip r:embed="rId3"/>
                <a:stretch>
                  <a:fillRect r="-3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9" name="Google Shape;449;p43">
            <a:extLst>
              <a:ext uri="{FF2B5EF4-FFF2-40B4-BE49-F238E27FC236}">
                <a16:creationId xmlns:a16="http://schemas.microsoft.com/office/drawing/2014/main" id="{35543911-32E9-AE0F-EC7A-DDAFE58412AA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720000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pt-BR" sz="1600" dirty="0"/>
              <a:t>Operações portuárias</a:t>
            </a:r>
            <a:endParaRPr sz="1600" dirty="0"/>
          </a:p>
        </p:txBody>
      </p:sp>
      <p:sp>
        <p:nvSpPr>
          <p:cNvPr id="450" name="Google Shape;450;p43">
            <a:extLst>
              <a:ext uri="{FF2B5EF4-FFF2-40B4-BE49-F238E27FC236}">
                <a16:creationId xmlns:a16="http://schemas.microsoft.com/office/drawing/2014/main" id="{76DDA90C-76EA-E1F4-5E0D-EB45E0F393A6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4881127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pt-BR" sz="1600" dirty="0"/>
              <a:t>Hoteling</a:t>
            </a:r>
            <a:endParaRPr sz="1600" dirty="0"/>
          </a:p>
        </p:txBody>
      </p:sp>
      <p:sp>
        <p:nvSpPr>
          <p:cNvPr id="2" name="Google Shape;330;p35">
            <a:extLst>
              <a:ext uri="{FF2B5EF4-FFF2-40B4-BE49-F238E27FC236}">
                <a16:creationId xmlns:a16="http://schemas.microsoft.com/office/drawing/2014/main" id="{C451EA23-04B3-E0C2-F293-695F85A489F2}"/>
              </a:ext>
            </a:extLst>
          </p:cNvPr>
          <p:cNvSpPr txBox="1">
            <a:spLocks/>
          </p:cNvSpPr>
          <p:nvPr/>
        </p:nvSpPr>
        <p:spPr>
          <a:xfrm>
            <a:off x="720000" y="982320"/>
            <a:ext cx="5657575" cy="317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pt-BR" sz="1000" i="1" dirty="0"/>
              <a:t>Consumo de combustível nos portos</a:t>
            </a:r>
            <a:endParaRPr lang="en-US" sz="1000" i="1" dirty="0"/>
          </a:p>
        </p:txBody>
      </p:sp>
    </p:spTree>
    <p:extLst>
      <p:ext uri="{BB962C8B-B14F-4D97-AF65-F5344CB8AC3E}">
        <p14:creationId xmlns:p14="http://schemas.microsoft.com/office/powerpoint/2010/main" val="25425230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7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BR" sz="3200" dirty="0"/>
              <a:t>Consumo na perna marítima</a:t>
            </a:r>
          </a:p>
        </p:txBody>
      </p:sp>
      <p:sp>
        <p:nvSpPr>
          <p:cNvPr id="345" name="Google Shape;345;p37"/>
          <p:cNvSpPr txBox="1">
            <a:spLocks noGrp="1"/>
          </p:cNvSpPr>
          <p:nvPr>
            <p:ph type="title" idx="2"/>
          </p:nvPr>
        </p:nvSpPr>
        <p:spPr>
          <a:xfrm>
            <a:off x="3759205" y="1699096"/>
            <a:ext cx="6948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46" name="Google Shape;346;p37"/>
          <p:cNvSpPr txBox="1">
            <a:spLocks noGrp="1"/>
          </p:cNvSpPr>
          <p:nvPr>
            <p:ph type="title" idx="3"/>
          </p:nvPr>
        </p:nvSpPr>
        <p:spPr>
          <a:xfrm>
            <a:off x="4690005" y="1699096"/>
            <a:ext cx="6948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347" name="Google Shape;347;p37"/>
          <p:cNvSpPr txBox="1">
            <a:spLocks noGrp="1"/>
          </p:cNvSpPr>
          <p:nvPr>
            <p:ph type="title" idx="4"/>
          </p:nvPr>
        </p:nvSpPr>
        <p:spPr>
          <a:xfrm>
            <a:off x="3759193" y="2781754"/>
            <a:ext cx="6948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348" name="Google Shape;348;p37"/>
          <p:cNvSpPr txBox="1">
            <a:spLocks noGrp="1"/>
          </p:cNvSpPr>
          <p:nvPr>
            <p:ph type="title" idx="5"/>
          </p:nvPr>
        </p:nvSpPr>
        <p:spPr>
          <a:xfrm>
            <a:off x="4689993" y="2781754"/>
            <a:ext cx="6948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349" name="Google Shape;349;p37"/>
          <p:cNvSpPr txBox="1">
            <a:spLocks noGrp="1"/>
          </p:cNvSpPr>
          <p:nvPr>
            <p:ph type="title" idx="6"/>
          </p:nvPr>
        </p:nvSpPr>
        <p:spPr>
          <a:xfrm>
            <a:off x="3759207" y="3864413"/>
            <a:ext cx="6948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350" name="Google Shape;350;p37"/>
          <p:cNvSpPr txBox="1">
            <a:spLocks noGrp="1"/>
          </p:cNvSpPr>
          <p:nvPr>
            <p:ph type="title" idx="7"/>
          </p:nvPr>
        </p:nvSpPr>
        <p:spPr>
          <a:xfrm>
            <a:off x="4690007" y="3864413"/>
            <a:ext cx="6948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351" name="Google Shape;351;p37"/>
          <p:cNvSpPr txBox="1">
            <a:spLocks noGrp="1"/>
          </p:cNvSpPr>
          <p:nvPr>
            <p:ph type="subTitle" idx="1"/>
          </p:nvPr>
        </p:nvSpPr>
        <p:spPr>
          <a:xfrm>
            <a:off x="1280600" y="1699100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Análise de dados reais da ANTAQ</a:t>
            </a:r>
            <a:endParaRPr dirty="0"/>
          </a:p>
        </p:txBody>
      </p:sp>
      <p:sp>
        <p:nvSpPr>
          <p:cNvPr id="352" name="Google Shape;352;p37"/>
          <p:cNvSpPr txBox="1">
            <a:spLocks noGrp="1"/>
          </p:cNvSpPr>
          <p:nvPr>
            <p:ph type="subTitle" idx="8"/>
          </p:nvPr>
        </p:nvSpPr>
        <p:spPr>
          <a:xfrm>
            <a:off x="1280600" y="2781762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53" name="Google Shape;353;p37"/>
          <p:cNvSpPr txBox="1">
            <a:spLocks noGrp="1"/>
          </p:cNvSpPr>
          <p:nvPr>
            <p:ph type="subTitle" idx="9"/>
          </p:nvPr>
        </p:nvSpPr>
        <p:spPr>
          <a:xfrm>
            <a:off x="1280600" y="3864423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</a:t>
            </a:r>
            <a:endParaRPr/>
          </a:p>
        </p:txBody>
      </p:sp>
      <p:sp>
        <p:nvSpPr>
          <p:cNvPr id="354" name="Google Shape;354;p37"/>
          <p:cNvSpPr txBox="1">
            <a:spLocks noGrp="1"/>
          </p:cNvSpPr>
          <p:nvPr>
            <p:ph type="subTitle" idx="13"/>
          </p:nvPr>
        </p:nvSpPr>
        <p:spPr>
          <a:xfrm>
            <a:off x="5575300" y="1699096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SOLUTIONS</a:t>
            </a:r>
            <a:endParaRPr/>
          </a:p>
        </p:txBody>
      </p:sp>
      <p:sp>
        <p:nvSpPr>
          <p:cNvPr id="355" name="Google Shape;355;p37"/>
          <p:cNvSpPr txBox="1">
            <a:spLocks noGrp="1"/>
          </p:cNvSpPr>
          <p:nvPr>
            <p:ph type="subTitle" idx="14"/>
          </p:nvPr>
        </p:nvSpPr>
        <p:spPr>
          <a:xfrm>
            <a:off x="5575300" y="2781754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COMMUNICATION PLAN</a:t>
            </a:r>
            <a:endParaRPr/>
          </a:p>
        </p:txBody>
      </p:sp>
      <p:sp>
        <p:nvSpPr>
          <p:cNvPr id="356" name="Google Shape;356;p37"/>
          <p:cNvSpPr txBox="1">
            <a:spLocks noGrp="1"/>
          </p:cNvSpPr>
          <p:nvPr>
            <p:ph type="subTitle" idx="15"/>
          </p:nvPr>
        </p:nvSpPr>
        <p:spPr>
          <a:xfrm>
            <a:off x="5575300" y="3864413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CONCLUSION</a:t>
            </a:r>
            <a:endParaRPr/>
          </a:p>
        </p:txBody>
      </p:sp>
      <p:pic>
        <p:nvPicPr>
          <p:cNvPr id="357" name="Google Shape;357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200" y="3712050"/>
            <a:ext cx="1768000" cy="13505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330;p35">
            <a:extLst>
              <a:ext uri="{FF2B5EF4-FFF2-40B4-BE49-F238E27FC236}">
                <a16:creationId xmlns:a16="http://schemas.microsoft.com/office/drawing/2014/main" id="{C83FF82B-5B3B-294F-2915-E8F0F63AD4AC}"/>
              </a:ext>
            </a:extLst>
          </p:cNvPr>
          <p:cNvSpPr txBox="1">
            <a:spLocks/>
          </p:cNvSpPr>
          <p:nvPr/>
        </p:nvSpPr>
        <p:spPr>
          <a:xfrm>
            <a:off x="720000" y="1113764"/>
            <a:ext cx="7704000" cy="317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 algn="ctr"/>
            <a:r>
              <a:rPr lang="pt-BR" sz="1000" i="1" dirty="0"/>
              <a:t>Passo a passo para o cálculo do consumo de combustível na perna marítima </a:t>
            </a:r>
            <a:endParaRPr lang="en-US" sz="1000" i="1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143373FB-FEF6-6C40-484D-6EA118157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dados de navegação</a:t>
            </a:r>
          </a:p>
        </p:txBody>
      </p:sp>
      <p:sp>
        <p:nvSpPr>
          <p:cNvPr id="7" name="Subtítulo 6">
            <a:extLst>
              <a:ext uri="{FF2B5EF4-FFF2-40B4-BE49-F238E27FC236}">
                <a16:creationId xmlns:a16="http://schemas.microsoft.com/office/drawing/2014/main" id="{9A6C8322-8023-4406-8599-23B64BC1B0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0000" y="1429886"/>
            <a:ext cx="3549600" cy="3174114"/>
          </a:xfrm>
        </p:spPr>
        <p:txBody>
          <a:bodyPr/>
          <a:lstStyle/>
          <a:p>
            <a:r>
              <a:rPr lang="pt-BR" b="1"/>
              <a:t>Objetivo:</a:t>
            </a:r>
            <a:r>
              <a:rPr lang="pt-BR"/>
              <a:t> usar os dados da ANTAQ para reconstruir, por </a:t>
            </a:r>
            <a:r>
              <a:rPr lang="pt-BR" b="1"/>
              <a:t>IMO</a:t>
            </a:r>
            <a:r>
              <a:rPr lang="pt-BR"/>
              <a:t>, quanto de carga cada navio transportava ao longo dos trechos de cabotagem observados</a:t>
            </a:r>
            <a:endParaRPr lang="pt-BR" dirty="0"/>
          </a:p>
        </p:txBody>
      </p:sp>
      <p:sp>
        <p:nvSpPr>
          <p:cNvPr id="8" name="Subtítulo 7">
            <a:extLst>
              <a:ext uri="{FF2B5EF4-FFF2-40B4-BE49-F238E27FC236}">
                <a16:creationId xmlns:a16="http://schemas.microsoft.com/office/drawing/2014/main" id="{6F2B90E2-871C-8F53-49D9-639D1AE7B1D5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ubtítulo 9">
            <a:extLst>
              <a:ext uri="{FF2B5EF4-FFF2-40B4-BE49-F238E27FC236}">
                <a16:creationId xmlns:a16="http://schemas.microsoft.com/office/drawing/2014/main" id="{87A9381B-FA9D-74BD-7DE5-BB424ABD7FAB}"/>
              </a:ext>
            </a:extLst>
          </p:cNvPr>
          <p:cNvSpPr>
            <a:spLocks noGrp="1"/>
          </p:cNvSpPr>
          <p:nvPr>
            <p:ph type="subTitle" idx="4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3" name="Subtítulo 12">
            <a:extLst>
              <a:ext uri="{FF2B5EF4-FFF2-40B4-BE49-F238E27FC236}">
                <a16:creationId xmlns:a16="http://schemas.microsoft.com/office/drawing/2014/main" id="{4F64FB41-1AF0-80EE-86CC-787ED936D2DE}"/>
              </a:ext>
            </a:extLst>
          </p:cNvPr>
          <p:cNvSpPr>
            <a:spLocks noGrp="1"/>
          </p:cNvSpPr>
          <p:nvPr>
            <p:ph type="subTitle" idx="7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4" name="Subtítulo 13">
            <a:extLst>
              <a:ext uri="{FF2B5EF4-FFF2-40B4-BE49-F238E27FC236}">
                <a16:creationId xmlns:a16="http://schemas.microsoft.com/office/drawing/2014/main" id="{6CB01A18-7CB8-EB0F-5CC3-61ABB3BD4A3C}"/>
              </a:ext>
            </a:extLst>
          </p:cNvPr>
          <p:cNvSpPr>
            <a:spLocks noGrp="1"/>
          </p:cNvSpPr>
          <p:nvPr>
            <p:ph type="subTitle" idx="8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30134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>
          <a:extLst>
            <a:ext uri="{FF2B5EF4-FFF2-40B4-BE49-F238E27FC236}">
              <a16:creationId xmlns:a16="http://schemas.microsoft.com/office/drawing/2014/main" id="{56A17831-C965-385D-7EB4-A177E0A4C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64" name="Google Shape;364;p38">
                <a:extLst>
                  <a:ext uri="{FF2B5EF4-FFF2-40B4-BE49-F238E27FC236}">
                    <a16:creationId xmlns:a16="http://schemas.microsoft.com/office/drawing/2014/main" id="{0F2E0901-C393-FA1A-D83B-D96664EE1B2C}"/>
                  </a:ext>
                </a:extLst>
              </p:cNvPr>
              <p:cNvSpPr txBox="1">
                <a:spLocks noGrp="1"/>
              </p:cNvSpPr>
              <p:nvPr>
                <p:ph type="subTitle" idx="3"/>
              </p:nvPr>
            </p:nvSpPr>
            <p:spPr>
              <a:xfrm>
                <a:off x="719999" y="1112200"/>
                <a:ext cx="7052401" cy="3611088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>
                  <a:buSzPts val="1100"/>
                  <a:buNone/>
                </a:pPr>
                <a:r>
                  <a:rPr lang="pt-BR" dirty="0"/>
                  <a:t>A base da </a:t>
                </a:r>
                <a:r>
                  <a:rPr lang="pt-BR" b="1" dirty="0"/>
                  <a:t>ANTAQ</a:t>
                </a:r>
                <a:r>
                  <a:rPr lang="pt-BR" dirty="0"/>
                  <a:t> permite reconstruir as viagens de cabotagem conteinerizada e estimar a carga transportada entre portos consecutivos. Cada viagem é cruzada com o </a:t>
                </a:r>
                <a:r>
                  <a:rPr lang="pt-BR" b="1" dirty="0"/>
                  <a:t>EU MRV</a:t>
                </a:r>
                <a:r>
                  <a:rPr lang="pt-BR" dirty="0"/>
                  <a:t>, que fornece sua intensidade de consumo em </a:t>
                </a:r>
                <a:r>
                  <a:rPr lang="pt-BR" b="1" dirty="0"/>
                  <a:t>g/(</a:t>
                </a:r>
                <a:r>
                  <a:rPr lang="pt-BR" b="1" dirty="0" err="1"/>
                  <a:t>t·nm</a:t>
                </a:r>
                <a:r>
                  <a:rPr lang="pt-BR" b="1" dirty="0"/>
                  <a:t>)</a:t>
                </a:r>
                <a:r>
                  <a:rPr lang="pt-BR" dirty="0"/>
                  <a:t>.</a:t>
                </a:r>
              </a:p>
              <a:p>
                <a:pPr marL="0" lvl="0" indent="0">
                  <a:buSzPts val="1100"/>
                  <a:buNone/>
                </a:pPr>
                <a:endParaRPr lang="pt-BR" dirty="0"/>
              </a:p>
              <a:p>
                <a:pPr marL="0" lvl="0" indent="0">
                  <a:buSzPts val="1100"/>
                  <a:buNone/>
                </a:pPr>
                <a:r>
                  <a:rPr lang="pt-BR" dirty="0"/>
                  <a:t>Para cada ligação portuária, calcula-se a intensidade média ponderada pelo trabalho de transporte observado — </a:t>
                </a:r>
                <a:r>
                  <a:rPr lang="pt-BR" b="1" dirty="0"/>
                  <a:t>carga × distância</a:t>
                </a:r>
                <a:r>
                  <a:rPr lang="pt-BR" dirty="0"/>
                  <a:t>.</a:t>
                </a:r>
              </a:p>
              <a:p>
                <a:pPr marL="0" lvl="0" indent="0">
                  <a:buSzPts val="1100"/>
                  <a:buNone/>
                </a:pPr>
                <a:endParaRPr lang="pt-BR" dirty="0"/>
              </a:p>
              <a:p>
                <a:pPr marL="0" lvl="0" indent="0">
                  <a:buSzPts val="11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dirty="0" smtClean="0"/>
                        <m:t>CO</m:t>
                      </m:r>
                      <m:r>
                        <m:rPr>
                          <m:nor/>
                        </m:rPr>
                        <a:rPr lang="pt-BR" dirty="0" smtClean="0"/>
                        <m:t>₂</m:t>
                      </m:r>
                      <m:r>
                        <m:rPr>
                          <m:nor/>
                        </m:rPr>
                        <a:rPr lang="pt-BR" dirty="0" smtClean="0"/>
                        <m:t>e</m:t>
                      </m:r>
                      <m:r>
                        <m:rPr>
                          <m:nor/>
                        </m:rPr>
                        <a:rPr lang="pt-BR" b="0" i="0" dirty="0" smtClean="0"/>
                        <m:t>[</m:t>
                      </m:r>
                      <m:r>
                        <m:rPr>
                          <m:nor/>
                        </m:rPr>
                        <a:rPr lang="pt-BR" b="0" i="0" dirty="0" smtClean="0"/>
                        <m:t>kg</m:t>
                      </m:r>
                      <m:r>
                        <m:rPr>
                          <m:nor/>
                        </m:rPr>
                        <a:rPr lang="pt-BR" b="0" i="0" dirty="0" smtClean="0"/>
                        <m:t>]</m:t>
                      </m:r>
                      <m:r>
                        <a:rPr lang="pt-BR" b="0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3,114×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𝐶𝑎𝑟𝑔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𝑎𝑛𝑎𝑙𝑖𝑠𝑎𝑑𝑎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1000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×</m:t>
                      </m:r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𝑚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×</m:t>
                              </m:r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fPr>
                                <m:num>
                                  <m:nary>
                                    <m:naryPr>
                                      <m:chr m:val="∑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𝑖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𝑛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𝐼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×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nary>
                                </m:num>
                                <m:den>
                                  <m:nary>
                                    <m:naryPr>
                                      <m:chr m:val="∑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𝑖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𝑛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sup>
                                    <m:e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×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nary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pt-BR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0" lvl="0" indent="0">
                  <a:buSzPts val="1100"/>
                  <a:buNone/>
                </a:pPr>
                <a:endParaRPr lang="pt-BR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0" lvl="0" indent="0">
                  <a:buSzPts val="1100"/>
                  <a:buNone/>
                </a:pPr>
                <a:r>
                  <a:rPr lang="pt-BR" b="1" dirty="0"/>
                  <a:t>Exemplo prático: Santos → Suape:</a:t>
                </a:r>
              </a:p>
              <a:p>
                <a:pPr marL="171450" lvl="0" indent="-171450">
                  <a:buSzPts val="1100"/>
                  <a:buFont typeface="Arial" panose="020B0604020202020204" pitchFamily="34" charset="0"/>
                  <a:buChar char="•"/>
                </a:pPr>
                <a:r>
                  <a:rPr lang="pt-BR" b="1" dirty="0"/>
                  <a:t>44 </a:t>
                </a:r>
                <a:r>
                  <a:rPr lang="pt-BR" dirty="0"/>
                  <a:t>viagens observadas na ANTAQ; </a:t>
                </a:r>
              </a:p>
              <a:p>
                <a:pPr marL="171450" lvl="0" indent="-171450">
                  <a:buSzPts val="1100"/>
                  <a:buFont typeface="Arial" panose="020B0604020202020204" pitchFamily="34" charset="0"/>
                  <a:buChar char="•"/>
                </a:pPr>
                <a:r>
                  <a:rPr lang="pt-BR" dirty="0"/>
                  <a:t>carga média transportada no trecho: </a:t>
                </a:r>
                <a:r>
                  <a:rPr lang="pt-BR" b="1" dirty="0"/>
                  <a:t>6.064,37 t</a:t>
                </a:r>
                <a:r>
                  <a:rPr lang="pt-BR" dirty="0"/>
                  <a:t>; </a:t>
                </a:r>
              </a:p>
              <a:p>
                <a:pPr marL="171450" lvl="0" indent="-171450">
                  <a:buSzPts val="1100"/>
                  <a:buFont typeface="Arial" panose="020B0604020202020204" pitchFamily="34" charset="0"/>
                  <a:buChar char="•"/>
                </a:pPr>
                <a:r>
                  <a:rPr lang="pt-BR" dirty="0"/>
                  <a:t>intensidade média ponderada: </a:t>
                </a:r>
                <a:r>
                  <a:rPr lang="pt-BR" b="1" dirty="0"/>
                  <a:t>8,734 g/(</a:t>
                </a:r>
                <a:r>
                  <a:rPr lang="pt-BR" b="1" dirty="0" err="1"/>
                  <a:t>t·nm</a:t>
                </a:r>
                <a:r>
                  <a:rPr lang="pt-BR" b="1" dirty="0"/>
                  <a:t>)</a:t>
                </a:r>
                <a:r>
                  <a:rPr lang="pt-BR" dirty="0"/>
                  <a:t>; </a:t>
                </a:r>
              </a:p>
              <a:p>
                <a:pPr marL="171450" lvl="0" indent="-171450">
                  <a:buSzPts val="1100"/>
                  <a:buFont typeface="Arial" panose="020B0604020202020204" pitchFamily="34" charset="0"/>
                  <a:buChar char="•"/>
                </a:pPr>
                <a:r>
                  <a:rPr lang="pt-BR" dirty="0"/>
                  <a:t>consumo atribuído à carga de 14 t: </a:t>
                </a:r>
                <a:r>
                  <a:rPr lang="pt-BR" b="1" dirty="0"/>
                  <a:t>153,97 kg de VLSFO</a:t>
                </a:r>
                <a:r>
                  <a:rPr lang="pt-BR" dirty="0"/>
                  <a:t>; </a:t>
                </a:r>
              </a:p>
              <a:p>
                <a:pPr marL="171450" lvl="0" indent="-171450">
                  <a:buSzPts val="1100"/>
                  <a:buFont typeface="Arial" panose="020B0604020202020204" pitchFamily="34" charset="0"/>
                  <a:buChar char="•"/>
                </a:pPr>
                <a:r>
                  <a:rPr lang="pt-BR" dirty="0"/>
                  <a:t>emissões do trecho: </a:t>
                </a:r>
                <a:r>
                  <a:rPr lang="pt-BR" b="1" dirty="0"/>
                  <a:t>479,46 kg CO₂e</a:t>
                </a:r>
                <a:r>
                  <a:rPr lang="pt-BR" dirty="0"/>
                  <a:t>.</a:t>
                </a:r>
                <a:endParaRPr lang="pt-BR" b="1" dirty="0"/>
              </a:p>
              <a:p>
                <a:pPr marL="0" lvl="0" indent="0">
                  <a:buSzPts val="1100"/>
                  <a:buNone/>
                </a:pPr>
                <a:endParaRPr lang="pt-BR" dirty="0"/>
              </a:p>
              <a:p>
                <a:pPr marL="0" lvl="0" indent="0">
                  <a:buSzPts val="1100"/>
                  <a:buNone/>
                </a:pPr>
                <a:r>
                  <a:rPr lang="pt-BR" dirty="0"/>
                  <a:t>O procedimento é repetido para todos os trechos da rota, cuja soma fornece o resultado final da perna marítima.</a:t>
                </a:r>
                <a:endParaRPr lang="pt-BR" b="1" dirty="0"/>
              </a:p>
            </p:txBody>
          </p:sp>
        </mc:Choice>
        <mc:Fallback xmlns="">
          <p:sp>
            <p:nvSpPr>
              <p:cNvPr id="364" name="Google Shape;364;p38">
                <a:extLst>
                  <a:ext uri="{FF2B5EF4-FFF2-40B4-BE49-F238E27FC236}">
                    <a16:creationId xmlns:a16="http://schemas.microsoft.com/office/drawing/2014/main" id="{0F2E0901-C393-FA1A-D83B-D96664EE1B2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3"/>
              </p:nvPr>
            </p:nvSpPr>
            <p:spPr>
              <a:xfrm>
                <a:off x="719999" y="1112200"/>
                <a:ext cx="7052401" cy="3611088"/>
              </a:xfrm>
              <a:prstGeom prst="rect">
                <a:avLst/>
              </a:prstGeom>
              <a:blipFill>
                <a:blip r:embed="rId3"/>
                <a:stretch>
                  <a:fillRect b="-556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Google Shape;444;p43">
            <a:extLst>
              <a:ext uri="{FF2B5EF4-FFF2-40B4-BE49-F238E27FC236}">
                <a16:creationId xmlns:a16="http://schemas.microsoft.com/office/drawing/2014/main" id="{68207928-1D51-8633-A3D6-8A9A817435EA}"/>
              </a:ext>
            </a:extLst>
          </p:cNvPr>
          <p:cNvSpPr txBox="1">
            <a:spLocks/>
          </p:cNvSpPr>
          <p:nvPr/>
        </p:nvSpPr>
        <p:spPr>
          <a:xfrm>
            <a:off x="720000" y="539500"/>
            <a:ext cx="746803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pt-BR" sz="2800" dirty="0"/>
              <a:t>Consumo na perna marítima</a:t>
            </a:r>
          </a:p>
        </p:txBody>
      </p:sp>
    </p:spTree>
    <p:extLst>
      <p:ext uri="{BB962C8B-B14F-4D97-AF65-F5344CB8AC3E}">
        <p14:creationId xmlns:p14="http://schemas.microsoft.com/office/powerpoint/2010/main" val="40936411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m 16">
            <a:extLst>
              <a:ext uri="{FF2B5EF4-FFF2-40B4-BE49-F238E27FC236}">
                <a16:creationId xmlns:a16="http://schemas.microsoft.com/office/drawing/2014/main" id="{7889D027-6CBB-4680-5100-9624F38EA7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0686" y="827314"/>
            <a:ext cx="3533008" cy="3387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468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áfico 8" descr="Tabela com preenchimento sólido">
            <a:extLst>
              <a:ext uri="{FF2B5EF4-FFF2-40B4-BE49-F238E27FC236}">
                <a16:creationId xmlns:a16="http://schemas.microsoft.com/office/drawing/2014/main" id="{8FF78EA9-05BB-A842-73DB-89C93448B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1462" y="199150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8758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>
          <a:extLst>
            <a:ext uri="{FF2B5EF4-FFF2-40B4-BE49-F238E27FC236}">
              <a16:creationId xmlns:a16="http://schemas.microsoft.com/office/drawing/2014/main" id="{20D29312-135E-3654-14DC-A5C1B4194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6">
            <a:extLst>
              <a:ext uri="{FF2B5EF4-FFF2-40B4-BE49-F238E27FC236}">
                <a16:creationId xmlns:a16="http://schemas.microsoft.com/office/drawing/2014/main" id="{379B0F17-9831-4B2F-E16C-8A5ABAD707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888777"/>
            <a:ext cx="9144000" cy="104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pt-BR" dirty="0"/>
              <a:t>2,89t CO₂e</a:t>
            </a:r>
          </a:p>
        </p:txBody>
      </p:sp>
      <p:sp>
        <p:nvSpPr>
          <p:cNvPr id="484" name="Google Shape;484;p46">
            <a:extLst>
              <a:ext uri="{FF2B5EF4-FFF2-40B4-BE49-F238E27FC236}">
                <a16:creationId xmlns:a16="http://schemas.microsoft.com/office/drawing/2014/main" id="{FF4D0C3B-A4AC-5ACB-4B8C-71369E87438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0" y="1932477"/>
            <a:ext cx="9144000" cy="43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Emissão de carbono na alternativa multimodal</a:t>
            </a:r>
          </a:p>
        </p:txBody>
      </p:sp>
      <p:sp>
        <p:nvSpPr>
          <p:cNvPr id="2" name="Google Shape;483;p46">
            <a:extLst>
              <a:ext uri="{FF2B5EF4-FFF2-40B4-BE49-F238E27FC236}">
                <a16:creationId xmlns:a16="http://schemas.microsoft.com/office/drawing/2014/main" id="{4EA4ADB3-921D-581F-92B6-1DAF9ACCC6E6}"/>
              </a:ext>
            </a:extLst>
          </p:cNvPr>
          <p:cNvSpPr txBox="1">
            <a:spLocks/>
          </p:cNvSpPr>
          <p:nvPr/>
        </p:nvSpPr>
        <p:spPr>
          <a:xfrm>
            <a:off x="0" y="2779924"/>
            <a:ext cx="9144000" cy="10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6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pt-BR" dirty="0"/>
              <a:t>R$ 5.424</a:t>
            </a:r>
          </a:p>
        </p:txBody>
      </p:sp>
      <p:sp>
        <p:nvSpPr>
          <p:cNvPr id="3" name="Google Shape;484;p46">
            <a:extLst>
              <a:ext uri="{FF2B5EF4-FFF2-40B4-BE49-F238E27FC236}">
                <a16:creationId xmlns:a16="http://schemas.microsoft.com/office/drawing/2014/main" id="{AD30427D-E948-9EFE-F7BC-0603E3F7F65F}"/>
              </a:ext>
            </a:extLst>
          </p:cNvPr>
          <p:cNvSpPr txBox="1">
            <a:spLocks/>
          </p:cNvSpPr>
          <p:nvPr/>
        </p:nvSpPr>
        <p:spPr>
          <a:xfrm>
            <a:off x="0" y="3823624"/>
            <a:ext cx="9144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en" dirty="0"/>
              <a:t>Custo estimado do combustível na alternativa multimodal</a:t>
            </a:r>
          </a:p>
        </p:txBody>
      </p:sp>
    </p:spTree>
    <p:extLst>
      <p:ext uri="{BB962C8B-B14F-4D97-AF65-F5344CB8AC3E}">
        <p14:creationId xmlns:p14="http://schemas.microsoft.com/office/powerpoint/2010/main" val="11318763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3CD54685-F848-D567-0CE9-1FDF0030A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5">
            <a:extLst>
              <a:ext uri="{FF2B5EF4-FFF2-40B4-BE49-F238E27FC236}">
                <a16:creationId xmlns:a16="http://schemas.microsoft.com/office/drawing/2014/main" id="{5F2E6C02-7C86-1628-836A-012CAFCF2145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Mapa de Calor</a:t>
            </a:r>
            <a:endParaRPr dirty="0"/>
          </a:p>
        </p:txBody>
      </p:sp>
      <p:sp>
        <p:nvSpPr>
          <p:cNvPr id="330" name="Google Shape;330;p35">
            <a:extLst>
              <a:ext uri="{FF2B5EF4-FFF2-40B4-BE49-F238E27FC236}">
                <a16:creationId xmlns:a16="http://schemas.microsoft.com/office/drawing/2014/main" id="{7A08F5BB-8873-0FF8-7D76-1932A2DB0E5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42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Distribuição espacial do potencial de redução do consumo de combustível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435620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A8A796-7948-6090-ABFB-D974EAB57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/>
              <a:t>Vantagem da cabotagem por destino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A5F484E-65B3-DEA6-2B8A-07A1AB8BEB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673" y="2109663"/>
            <a:ext cx="4405352" cy="2503500"/>
          </a:xfrm>
        </p:spPr>
        <p:txBody>
          <a:bodyPr/>
          <a:lstStyle/>
          <a:p>
            <a:pPr marL="152400" indent="0">
              <a:buNone/>
            </a:pPr>
            <a:r>
              <a:rPr lang="pt-BR" dirty="0"/>
              <a:t>Para uma origem fixa — </a:t>
            </a:r>
            <a:r>
              <a:rPr lang="pt-BR" b="1" dirty="0"/>
              <a:t>Avenida Professor Luciano Gualberto, em São Paulo</a:t>
            </a:r>
            <a:r>
              <a:rPr lang="pt-BR" dirty="0"/>
              <a:t> — e uma carga de </a:t>
            </a:r>
            <a:r>
              <a:rPr lang="pt-BR" b="1" dirty="0"/>
              <a:t>14 toneladas</a:t>
            </a:r>
            <a:r>
              <a:rPr lang="pt-BR" dirty="0"/>
              <a:t>, o pipeline executa a comparação entre as alternativas </a:t>
            </a:r>
            <a:r>
              <a:rPr lang="pt-BR" b="1" dirty="0"/>
              <a:t>rodoviária direta</a:t>
            </a:r>
            <a:r>
              <a:rPr lang="pt-BR" dirty="0"/>
              <a:t> e </a:t>
            </a:r>
            <a:r>
              <a:rPr lang="pt-BR" b="1" dirty="0"/>
              <a:t>multimodal</a:t>
            </a:r>
            <a:r>
              <a:rPr lang="pt-BR" dirty="0"/>
              <a:t> para uma lista de cidades de destino</a:t>
            </a:r>
            <a:r>
              <a:rPr lang="pt-BR" b="1" dirty="0"/>
              <a:t>.</a:t>
            </a:r>
          </a:p>
          <a:p>
            <a:pPr marL="152400" indent="0">
              <a:buNone/>
            </a:pPr>
            <a:endParaRPr lang="pt-BR" b="1" dirty="0"/>
          </a:p>
          <a:p>
            <a:pPr marL="152400" indent="0">
              <a:buNone/>
            </a:pPr>
            <a:r>
              <a:rPr lang="pt-BR" dirty="0"/>
              <a:t>Os resultados são consolidados em um mapa de calor, permitindo visualizar os destinos em que a alternativa multimodal apresenta </a:t>
            </a:r>
            <a:r>
              <a:rPr lang="pt-BR" b="1" dirty="0"/>
              <a:t>menor consumo de combustível</a:t>
            </a:r>
            <a:r>
              <a:rPr lang="pt-BR" dirty="0"/>
              <a:t> e aqueles em que o transporte rodoviário direto permanece mais eficiente.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38358935-A1F6-31A9-DED6-3782B343B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3608" y="987538"/>
            <a:ext cx="3980392" cy="3817452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9A3FB5A9-060D-999A-E3E8-827E0D9BE241}"/>
              </a:ext>
            </a:extLst>
          </p:cNvPr>
          <p:cNvSpPr txBox="1"/>
          <p:nvPr/>
        </p:nvSpPr>
        <p:spPr>
          <a:xfrm>
            <a:off x="5884774" y="525873"/>
            <a:ext cx="32592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800" b="1" dirty="0">
                <a:solidFill>
                  <a:srgbClr val="00B05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Verde:</a:t>
            </a:r>
            <a:r>
              <a:rPr lang="pt-BR" sz="800" dirty="0">
                <a:solidFill>
                  <a:srgbClr val="00B05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pt-BR" sz="800" dirty="0">
                <a:latin typeface="Poppins" panose="00000500000000000000" pitchFamily="2" charset="0"/>
                <a:cs typeface="Poppins" panose="00000500000000000000" pitchFamily="2" charset="0"/>
              </a:rPr>
              <a:t>maior vantagem da alternativa multimodal </a:t>
            </a:r>
          </a:p>
          <a:p>
            <a:pPr algn="r"/>
            <a:r>
              <a:rPr lang="pt-BR" sz="800" b="1" dirty="0">
                <a:solidFill>
                  <a:srgbClr val="FFC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Amarelo:</a:t>
            </a:r>
            <a:r>
              <a:rPr lang="pt-BR" sz="800" dirty="0">
                <a:solidFill>
                  <a:srgbClr val="FFC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pt-BR" sz="800" dirty="0">
                <a:latin typeface="Poppins" panose="00000500000000000000" pitchFamily="2" charset="0"/>
                <a:cs typeface="Poppins" panose="00000500000000000000" pitchFamily="2" charset="0"/>
              </a:rPr>
              <a:t>resultados semelhantes </a:t>
            </a:r>
          </a:p>
          <a:p>
            <a:pPr algn="r"/>
            <a:r>
              <a:rPr lang="pt-BR" sz="800" b="1" dirty="0">
                <a:solidFill>
                  <a:srgbClr val="FF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Vermelho:</a:t>
            </a:r>
            <a:r>
              <a:rPr lang="pt-BR" sz="800" dirty="0">
                <a:solidFill>
                  <a:srgbClr val="FF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pt-BR" sz="800" dirty="0">
                <a:latin typeface="Poppins" panose="00000500000000000000" pitchFamily="2" charset="0"/>
                <a:cs typeface="Poppins" panose="00000500000000000000" pitchFamily="2" charset="0"/>
              </a:rPr>
              <a:t>maior vantagem da alternativa rodoviária direta</a:t>
            </a:r>
          </a:p>
        </p:txBody>
      </p:sp>
    </p:spTree>
    <p:extLst>
      <p:ext uri="{BB962C8B-B14F-4D97-AF65-F5344CB8AC3E}">
        <p14:creationId xmlns:p14="http://schemas.microsoft.com/office/powerpoint/2010/main" val="19476780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2854B346-BC62-C75E-22FB-994ADF4E8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5">
            <a:extLst>
              <a:ext uri="{FF2B5EF4-FFF2-40B4-BE49-F238E27FC236}">
                <a16:creationId xmlns:a16="http://schemas.microsoft.com/office/drawing/2014/main" id="{2CCD90A2-46E8-74C1-ED26-41A2D20EC4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Obrigado!</a:t>
            </a:r>
          </a:p>
        </p:txBody>
      </p:sp>
      <p:sp>
        <p:nvSpPr>
          <p:cNvPr id="336" name="Subtitle 2">
            <a:extLst>
              <a:ext uri="{FF2B5EF4-FFF2-40B4-BE49-F238E27FC236}">
                <a16:creationId xmlns:a16="http://schemas.microsoft.com/office/drawing/2014/main" id="{95E2530D-0A5D-8C7C-FF84-CA82828DE1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</p:spPr>
        <p:txBody>
          <a:bodyPr/>
          <a:lstStyle/>
          <a:p>
            <a:r>
              <a:rPr lang="en-US" dirty="0" err="1"/>
              <a:t>CabotageLens</a:t>
            </a:r>
            <a:r>
              <a:rPr lang="en-US" dirty="0"/>
              <a:t> </a:t>
            </a:r>
            <a:r>
              <a:rPr lang="en-US" dirty="0" err="1"/>
              <a:t>está</a:t>
            </a:r>
            <a:r>
              <a:rPr lang="en-US" dirty="0"/>
              <a:t> </a:t>
            </a:r>
            <a:r>
              <a:rPr lang="en-US" dirty="0" err="1"/>
              <a:t>disponível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:</a:t>
            </a:r>
          </a:p>
          <a:p>
            <a:r>
              <a:rPr lang="en-US" dirty="0">
                <a:hlinkClick r:id="rId3"/>
              </a:rPr>
              <a:t>https://cabotage-lens.streamlit.app/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2461991"/>
      </p:ext>
    </p:extLst>
  </p:cSld>
  <p:clrMapOvr>
    <a:masterClrMapping/>
  </p:clrMapOvr>
</p:sld>
</file>

<file path=ppt/theme/theme1.xml><?xml version="1.0" encoding="utf-8"?>
<a:theme xmlns:a="http://schemas.openxmlformats.org/drawingml/2006/main" name="Industrial Preliminary Project by Slidesgo">
  <a:themeElements>
    <a:clrScheme name="Simple Light">
      <a:dk1>
        <a:srgbClr val="202A41"/>
      </a:dk1>
      <a:lt1>
        <a:srgbClr val="FFFFFF"/>
      </a:lt1>
      <a:dk2>
        <a:srgbClr val="516988"/>
      </a:dk2>
      <a:lt2>
        <a:srgbClr val="D3E1F1"/>
      </a:lt2>
      <a:accent1>
        <a:srgbClr val="90ABCE"/>
      </a:accent1>
      <a:accent2>
        <a:srgbClr val="6E86A5"/>
      </a:accent2>
      <a:accent3>
        <a:srgbClr val="F5F4F3"/>
      </a:accent3>
      <a:accent4>
        <a:srgbClr val="FFFFFF"/>
      </a:accent4>
      <a:accent5>
        <a:srgbClr val="FFFFFF"/>
      </a:accent5>
      <a:accent6>
        <a:srgbClr val="FFFFFF"/>
      </a:accent6>
      <a:hlink>
        <a:srgbClr val="202A41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1089</TotalTime>
  <Words>1367</Words>
  <Application>Microsoft Office PowerPoint</Application>
  <PresentationFormat>Apresentação na tela (16:9)</PresentationFormat>
  <Paragraphs>151</Paragraphs>
  <Slides>22</Slides>
  <Notes>17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22</vt:i4>
      </vt:variant>
    </vt:vector>
  </HeadingPairs>
  <TitlesOfParts>
    <vt:vector size="28" baseType="lpstr">
      <vt:lpstr>Cambria Math</vt:lpstr>
      <vt:lpstr>Arial</vt:lpstr>
      <vt:lpstr>Poppins</vt:lpstr>
      <vt:lpstr>Anaheim</vt:lpstr>
      <vt:lpstr>Nunito Light</vt:lpstr>
      <vt:lpstr>Industrial Preliminary Project by Slidesgo</vt:lpstr>
      <vt:lpstr>CabotageLens</vt:lpstr>
      <vt:lpstr>Alternativas de rota</vt:lpstr>
      <vt:lpstr>Input do usuário e  parâmetros comuns</vt:lpstr>
      <vt:lpstr>Input de Carga Origem e Destino</vt:lpstr>
      <vt:lpstr>Parâmetros comuns</vt:lpstr>
      <vt:lpstr>Alternativa A: Rodoviária Direta</vt:lpstr>
      <vt:lpstr>Rota rodoviária direta</vt:lpstr>
      <vt:lpstr>4.07t CO₂e</vt:lpstr>
      <vt:lpstr>Apresentação do PowerPoint</vt:lpstr>
      <vt:lpstr>Alternativa B: Multimodal</vt:lpstr>
      <vt:lpstr>Seleção de portos</vt:lpstr>
      <vt:lpstr>Apresentação do PowerPoint</vt:lpstr>
      <vt:lpstr>Emissões portuárias</vt:lpstr>
      <vt:lpstr>Consumo na perna marítima</vt:lpstr>
      <vt:lpstr>Análise de dados de navegação</vt:lpstr>
      <vt:lpstr>Apresentação do PowerPoint</vt:lpstr>
      <vt:lpstr>Apresentação do PowerPoint</vt:lpstr>
      <vt:lpstr>Apresentação do PowerPoint</vt:lpstr>
      <vt:lpstr>2,89t CO₂e</vt:lpstr>
      <vt:lpstr>Mapa de Calor</vt:lpstr>
      <vt:lpstr>Vantagem da cabotagem por destino</vt:lpstr>
      <vt:lpstr>Obrigado!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Felipe Proença</cp:lastModifiedBy>
  <cp:revision>20</cp:revision>
  <dcterms:modified xsi:type="dcterms:W3CDTF">2026-07-17T11:17:18Z</dcterms:modified>
</cp:coreProperties>
</file>